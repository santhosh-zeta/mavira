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CCFF1F-F2DF-45CF-8A31-C4FE68BB3B24}" v="6" dt="2026-10-14T06:37:26.9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5" d="100"/>
          <a:sy n="75" d="100"/>
        </p:scale>
        <p:origin x="946"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5669280"/>
            <a:ext cx="2286000" cy="54864"/>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28600"/>
            <a:ext cx="8229600" cy="365760"/>
          </a:xfrm>
          <a:prstGeom prst="rect">
            <a:avLst/>
          </a:prstGeom>
          <a:noFill/>
        </p:spPr>
        <p:txBody>
          <a:bodyPr wrap="square">
            <a:spAutoFit/>
          </a:bodyPr>
          <a:lstStyle/>
          <a:p>
            <a:pPr algn="l"/>
            <a:r>
              <a:rPr sz="1100" b="0" i="0">
                <a:solidFill>
                  <a:srgbClr val="E05A0E"/>
                </a:solidFill>
                <a:latin typeface="Calibri"/>
              </a:rPr>
              <a:t>Case Study 1  ·  Vendor AI Usage Analysis</a:t>
            </a:r>
          </a:p>
        </p:txBody>
      </p:sp>
      <p:sp>
        <p:nvSpPr>
          <p:cNvPr id="5" name="TextBox 4"/>
          <p:cNvSpPr txBox="1"/>
          <p:nvPr/>
        </p:nvSpPr>
        <p:spPr>
          <a:xfrm>
            <a:off x="548640" y="914400"/>
            <a:ext cx="10972800" cy="1323439"/>
          </a:xfrm>
          <a:prstGeom prst="rect">
            <a:avLst/>
          </a:prstGeom>
          <a:noFill/>
        </p:spPr>
        <p:txBody>
          <a:bodyPr wrap="square">
            <a:spAutoFit/>
          </a:bodyPr>
          <a:lstStyle/>
          <a:p>
            <a:pPr algn="l"/>
            <a:r>
              <a:rPr lang="en-IN" sz="8000" b="1" dirty="0">
                <a:solidFill>
                  <a:srgbClr val="FFFFFF"/>
                </a:solidFill>
                <a:latin typeface="Calibri"/>
              </a:rPr>
              <a:t>M</a:t>
            </a:r>
            <a:r>
              <a:rPr sz="8000" b="1" i="0" dirty="0">
                <a:solidFill>
                  <a:srgbClr val="FFFFFF"/>
                </a:solidFill>
                <a:latin typeface="Calibri"/>
              </a:rPr>
              <a:t>AVIRA</a:t>
            </a:r>
          </a:p>
        </p:txBody>
      </p:sp>
      <p:sp>
        <p:nvSpPr>
          <p:cNvPr id="6" name="TextBox 5"/>
          <p:cNvSpPr txBox="1"/>
          <p:nvPr/>
        </p:nvSpPr>
        <p:spPr>
          <a:xfrm>
            <a:off x="548640" y="2331720"/>
            <a:ext cx="10972800" cy="548640"/>
          </a:xfrm>
          <a:prstGeom prst="rect">
            <a:avLst/>
          </a:prstGeom>
          <a:noFill/>
        </p:spPr>
        <p:txBody>
          <a:bodyPr wrap="square">
            <a:spAutoFit/>
          </a:bodyPr>
          <a:lstStyle/>
          <a:p>
            <a:pPr algn="l"/>
            <a:r>
              <a:rPr sz="2200" b="0" i="1">
                <a:solidFill>
                  <a:srgbClr val="F2F4F8"/>
                </a:solidFill>
                <a:latin typeface="Calibri"/>
              </a:rPr>
              <a:t>Meridian AI Vendor Intelligence &amp; Risk Assessment</a:t>
            </a:r>
          </a:p>
        </p:txBody>
      </p:sp>
      <p:sp>
        <p:nvSpPr>
          <p:cNvPr id="7" name="TextBox 6"/>
          <p:cNvSpPr txBox="1"/>
          <p:nvPr/>
        </p:nvSpPr>
        <p:spPr>
          <a:xfrm>
            <a:off x="548640" y="3017520"/>
            <a:ext cx="9144000" cy="822960"/>
          </a:xfrm>
          <a:prstGeom prst="rect">
            <a:avLst/>
          </a:prstGeom>
          <a:noFill/>
        </p:spPr>
        <p:txBody>
          <a:bodyPr wrap="square">
            <a:spAutoFit/>
          </a:bodyPr>
          <a:lstStyle/>
          <a:p>
            <a:pPr algn="l"/>
            <a:r>
              <a:rPr sz="1500" b="0" i="0">
                <a:solidFill>
                  <a:srgbClr val="CBD5E0"/>
                </a:solidFill>
                <a:latin typeface="Calibri"/>
              </a:rPr>
              <a:t>A repeatable, evidence-driven approach to detecting real AI usage
in third-party vendor services — built for Meridian Financial.</a:t>
            </a:r>
          </a:p>
        </p:txBody>
      </p:sp>
      <p:sp>
        <p:nvSpPr>
          <p:cNvPr id="10" name="TextBox 9"/>
          <p:cNvSpPr txBox="1"/>
          <p:nvPr/>
        </p:nvSpPr>
        <p:spPr>
          <a:xfrm>
            <a:off x="548640" y="6217920"/>
            <a:ext cx="7315200" cy="246221"/>
          </a:xfrm>
          <a:prstGeom prst="rect">
            <a:avLst/>
          </a:prstGeom>
          <a:noFill/>
        </p:spPr>
        <p:txBody>
          <a:bodyPr wrap="square">
            <a:spAutoFit/>
          </a:bodyPr>
          <a:lstStyle/>
          <a:p>
            <a:r>
              <a:rPr lang="en-IN" sz="1000" b="0" i="0" dirty="0">
                <a:solidFill>
                  <a:srgbClr val="CBD5E0"/>
                </a:solidFill>
                <a:latin typeface="Calibri"/>
              </a:rPr>
              <a:t>14</a:t>
            </a:r>
            <a:r>
              <a:rPr lang="en-IN" sz="1000" b="0" i="0" baseline="30000" dirty="0">
                <a:solidFill>
                  <a:srgbClr val="CBD5E0"/>
                </a:solidFill>
                <a:latin typeface="Calibri"/>
              </a:rPr>
              <a:t>th</a:t>
            </a:r>
            <a:r>
              <a:rPr lang="en-IN" sz="1000" b="0" i="0" dirty="0">
                <a:solidFill>
                  <a:srgbClr val="CBD5E0"/>
                </a:solidFill>
                <a:latin typeface="Calibri"/>
              </a:rPr>
              <a:t> </a:t>
            </a:r>
            <a:r>
              <a:rPr sz="1000" b="0" i="0" dirty="0">
                <a:solidFill>
                  <a:srgbClr val="CBD5E0"/>
                </a:solidFill>
                <a:latin typeface="Calibri"/>
              </a:rPr>
              <a:t>October 2026</a:t>
            </a:r>
            <a:r>
              <a:rPr lang="en-IN" sz="1000" dirty="0">
                <a:solidFill>
                  <a:srgbClr val="CBD5E0"/>
                </a:solidFill>
              </a:rPr>
              <a:t> · VIT Chennai</a:t>
            </a:r>
            <a:endParaRPr sz="1000" b="0" i="0" dirty="0">
              <a:solidFill>
                <a:srgbClr val="CBD5E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417320"/>
            <a:ext cx="914400" cy="54864"/>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15374"/>
            <a:ext cx="5486400" cy="584775"/>
          </a:xfrm>
          <a:prstGeom prst="rect">
            <a:avLst/>
          </a:prstGeom>
          <a:noFill/>
        </p:spPr>
        <p:txBody>
          <a:bodyPr wrap="square">
            <a:spAutoFit/>
          </a:bodyPr>
          <a:lstStyle/>
          <a:p>
            <a:pPr algn="l"/>
            <a:r>
              <a:rPr sz="3200" b="1" i="0" dirty="0">
                <a:solidFill>
                  <a:srgbClr val="E05A0E"/>
                </a:solidFill>
                <a:latin typeface="Calibri"/>
              </a:rPr>
              <a:t>AGENDA</a:t>
            </a:r>
            <a:endParaRPr sz="900" b="1" i="0" dirty="0">
              <a:solidFill>
                <a:srgbClr val="E05A0E"/>
              </a:solidFill>
              <a:latin typeface="Calibri"/>
            </a:endParaRPr>
          </a:p>
        </p:txBody>
      </p:sp>
      <p:sp>
        <p:nvSpPr>
          <p:cNvPr id="8" name="TextBox 7"/>
          <p:cNvSpPr txBox="1"/>
          <p:nvPr/>
        </p:nvSpPr>
        <p:spPr>
          <a:xfrm>
            <a:off x="9144000" y="137160"/>
            <a:ext cx="2743200" cy="274320"/>
          </a:xfrm>
          <a:prstGeom prst="rect">
            <a:avLst/>
          </a:prstGeom>
          <a:noFill/>
        </p:spPr>
        <p:txBody>
          <a:bodyPr wrap="square">
            <a:spAutoFit/>
          </a:bodyPr>
          <a:lstStyle/>
          <a:p>
            <a:pPr algn="r"/>
            <a:r>
              <a:rPr sz="1100" b="1" i="0">
                <a:solidFill>
                  <a:srgbClr val="FFFFFF"/>
                </a:solidFill>
                <a:latin typeface="Calibri"/>
              </a:rPr>
              <a:t>Optiv Consulting</a:t>
            </a:r>
          </a:p>
        </p:txBody>
      </p:sp>
      <p:sp>
        <p:nvSpPr>
          <p:cNvPr id="9" name="TextBox 8"/>
          <p:cNvSpPr txBox="1"/>
          <p:nvPr/>
        </p:nvSpPr>
        <p:spPr>
          <a:xfrm>
            <a:off x="9144000" y="384048"/>
            <a:ext cx="2926080" cy="274320"/>
          </a:xfrm>
          <a:prstGeom prst="rect">
            <a:avLst/>
          </a:prstGeom>
          <a:noFill/>
        </p:spPr>
        <p:txBody>
          <a:bodyPr wrap="square">
            <a:spAutoFit/>
          </a:bodyPr>
          <a:lstStyle/>
          <a:p>
            <a:pPr algn="r"/>
            <a:r>
              <a:rPr sz="800" b="0" i="0">
                <a:solidFill>
                  <a:srgbClr val="F2F4F8"/>
                </a:solidFill>
                <a:latin typeface="Calibri"/>
              </a:rPr>
              <a:t>[formerly part of Optiv Security]</a:t>
            </a:r>
          </a:p>
        </p:txBody>
      </p:sp>
      <p:sp>
        <p:nvSpPr>
          <p:cNvPr id="10" name="Rectangle 9"/>
          <p:cNvSpPr/>
          <p:nvPr/>
        </p:nvSpPr>
        <p:spPr>
          <a:xfrm>
            <a:off x="457200" y="1828800"/>
            <a:ext cx="502920" cy="594360"/>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1874519"/>
            <a:ext cx="502920" cy="502920"/>
          </a:xfrm>
          <a:prstGeom prst="rect">
            <a:avLst/>
          </a:prstGeom>
          <a:noFill/>
        </p:spPr>
        <p:txBody>
          <a:bodyPr wrap="square">
            <a:spAutoFit/>
          </a:bodyPr>
          <a:lstStyle/>
          <a:p>
            <a:pPr algn="ctr"/>
            <a:r>
              <a:rPr sz="1800" b="1" i="0">
                <a:solidFill>
                  <a:srgbClr val="FFFFFF"/>
                </a:solidFill>
                <a:latin typeface="Calibri"/>
              </a:rPr>
              <a:t>01</a:t>
            </a:r>
          </a:p>
        </p:txBody>
      </p:sp>
      <p:sp>
        <p:nvSpPr>
          <p:cNvPr id="12" name="TextBox 11"/>
          <p:cNvSpPr txBox="1"/>
          <p:nvPr/>
        </p:nvSpPr>
        <p:spPr>
          <a:xfrm>
            <a:off x="1097280" y="1847088"/>
            <a:ext cx="3474720" cy="320040"/>
          </a:xfrm>
          <a:prstGeom prst="rect">
            <a:avLst/>
          </a:prstGeom>
          <a:noFill/>
        </p:spPr>
        <p:txBody>
          <a:bodyPr wrap="square">
            <a:spAutoFit/>
          </a:bodyPr>
          <a:lstStyle/>
          <a:p>
            <a:pPr algn="l"/>
            <a:r>
              <a:rPr sz="1300" b="1" i="0">
                <a:solidFill>
                  <a:srgbClr val="0D1B3E"/>
                </a:solidFill>
                <a:latin typeface="Calibri"/>
              </a:rPr>
              <a:t>Functional Design Diagram</a:t>
            </a:r>
          </a:p>
        </p:txBody>
      </p:sp>
      <p:sp>
        <p:nvSpPr>
          <p:cNvPr id="13" name="TextBox 12"/>
          <p:cNvSpPr txBox="1"/>
          <p:nvPr/>
        </p:nvSpPr>
        <p:spPr>
          <a:xfrm>
            <a:off x="1097280" y="2148840"/>
            <a:ext cx="10058400" cy="274320"/>
          </a:xfrm>
          <a:prstGeom prst="rect">
            <a:avLst/>
          </a:prstGeom>
          <a:noFill/>
        </p:spPr>
        <p:txBody>
          <a:bodyPr wrap="square">
            <a:spAutoFit/>
          </a:bodyPr>
          <a:lstStyle/>
          <a:p>
            <a:pPr algn="l"/>
            <a:r>
              <a:rPr sz="1000" b="0" i="0">
                <a:solidFill>
                  <a:srgbClr val="4A5A6B"/>
                </a:solidFill>
                <a:latin typeface="Calibri"/>
              </a:rPr>
              <a:t>How MAVIRA moves from raw vendor name to risk output</a:t>
            </a:r>
          </a:p>
        </p:txBody>
      </p:sp>
      <p:sp>
        <p:nvSpPr>
          <p:cNvPr id="14" name="Rectangle 13"/>
          <p:cNvSpPr/>
          <p:nvPr/>
        </p:nvSpPr>
        <p:spPr>
          <a:xfrm>
            <a:off x="457200" y="2450592"/>
            <a:ext cx="11247120" cy="18288"/>
          </a:xfrm>
          <a:prstGeom prst="rect">
            <a:avLst/>
          </a:prstGeom>
          <a:solidFill>
            <a:srgbClr val="CB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2743200"/>
            <a:ext cx="502920" cy="594360"/>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2788920"/>
            <a:ext cx="502920" cy="502920"/>
          </a:xfrm>
          <a:prstGeom prst="rect">
            <a:avLst/>
          </a:prstGeom>
          <a:noFill/>
        </p:spPr>
        <p:txBody>
          <a:bodyPr wrap="square">
            <a:spAutoFit/>
          </a:bodyPr>
          <a:lstStyle/>
          <a:p>
            <a:pPr algn="ctr"/>
            <a:r>
              <a:rPr sz="1800" b="1" i="0">
                <a:solidFill>
                  <a:srgbClr val="FFFFFF"/>
                </a:solidFill>
                <a:latin typeface="Calibri"/>
              </a:rPr>
              <a:t>02</a:t>
            </a:r>
          </a:p>
        </p:txBody>
      </p:sp>
      <p:sp>
        <p:nvSpPr>
          <p:cNvPr id="17" name="TextBox 16"/>
          <p:cNvSpPr txBox="1"/>
          <p:nvPr/>
        </p:nvSpPr>
        <p:spPr>
          <a:xfrm>
            <a:off x="1097280" y="2761488"/>
            <a:ext cx="3474720" cy="320040"/>
          </a:xfrm>
          <a:prstGeom prst="rect">
            <a:avLst/>
          </a:prstGeom>
          <a:noFill/>
        </p:spPr>
        <p:txBody>
          <a:bodyPr wrap="square">
            <a:spAutoFit/>
          </a:bodyPr>
          <a:lstStyle/>
          <a:p>
            <a:pPr algn="l"/>
            <a:r>
              <a:rPr sz="1300" b="1" i="0">
                <a:solidFill>
                  <a:srgbClr val="0D1B3E"/>
                </a:solidFill>
                <a:latin typeface="Calibri"/>
              </a:rPr>
              <a:t>Architecture Diagram</a:t>
            </a:r>
          </a:p>
        </p:txBody>
      </p:sp>
      <p:sp>
        <p:nvSpPr>
          <p:cNvPr id="18" name="TextBox 17"/>
          <p:cNvSpPr txBox="1"/>
          <p:nvPr/>
        </p:nvSpPr>
        <p:spPr>
          <a:xfrm>
            <a:off x="1097280" y="3063240"/>
            <a:ext cx="10058400" cy="274320"/>
          </a:xfrm>
          <a:prstGeom prst="rect">
            <a:avLst/>
          </a:prstGeom>
          <a:noFill/>
        </p:spPr>
        <p:txBody>
          <a:bodyPr wrap="square">
            <a:spAutoFit/>
          </a:bodyPr>
          <a:lstStyle/>
          <a:p>
            <a:pPr algn="l"/>
            <a:r>
              <a:rPr sz="1000" b="0" i="0">
                <a:solidFill>
                  <a:srgbClr val="4A5A6B"/>
                </a:solidFill>
                <a:latin typeface="Calibri"/>
              </a:rPr>
              <a:t>Technical components — backend, pipeline, UI</a:t>
            </a:r>
          </a:p>
        </p:txBody>
      </p:sp>
      <p:sp>
        <p:nvSpPr>
          <p:cNvPr id="19" name="Rectangle 18"/>
          <p:cNvSpPr/>
          <p:nvPr/>
        </p:nvSpPr>
        <p:spPr>
          <a:xfrm>
            <a:off x="457200" y="3364992"/>
            <a:ext cx="11247120" cy="18288"/>
          </a:xfrm>
          <a:prstGeom prst="rect">
            <a:avLst/>
          </a:prstGeom>
          <a:solidFill>
            <a:srgbClr val="CB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57200" y="3657600"/>
            <a:ext cx="502920" cy="594360"/>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3703320"/>
            <a:ext cx="502920" cy="502920"/>
          </a:xfrm>
          <a:prstGeom prst="rect">
            <a:avLst/>
          </a:prstGeom>
          <a:noFill/>
        </p:spPr>
        <p:txBody>
          <a:bodyPr wrap="square">
            <a:spAutoFit/>
          </a:bodyPr>
          <a:lstStyle/>
          <a:p>
            <a:pPr algn="ctr"/>
            <a:r>
              <a:rPr sz="1800" b="1" i="0">
                <a:solidFill>
                  <a:srgbClr val="FFFFFF"/>
                </a:solidFill>
                <a:latin typeface="Calibri"/>
              </a:rPr>
              <a:t>03</a:t>
            </a:r>
          </a:p>
        </p:txBody>
      </p:sp>
      <p:sp>
        <p:nvSpPr>
          <p:cNvPr id="22" name="TextBox 21"/>
          <p:cNvSpPr txBox="1"/>
          <p:nvPr/>
        </p:nvSpPr>
        <p:spPr>
          <a:xfrm>
            <a:off x="1097280" y="3675887"/>
            <a:ext cx="3474720" cy="320040"/>
          </a:xfrm>
          <a:prstGeom prst="rect">
            <a:avLst/>
          </a:prstGeom>
          <a:noFill/>
        </p:spPr>
        <p:txBody>
          <a:bodyPr wrap="square">
            <a:spAutoFit/>
          </a:bodyPr>
          <a:lstStyle/>
          <a:p>
            <a:pPr algn="l"/>
            <a:r>
              <a:rPr sz="1300" b="1" i="0">
                <a:solidFill>
                  <a:srgbClr val="0D1B3E"/>
                </a:solidFill>
                <a:latin typeface="Calibri"/>
              </a:rPr>
              <a:t>Source Strategy</a:t>
            </a:r>
          </a:p>
        </p:txBody>
      </p:sp>
      <p:sp>
        <p:nvSpPr>
          <p:cNvPr id="23" name="TextBox 22"/>
          <p:cNvSpPr txBox="1"/>
          <p:nvPr/>
        </p:nvSpPr>
        <p:spPr>
          <a:xfrm>
            <a:off x="1097280" y="3977639"/>
            <a:ext cx="10058400" cy="274320"/>
          </a:xfrm>
          <a:prstGeom prst="rect">
            <a:avLst/>
          </a:prstGeom>
          <a:noFill/>
        </p:spPr>
        <p:txBody>
          <a:bodyPr wrap="square">
            <a:spAutoFit/>
          </a:bodyPr>
          <a:lstStyle/>
          <a:p>
            <a:pPr algn="l"/>
            <a:r>
              <a:rPr sz="1000" b="0" i="0">
                <a:solidFill>
                  <a:srgbClr val="4A5A6B"/>
                </a:solidFill>
                <a:latin typeface="Calibri"/>
              </a:rPr>
              <a:t>Which OSINT sources we use and why, with evidentiary weights</a:t>
            </a:r>
          </a:p>
        </p:txBody>
      </p:sp>
      <p:sp>
        <p:nvSpPr>
          <p:cNvPr id="24" name="Rectangle 23"/>
          <p:cNvSpPr/>
          <p:nvPr/>
        </p:nvSpPr>
        <p:spPr>
          <a:xfrm>
            <a:off x="457200" y="4279392"/>
            <a:ext cx="11247120" cy="18288"/>
          </a:xfrm>
          <a:prstGeom prst="rect">
            <a:avLst/>
          </a:prstGeom>
          <a:solidFill>
            <a:srgbClr val="CB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7200" y="4572000"/>
            <a:ext cx="502920" cy="594360"/>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4617720"/>
            <a:ext cx="502920" cy="502920"/>
          </a:xfrm>
          <a:prstGeom prst="rect">
            <a:avLst/>
          </a:prstGeom>
          <a:noFill/>
        </p:spPr>
        <p:txBody>
          <a:bodyPr wrap="square">
            <a:spAutoFit/>
          </a:bodyPr>
          <a:lstStyle/>
          <a:p>
            <a:pPr algn="ctr"/>
            <a:r>
              <a:rPr sz="1800" b="1" i="0">
                <a:solidFill>
                  <a:srgbClr val="FFFFFF"/>
                </a:solidFill>
                <a:latin typeface="Calibri"/>
              </a:rPr>
              <a:t>04</a:t>
            </a:r>
          </a:p>
        </p:txBody>
      </p:sp>
      <p:sp>
        <p:nvSpPr>
          <p:cNvPr id="27" name="TextBox 26"/>
          <p:cNvSpPr txBox="1"/>
          <p:nvPr/>
        </p:nvSpPr>
        <p:spPr>
          <a:xfrm>
            <a:off x="1097280" y="4590288"/>
            <a:ext cx="3474720" cy="320040"/>
          </a:xfrm>
          <a:prstGeom prst="rect">
            <a:avLst/>
          </a:prstGeom>
          <a:noFill/>
        </p:spPr>
        <p:txBody>
          <a:bodyPr wrap="square">
            <a:spAutoFit/>
          </a:bodyPr>
          <a:lstStyle/>
          <a:p>
            <a:pPr algn="l"/>
            <a:r>
              <a:rPr sz="1300" b="1" i="0">
                <a:solidFill>
                  <a:srgbClr val="0D1B3E"/>
                </a:solidFill>
                <a:latin typeface="Calibri"/>
              </a:rPr>
              <a:t>Criticality Ratings</a:t>
            </a:r>
          </a:p>
        </p:txBody>
      </p:sp>
      <p:sp>
        <p:nvSpPr>
          <p:cNvPr id="28" name="TextBox 27"/>
          <p:cNvSpPr txBox="1"/>
          <p:nvPr/>
        </p:nvSpPr>
        <p:spPr>
          <a:xfrm>
            <a:off x="1097280" y="4892040"/>
            <a:ext cx="10058400" cy="274320"/>
          </a:xfrm>
          <a:prstGeom prst="rect">
            <a:avLst/>
          </a:prstGeom>
          <a:noFill/>
        </p:spPr>
        <p:txBody>
          <a:bodyPr wrap="square">
            <a:spAutoFit/>
          </a:bodyPr>
          <a:lstStyle/>
          <a:p>
            <a:pPr algn="l"/>
            <a:r>
              <a:rPr sz="1000" b="0" i="0">
                <a:solidFill>
                  <a:srgbClr val="4A5A6B"/>
                </a:solidFill>
                <a:latin typeface="Calibri"/>
              </a:rPr>
              <a:t>All 6 vendors scored — criteria, weights, and tier rationale</a:t>
            </a:r>
          </a:p>
        </p:txBody>
      </p:sp>
      <p:sp>
        <p:nvSpPr>
          <p:cNvPr id="29" name="Rectangle 28"/>
          <p:cNvSpPr/>
          <p:nvPr/>
        </p:nvSpPr>
        <p:spPr>
          <a:xfrm>
            <a:off x="457200" y="5193792"/>
            <a:ext cx="11247120" cy="18288"/>
          </a:xfrm>
          <a:prstGeom prst="rect">
            <a:avLst/>
          </a:prstGeom>
          <a:solidFill>
            <a:srgbClr val="CB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57200" y="5486400"/>
            <a:ext cx="502920" cy="594360"/>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7200" y="5532120"/>
            <a:ext cx="502920" cy="502920"/>
          </a:xfrm>
          <a:prstGeom prst="rect">
            <a:avLst/>
          </a:prstGeom>
          <a:noFill/>
        </p:spPr>
        <p:txBody>
          <a:bodyPr wrap="square">
            <a:spAutoFit/>
          </a:bodyPr>
          <a:lstStyle/>
          <a:p>
            <a:pPr algn="ctr"/>
            <a:r>
              <a:rPr sz="1800" b="1" i="0">
                <a:solidFill>
                  <a:srgbClr val="FFFFFF"/>
                </a:solidFill>
                <a:latin typeface="Calibri"/>
              </a:rPr>
              <a:t>05</a:t>
            </a:r>
          </a:p>
        </p:txBody>
      </p:sp>
      <p:sp>
        <p:nvSpPr>
          <p:cNvPr id="32" name="TextBox 31"/>
          <p:cNvSpPr txBox="1"/>
          <p:nvPr/>
        </p:nvSpPr>
        <p:spPr>
          <a:xfrm>
            <a:off x="1097280" y="5504688"/>
            <a:ext cx="3474720" cy="320040"/>
          </a:xfrm>
          <a:prstGeom prst="rect">
            <a:avLst/>
          </a:prstGeom>
          <a:noFill/>
        </p:spPr>
        <p:txBody>
          <a:bodyPr wrap="square">
            <a:spAutoFit/>
          </a:bodyPr>
          <a:lstStyle/>
          <a:p>
            <a:pPr algn="l"/>
            <a:r>
              <a:rPr sz="1300" b="1" i="0">
                <a:solidFill>
                  <a:srgbClr val="0D1B3E"/>
                </a:solidFill>
                <a:latin typeface="Calibri"/>
              </a:rPr>
              <a:t>Working Demonstration</a:t>
            </a:r>
          </a:p>
        </p:txBody>
      </p:sp>
      <p:sp>
        <p:nvSpPr>
          <p:cNvPr id="33" name="TextBox 32"/>
          <p:cNvSpPr txBox="1"/>
          <p:nvPr/>
        </p:nvSpPr>
        <p:spPr>
          <a:xfrm>
            <a:off x="1097280" y="5806440"/>
            <a:ext cx="10058400" cy="274320"/>
          </a:xfrm>
          <a:prstGeom prst="rect">
            <a:avLst/>
          </a:prstGeom>
          <a:noFill/>
        </p:spPr>
        <p:txBody>
          <a:bodyPr wrap="square">
            <a:spAutoFit/>
          </a:bodyPr>
          <a:lstStyle/>
          <a:p>
            <a:pPr algn="l"/>
            <a:r>
              <a:rPr sz="1000" b="0" i="0">
                <a:solidFill>
                  <a:srgbClr val="4A5A6B"/>
                </a:solidFill>
                <a:latin typeface="Calibri"/>
              </a:rPr>
              <a:t>Live walkthrough of the MAVIRA platform</a:t>
            </a:r>
          </a:p>
        </p:txBody>
      </p:sp>
      <p:sp>
        <p:nvSpPr>
          <p:cNvPr id="34" name="Rectangle 33"/>
          <p:cNvSpPr/>
          <p:nvPr/>
        </p:nvSpPr>
        <p:spPr>
          <a:xfrm>
            <a:off x="457200" y="6108192"/>
            <a:ext cx="11247120" cy="18288"/>
          </a:xfrm>
          <a:prstGeom prst="rect">
            <a:avLst/>
          </a:prstGeom>
          <a:solidFill>
            <a:srgbClr val="CB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417320"/>
            <a:ext cx="914400" cy="54864"/>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1440"/>
            <a:ext cx="5486400" cy="365760"/>
          </a:xfrm>
          <a:prstGeom prst="rect">
            <a:avLst/>
          </a:prstGeom>
          <a:noFill/>
        </p:spPr>
        <p:txBody>
          <a:bodyPr wrap="square">
            <a:spAutoFit/>
          </a:bodyPr>
          <a:lstStyle/>
          <a:p>
            <a:pPr algn="l"/>
            <a:r>
              <a:rPr sz="900" b="0" i="0">
                <a:solidFill>
                  <a:srgbClr val="E05A0E"/>
                </a:solidFill>
                <a:latin typeface="Calibri"/>
              </a:rPr>
              <a:t>THE CHALLENGE</a:t>
            </a:r>
          </a:p>
        </p:txBody>
      </p:sp>
      <p:sp>
        <p:nvSpPr>
          <p:cNvPr id="6" name="TextBox 5"/>
          <p:cNvSpPr txBox="1"/>
          <p:nvPr/>
        </p:nvSpPr>
        <p:spPr>
          <a:xfrm>
            <a:off x="457200" y="411480"/>
            <a:ext cx="8229600" cy="731520"/>
          </a:xfrm>
          <a:prstGeom prst="rect">
            <a:avLst/>
          </a:prstGeom>
          <a:noFill/>
        </p:spPr>
        <p:txBody>
          <a:bodyPr wrap="square">
            <a:spAutoFit/>
          </a:bodyPr>
          <a:lstStyle/>
          <a:p>
            <a:pPr algn="l"/>
            <a:r>
              <a:rPr sz="2800" b="1" i="0">
                <a:solidFill>
                  <a:srgbClr val="FFFFFF"/>
                </a:solidFill>
                <a:latin typeface="Calibri"/>
              </a:rPr>
              <a:t>Why This Problem Is Hard to Solve</a:t>
            </a:r>
          </a:p>
        </p:txBody>
      </p:sp>
      <p:sp>
        <p:nvSpPr>
          <p:cNvPr id="7" name="TextBox 6"/>
          <p:cNvSpPr txBox="1"/>
          <p:nvPr/>
        </p:nvSpPr>
        <p:spPr>
          <a:xfrm>
            <a:off x="9144000" y="137160"/>
            <a:ext cx="2743200" cy="274320"/>
          </a:xfrm>
          <a:prstGeom prst="rect">
            <a:avLst/>
          </a:prstGeom>
          <a:noFill/>
        </p:spPr>
        <p:txBody>
          <a:bodyPr wrap="square">
            <a:spAutoFit/>
          </a:bodyPr>
          <a:lstStyle/>
          <a:p>
            <a:pPr algn="r"/>
            <a:r>
              <a:rPr sz="1100" b="1" i="0">
                <a:solidFill>
                  <a:srgbClr val="FFFFFF"/>
                </a:solidFill>
                <a:latin typeface="Calibri"/>
              </a:rPr>
              <a:t>Optiv Consulting</a:t>
            </a:r>
          </a:p>
        </p:txBody>
      </p:sp>
      <p:sp>
        <p:nvSpPr>
          <p:cNvPr id="8" name="TextBox 7"/>
          <p:cNvSpPr txBox="1"/>
          <p:nvPr/>
        </p:nvSpPr>
        <p:spPr>
          <a:xfrm>
            <a:off x="9144000" y="384048"/>
            <a:ext cx="2926080" cy="274320"/>
          </a:xfrm>
          <a:prstGeom prst="rect">
            <a:avLst/>
          </a:prstGeom>
          <a:noFill/>
        </p:spPr>
        <p:txBody>
          <a:bodyPr wrap="square">
            <a:spAutoFit/>
          </a:bodyPr>
          <a:lstStyle/>
          <a:p>
            <a:pPr algn="r"/>
            <a:r>
              <a:rPr sz="800" b="0" i="0">
                <a:solidFill>
                  <a:srgbClr val="F2F4F8"/>
                </a:solidFill>
                <a:latin typeface="Calibri"/>
              </a:rPr>
              <a:t>[formerly part of Optiv Security]</a:t>
            </a:r>
          </a:p>
        </p:txBody>
      </p:sp>
      <p:sp>
        <p:nvSpPr>
          <p:cNvPr id="9" name="Rectangle 8"/>
          <p:cNvSpPr/>
          <p:nvPr/>
        </p:nvSpPr>
        <p:spPr>
          <a:xfrm>
            <a:off x="365760" y="1645920"/>
            <a:ext cx="5394960" cy="4754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783080"/>
            <a:ext cx="3657600" cy="246221"/>
          </a:xfrm>
          <a:prstGeom prst="rect">
            <a:avLst/>
          </a:prstGeom>
          <a:noFill/>
        </p:spPr>
        <p:txBody>
          <a:bodyPr wrap="square">
            <a:spAutoFit/>
          </a:bodyPr>
          <a:lstStyle/>
          <a:p>
            <a:pPr algn="l"/>
            <a:r>
              <a:rPr sz="1000" b="1" i="0" dirty="0">
                <a:solidFill>
                  <a:srgbClr val="E05A0E"/>
                </a:solidFill>
                <a:latin typeface="Calibri"/>
              </a:rPr>
              <a:t>BACKGROUND</a:t>
            </a:r>
            <a:endParaRPr sz="900" b="1" i="0" dirty="0">
              <a:solidFill>
                <a:srgbClr val="E05A0E"/>
              </a:solidFill>
              <a:latin typeface="Calibri"/>
            </a:endParaRPr>
          </a:p>
        </p:txBody>
      </p:sp>
      <p:sp>
        <p:nvSpPr>
          <p:cNvPr id="11" name="TextBox 10"/>
          <p:cNvSpPr txBox="1"/>
          <p:nvPr/>
        </p:nvSpPr>
        <p:spPr>
          <a:xfrm>
            <a:off x="640080" y="2103120"/>
            <a:ext cx="4572000" cy="400110"/>
          </a:xfrm>
          <a:prstGeom prst="rect">
            <a:avLst/>
          </a:prstGeom>
          <a:noFill/>
        </p:spPr>
        <p:txBody>
          <a:bodyPr wrap="square">
            <a:spAutoFit/>
          </a:bodyPr>
          <a:lstStyle/>
          <a:p>
            <a:pPr algn="l"/>
            <a:r>
              <a:rPr sz="2000" b="1" i="0" dirty="0">
                <a:solidFill>
                  <a:srgbClr val="FFFFFF"/>
                </a:solidFill>
                <a:latin typeface="Calibri"/>
              </a:rPr>
              <a:t>Meridian Financial.</a:t>
            </a:r>
          </a:p>
        </p:txBody>
      </p:sp>
      <p:sp>
        <p:nvSpPr>
          <p:cNvPr id="12" name="TextBox 11"/>
          <p:cNvSpPr txBox="1"/>
          <p:nvPr/>
        </p:nvSpPr>
        <p:spPr>
          <a:xfrm>
            <a:off x="640080" y="2651760"/>
            <a:ext cx="4846320" cy="2031325"/>
          </a:xfrm>
          <a:prstGeom prst="rect">
            <a:avLst/>
          </a:prstGeom>
          <a:noFill/>
        </p:spPr>
        <p:txBody>
          <a:bodyPr wrap="square">
            <a:spAutoFit/>
          </a:bodyPr>
          <a:lstStyle/>
          <a:p>
            <a:pPr algn="l"/>
            <a:r>
              <a:rPr sz="1400" b="0" i="0" dirty="0">
                <a:solidFill>
                  <a:srgbClr val="F2F4F8"/>
                </a:solidFill>
                <a:latin typeface="Calibri"/>
              </a:rPr>
              <a:t>Meridian relies on 6+ critical third-party vendors across core banking, payments, document services, and IT consulting.</a:t>
            </a:r>
          </a:p>
          <a:p>
            <a:pPr algn="l"/>
            <a:r>
              <a:rPr sz="1400" b="0" i="0" dirty="0">
                <a:solidFill>
                  <a:srgbClr val="F2F4F8"/>
                </a:solidFill>
                <a:latin typeface="Calibri"/>
              </a:rPr>
              <a:t> </a:t>
            </a:r>
          </a:p>
          <a:p>
            <a:pPr algn="l"/>
            <a:r>
              <a:rPr sz="1400" b="0" i="0" dirty="0">
                <a:solidFill>
                  <a:srgbClr val="F2F4F8"/>
                </a:solidFill>
                <a:latin typeface="Calibri"/>
              </a:rPr>
              <a:t>AI is increasingly embedded silently — vendors ship AI features without disclosure. Meridian cannot tell which vendor is using AI in the services it actually receives.</a:t>
            </a:r>
          </a:p>
          <a:p>
            <a:pPr algn="l"/>
            <a:r>
              <a:rPr sz="1400" b="0" i="0" dirty="0">
                <a:solidFill>
                  <a:srgbClr val="F2F4F8"/>
                </a:solidFill>
                <a:latin typeface="Calibri"/>
              </a:rPr>
              <a:t> </a:t>
            </a:r>
          </a:p>
          <a:p>
            <a:pPr algn="l"/>
            <a:r>
              <a:rPr sz="1400" b="0" i="0" dirty="0">
                <a:solidFill>
                  <a:srgbClr val="F2F4F8"/>
                </a:solidFill>
                <a:latin typeface="Calibri"/>
              </a:rPr>
              <a:t>Optiv has been engaged to build a repeatable, evidence-driven approach based entirely on the vendor's public footprint.</a:t>
            </a:r>
          </a:p>
        </p:txBody>
      </p:sp>
      <p:sp>
        <p:nvSpPr>
          <p:cNvPr id="13" name="Rectangle 12"/>
          <p:cNvSpPr/>
          <p:nvPr/>
        </p:nvSpPr>
        <p:spPr>
          <a:xfrm>
            <a:off x="6126480" y="1645920"/>
            <a:ext cx="5669280" cy="475488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1783080"/>
            <a:ext cx="4572000" cy="246221"/>
          </a:xfrm>
          <a:prstGeom prst="rect">
            <a:avLst/>
          </a:prstGeom>
          <a:noFill/>
        </p:spPr>
        <p:txBody>
          <a:bodyPr wrap="square">
            <a:spAutoFit/>
          </a:bodyPr>
          <a:lstStyle/>
          <a:p>
            <a:pPr algn="l"/>
            <a:r>
              <a:rPr sz="1000" b="1" i="0" dirty="0">
                <a:solidFill>
                  <a:srgbClr val="E05A0E"/>
                </a:solidFill>
                <a:latin typeface="Calibri"/>
              </a:rPr>
              <a:t>PROBLEM STATEMENT</a:t>
            </a:r>
          </a:p>
        </p:txBody>
      </p:sp>
      <p:sp>
        <p:nvSpPr>
          <p:cNvPr id="15" name="TextBox 14"/>
          <p:cNvSpPr txBox="1"/>
          <p:nvPr/>
        </p:nvSpPr>
        <p:spPr>
          <a:xfrm>
            <a:off x="6400800" y="2103120"/>
            <a:ext cx="5029200" cy="461665"/>
          </a:xfrm>
          <a:prstGeom prst="rect">
            <a:avLst/>
          </a:prstGeom>
          <a:noFill/>
        </p:spPr>
        <p:txBody>
          <a:bodyPr wrap="square">
            <a:spAutoFit/>
          </a:bodyPr>
          <a:lstStyle/>
          <a:p>
            <a:pPr algn="l"/>
            <a:r>
              <a:rPr sz="2400" b="1" i="0" dirty="0">
                <a:solidFill>
                  <a:srgbClr val="0D1B3E"/>
                </a:solidFill>
                <a:latin typeface="Calibri"/>
              </a:rPr>
              <a:t>Read the public footprint.</a:t>
            </a:r>
          </a:p>
        </p:txBody>
      </p:sp>
      <p:sp>
        <p:nvSpPr>
          <p:cNvPr id="16" name="Rectangle 15"/>
          <p:cNvSpPr/>
          <p:nvPr/>
        </p:nvSpPr>
        <p:spPr>
          <a:xfrm>
            <a:off x="6309360" y="2744242"/>
            <a:ext cx="54864" cy="54864"/>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2651760"/>
            <a:ext cx="5120640" cy="276999"/>
          </a:xfrm>
          <a:prstGeom prst="rect">
            <a:avLst/>
          </a:prstGeom>
          <a:noFill/>
        </p:spPr>
        <p:txBody>
          <a:bodyPr wrap="square">
            <a:spAutoFit/>
          </a:bodyPr>
          <a:lstStyle/>
          <a:p>
            <a:pPr algn="l"/>
            <a:r>
              <a:rPr sz="1200" b="0" i="0" dirty="0">
                <a:solidFill>
                  <a:srgbClr val="0D1B3E"/>
                </a:solidFill>
                <a:latin typeface="Calibri"/>
              </a:rPr>
              <a:t>Identify OSINT sources that reveal real AI usage — not marketing commentary</a:t>
            </a:r>
          </a:p>
        </p:txBody>
      </p:sp>
      <p:sp>
        <p:nvSpPr>
          <p:cNvPr id="18" name="Rectangle 17"/>
          <p:cNvSpPr/>
          <p:nvPr/>
        </p:nvSpPr>
        <p:spPr>
          <a:xfrm>
            <a:off x="6309360" y="3246120"/>
            <a:ext cx="54864" cy="54864"/>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92240" y="3154679"/>
            <a:ext cx="5120640" cy="523220"/>
          </a:xfrm>
          <a:prstGeom prst="rect">
            <a:avLst/>
          </a:prstGeom>
          <a:noFill/>
        </p:spPr>
        <p:txBody>
          <a:bodyPr wrap="square">
            <a:spAutoFit/>
          </a:bodyPr>
          <a:lstStyle/>
          <a:p>
            <a:pPr algn="l"/>
            <a:r>
              <a:rPr sz="1400" b="0" i="0" dirty="0">
                <a:solidFill>
                  <a:srgbClr val="0D1B3E"/>
                </a:solidFill>
                <a:latin typeface="Calibri"/>
              </a:rPr>
              <a:t>Score each signal by source reliability, directness, specificity, relevance, independence, and recency</a:t>
            </a:r>
          </a:p>
        </p:txBody>
      </p:sp>
      <p:sp>
        <p:nvSpPr>
          <p:cNvPr id="20" name="Rectangle 19"/>
          <p:cNvSpPr/>
          <p:nvPr/>
        </p:nvSpPr>
        <p:spPr>
          <a:xfrm>
            <a:off x="6309360" y="3963924"/>
            <a:ext cx="54864" cy="54864"/>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92240" y="3840479"/>
            <a:ext cx="5120640" cy="523220"/>
          </a:xfrm>
          <a:prstGeom prst="rect">
            <a:avLst/>
          </a:prstGeom>
          <a:noFill/>
        </p:spPr>
        <p:txBody>
          <a:bodyPr wrap="square">
            <a:spAutoFit/>
          </a:bodyPr>
          <a:lstStyle/>
          <a:p>
            <a:pPr algn="l"/>
            <a:r>
              <a:rPr sz="1400" b="0" i="0" dirty="0">
                <a:solidFill>
                  <a:srgbClr val="0D1B3E"/>
                </a:solidFill>
                <a:latin typeface="Calibri"/>
              </a:rPr>
              <a:t>Classify evidence as SERVICE_INTEGRATED, PRODUCT_FEATURE, or disqualified (MARKETING_ONLY)</a:t>
            </a:r>
          </a:p>
        </p:txBody>
      </p:sp>
      <p:sp>
        <p:nvSpPr>
          <p:cNvPr id="22" name="Rectangle 21"/>
          <p:cNvSpPr/>
          <p:nvPr/>
        </p:nvSpPr>
        <p:spPr>
          <a:xfrm>
            <a:off x="6309360" y="4654296"/>
            <a:ext cx="54864" cy="54864"/>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92240" y="4566213"/>
            <a:ext cx="5120640" cy="523220"/>
          </a:xfrm>
          <a:prstGeom prst="rect">
            <a:avLst/>
          </a:prstGeom>
          <a:noFill/>
        </p:spPr>
        <p:txBody>
          <a:bodyPr wrap="square">
            <a:spAutoFit/>
          </a:bodyPr>
          <a:lstStyle/>
          <a:p>
            <a:pPr algn="l"/>
            <a:r>
              <a:rPr sz="1400" b="0" i="0" dirty="0">
                <a:solidFill>
                  <a:srgbClr val="0D1B3E"/>
                </a:solidFill>
                <a:latin typeface="Calibri"/>
              </a:rPr>
              <a:t>Surface resulting AI security risks: data exposure, undisclosed sub-processors, model opacity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417320"/>
            <a:ext cx="914400" cy="54864"/>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1440"/>
            <a:ext cx="5486400" cy="365760"/>
          </a:xfrm>
          <a:prstGeom prst="rect">
            <a:avLst/>
          </a:prstGeom>
          <a:noFill/>
        </p:spPr>
        <p:txBody>
          <a:bodyPr wrap="square">
            <a:spAutoFit/>
          </a:bodyPr>
          <a:lstStyle/>
          <a:p>
            <a:pPr algn="l"/>
            <a:r>
              <a:rPr sz="900" b="0" i="0">
                <a:solidFill>
                  <a:srgbClr val="E05A0E"/>
                </a:solidFill>
                <a:latin typeface="Calibri"/>
              </a:rPr>
              <a:t>EXPECTED OUTCOME 01</a:t>
            </a:r>
          </a:p>
        </p:txBody>
      </p:sp>
      <p:sp>
        <p:nvSpPr>
          <p:cNvPr id="6" name="TextBox 5"/>
          <p:cNvSpPr txBox="1"/>
          <p:nvPr/>
        </p:nvSpPr>
        <p:spPr>
          <a:xfrm>
            <a:off x="457200" y="411480"/>
            <a:ext cx="8229600" cy="731520"/>
          </a:xfrm>
          <a:prstGeom prst="rect">
            <a:avLst/>
          </a:prstGeom>
          <a:noFill/>
        </p:spPr>
        <p:txBody>
          <a:bodyPr wrap="square">
            <a:spAutoFit/>
          </a:bodyPr>
          <a:lstStyle/>
          <a:p>
            <a:pPr algn="l"/>
            <a:r>
              <a:rPr sz="2800" b="1" i="0">
                <a:solidFill>
                  <a:srgbClr val="FFFFFF"/>
                </a:solidFill>
                <a:latin typeface="Calibri"/>
              </a:rPr>
              <a:t>Functional Design Diagram</a:t>
            </a:r>
          </a:p>
        </p:txBody>
      </p:sp>
      <p:sp>
        <p:nvSpPr>
          <p:cNvPr id="7" name="TextBox 6"/>
          <p:cNvSpPr txBox="1"/>
          <p:nvPr/>
        </p:nvSpPr>
        <p:spPr>
          <a:xfrm>
            <a:off x="457200" y="1481328"/>
            <a:ext cx="8229600" cy="365760"/>
          </a:xfrm>
          <a:prstGeom prst="rect">
            <a:avLst/>
          </a:prstGeom>
          <a:noFill/>
        </p:spPr>
        <p:txBody>
          <a:bodyPr wrap="square">
            <a:spAutoFit/>
          </a:bodyPr>
          <a:lstStyle/>
          <a:p>
            <a:pPr algn="l"/>
            <a:r>
              <a:rPr sz="1200" b="0" i="0">
                <a:solidFill>
                  <a:srgbClr val="4A5A6B"/>
                </a:solidFill>
                <a:latin typeface="Calibri"/>
              </a:rPr>
              <a:t>End-to-end data flow: vendor profile in → risk classification out</a:t>
            </a:r>
          </a:p>
        </p:txBody>
      </p:sp>
      <p:sp>
        <p:nvSpPr>
          <p:cNvPr id="8" name="TextBox 7"/>
          <p:cNvSpPr txBox="1"/>
          <p:nvPr/>
        </p:nvSpPr>
        <p:spPr>
          <a:xfrm>
            <a:off x="9144000" y="137160"/>
            <a:ext cx="2743200" cy="274320"/>
          </a:xfrm>
          <a:prstGeom prst="rect">
            <a:avLst/>
          </a:prstGeom>
          <a:noFill/>
        </p:spPr>
        <p:txBody>
          <a:bodyPr wrap="square">
            <a:spAutoFit/>
          </a:bodyPr>
          <a:lstStyle/>
          <a:p>
            <a:pPr algn="r"/>
            <a:r>
              <a:rPr sz="1100" b="1" i="0">
                <a:solidFill>
                  <a:srgbClr val="FFFFFF"/>
                </a:solidFill>
                <a:latin typeface="Calibri"/>
              </a:rPr>
              <a:t>Optiv Consulting</a:t>
            </a:r>
          </a:p>
        </p:txBody>
      </p:sp>
      <p:sp>
        <p:nvSpPr>
          <p:cNvPr id="9" name="TextBox 8"/>
          <p:cNvSpPr txBox="1"/>
          <p:nvPr/>
        </p:nvSpPr>
        <p:spPr>
          <a:xfrm>
            <a:off x="9144000" y="384048"/>
            <a:ext cx="2926080" cy="274320"/>
          </a:xfrm>
          <a:prstGeom prst="rect">
            <a:avLst/>
          </a:prstGeom>
          <a:noFill/>
        </p:spPr>
        <p:txBody>
          <a:bodyPr wrap="square">
            <a:spAutoFit/>
          </a:bodyPr>
          <a:lstStyle/>
          <a:p>
            <a:pPr algn="r"/>
            <a:r>
              <a:rPr sz="800" b="0" i="0">
                <a:solidFill>
                  <a:srgbClr val="F2F4F8"/>
                </a:solidFill>
                <a:latin typeface="Calibri"/>
              </a:rPr>
              <a:t>[formerly part of Optiv Security]</a:t>
            </a:r>
          </a:p>
        </p:txBody>
      </p:sp>
      <p:sp>
        <p:nvSpPr>
          <p:cNvPr id="10" name="Rectangle 9"/>
          <p:cNvSpPr/>
          <p:nvPr/>
        </p:nvSpPr>
        <p:spPr>
          <a:xfrm>
            <a:off x="320040" y="2011680"/>
            <a:ext cx="1325880" cy="2377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93192" y="2103120"/>
            <a:ext cx="457200" cy="320040"/>
          </a:xfrm>
          <a:prstGeom prst="rect">
            <a:avLst/>
          </a:prstGeom>
          <a:noFill/>
        </p:spPr>
        <p:txBody>
          <a:bodyPr wrap="square">
            <a:spAutoFit/>
          </a:bodyPr>
          <a:lstStyle/>
          <a:p>
            <a:pPr algn="l"/>
            <a:r>
              <a:rPr sz="900" b="0" i="0">
                <a:solidFill>
                  <a:srgbClr val="E05A0E"/>
                </a:solidFill>
                <a:latin typeface="Calibri"/>
              </a:rPr>
              <a:t>01</a:t>
            </a:r>
          </a:p>
        </p:txBody>
      </p:sp>
      <p:sp>
        <p:nvSpPr>
          <p:cNvPr id="12" name="TextBox 11"/>
          <p:cNvSpPr txBox="1"/>
          <p:nvPr/>
        </p:nvSpPr>
        <p:spPr>
          <a:xfrm>
            <a:off x="320040" y="2377440"/>
            <a:ext cx="1325880" cy="640080"/>
          </a:xfrm>
          <a:prstGeom prst="rect">
            <a:avLst/>
          </a:prstGeom>
          <a:noFill/>
        </p:spPr>
        <p:txBody>
          <a:bodyPr wrap="square">
            <a:spAutoFit/>
          </a:bodyPr>
          <a:lstStyle/>
          <a:p>
            <a:pPr algn="ctr"/>
            <a:r>
              <a:rPr sz="900" b="1" i="0">
                <a:solidFill>
                  <a:srgbClr val="FFFFFF"/>
                </a:solidFill>
                <a:latin typeface="Calibri"/>
              </a:rPr>
              <a:t>VENDOR
PROFILE</a:t>
            </a:r>
          </a:p>
        </p:txBody>
      </p:sp>
      <p:sp>
        <p:nvSpPr>
          <p:cNvPr id="13" name="TextBox 12"/>
          <p:cNvSpPr txBox="1"/>
          <p:nvPr/>
        </p:nvSpPr>
        <p:spPr>
          <a:xfrm>
            <a:off x="365759" y="3063240"/>
            <a:ext cx="1234439" cy="1188720"/>
          </a:xfrm>
          <a:prstGeom prst="rect">
            <a:avLst/>
          </a:prstGeom>
          <a:noFill/>
        </p:spPr>
        <p:txBody>
          <a:bodyPr wrap="square">
            <a:spAutoFit/>
          </a:bodyPr>
          <a:lstStyle/>
          <a:p>
            <a:pPr algn="ctr"/>
            <a:r>
              <a:rPr sz="850" b="0" i="0">
                <a:solidFill>
                  <a:srgbClr val="F2F4F8"/>
                </a:solidFill>
                <a:latin typeface="Calibri"/>
              </a:rPr>
              <a:t>Excel input
Service description</a:t>
            </a:r>
          </a:p>
        </p:txBody>
      </p:sp>
      <p:cxnSp>
        <p:nvCxnSpPr>
          <p:cNvPr id="14" name="Connector 13"/>
          <p:cNvCxnSpPr/>
          <p:nvPr/>
        </p:nvCxnSpPr>
        <p:spPr>
          <a:xfrm>
            <a:off x="1655063" y="3200400"/>
            <a:ext cx="146304" cy="0"/>
          </a:xfrm>
          <a:prstGeom prst="line">
            <a:avLst/>
          </a:prstGeom>
          <a:ln w="25400">
            <a:solidFill>
              <a:srgbClr val="E05A0E"/>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1783079" y="2011680"/>
            <a:ext cx="1325880" cy="2377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856231" y="2103120"/>
            <a:ext cx="457200" cy="320040"/>
          </a:xfrm>
          <a:prstGeom prst="rect">
            <a:avLst/>
          </a:prstGeom>
          <a:noFill/>
        </p:spPr>
        <p:txBody>
          <a:bodyPr wrap="square">
            <a:spAutoFit/>
          </a:bodyPr>
          <a:lstStyle/>
          <a:p>
            <a:pPr algn="l"/>
            <a:r>
              <a:rPr sz="900" b="0" i="0">
                <a:solidFill>
                  <a:srgbClr val="E05A0E"/>
                </a:solidFill>
                <a:latin typeface="Calibri"/>
              </a:rPr>
              <a:t>02</a:t>
            </a:r>
          </a:p>
        </p:txBody>
      </p:sp>
      <p:sp>
        <p:nvSpPr>
          <p:cNvPr id="17" name="TextBox 16"/>
          <p:cNvSpPr txBox="1"/>
          <p:nvPr/>
        </p:nvSpPr>
        <p:spPr>
          <a:xfrm>
            <a:off x="1783079" y="2377440"/>
            <a:ext cx="1325880" cy="640080"/>
          </a:xfrm>
          <a:prstGeom prst="rect">
            <a:avLst/>
          </a:prstGeom>
          <a:noFill/>
        </p:spPr>
        <p:txBody>
          <a:bodyPr wrap="square">
            <a:spAutoFit/>
          </a:bodyPr>
          <a:lstStyle/>
          <a:p>
            <a:pPr algn="ctr"/>
            <a:r>
              <a:rPr sz="900" b="1" i="0">
                <a:solidFill>
                  <a:srgbClr val="FFFFFF"/>
                </a:solidFill>
                <a:latin typeface="Calibri"/>
              </a:rPr>
              <a:t>CRITICALITY
ENGINE</a:t>
            </a:r>
          </a:p>
        </p:txBody>
      </p:sp>
      <p:sp>
        <p:nvSpPr>
          <p:cNvPr id="18" name="TextBox 17"/>
          <p:cNvSpPr txBox="1"/>
          <p:nvPr/>
        </p:nvSpPr>
        <p:spPr>
          <a:xfrm>
            <a:off x="1828799" y="3063240"/>
            <a:ext cx="1234439" cy="746358"/>
          </a:xfrm>
          <a:prstGeom prst="rect">
            <a:avLst/>
          </a:prstGeom>
          <a:noFill/>
        </p:spPr>
        <p:txBody>
          <a:bodyPr wrap="square">
            <a:spAutoFit/>
          </a:bodyPr>
          <a:lstStyle/>
          <a:p>
            <a:pPr algn="ctr"/>
            <a:r>
              <a:rPr sz="850" b="0" i="0" dirty="0">
                <a:solidFill>
                  <a:srgbClr val="F2F4F8"/>
                </a:solidFill>
                <a:latin typeface="Calibri"/>
              </a:rPr>
              <a:t>5-factor score
CRITICAL/HIGH/
MEDIUM/LOW</a:t>
            </a:r>
            <a:br>
              <a:rPr lang="en-IN" sz="850" b="0" i="0" dirty="0">
                <a:solidFill>
                  <a:srgbClr val="F2F4F8"/>
                </a:solidFill>
                <a:latin typeface="Calibri"/>
              </a:rPr>
            </a:br>
            <a:br>
              <a:rPr lang="en-IN" sz="850" b="1" i="0" dirty="0">
                <a:solidFill>
                  <a:srgbClr val="F2F4F8"/>
                </a:solidFill>
                <a:latin typeface="Calibri"/>
              </a:rPr>
            </a:br>
            <a:r>
              <a:rPr lang="en-IN" sz="850" b="1" i="0" dirty="0">
                <a:solidFill>
                  <a:srgbClr val="F2F4F8"/>
                </a:solidFill>
                <a:latin typeface="Calibri"/>
              </a:rPr>
              <a:t>OD,DS,PF,RE,DV</a:t>
            </a:r>
            <a:endParaRPr sz="850" b="1" i="0" dirty="0">
              <a:solidFill>
                <a:srgbClr val="F2F4F8"/>
              </a:solidFill>
              <a:latin typeface="Calibri"/>
            </a:endParaRPr>
          </a:p>
        </p:txBody>
      </p:sp>
      <p:cxnSp>
        <p:nvCxnSpPr>
          <p:cNvPr id="19" name="Connector 18"/>
          <p:cNvCxnSpPr/>
          <p:nvPr/>
        </p:nvCxnSpPr>
        <p:spPr>
          <a:xfrm>
            <a:off x="3118103" y="3200400"/>
            <a:ext cx="146304" cy="0"/>
          </a:xfrm>
          <a:prstGeom prst="line">
            <a:avLst/>
          </a:prstGeom>
          <a:ln w="25400">
            <a:solidFill>
              <a:srgbClr val="E05A0E"/>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246120" y="2011680"/>
            <a:ext cx="1325880" cy="2377440"/>
          </a:xfrm>
          <a:prstGeom prst="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319272" y="2103120"/>
            <a:ext cx="457200" cy="320040"/>
          </a:xfrm>
          <a:prstGeom prst="rect">
            <a:avLst/>
          </a:prstGeom>
          <a:noFill/>
        </p:spPr>
        <p:txBody>
          <a:bodyPr wrap="square">
            <a:spAutoFit/>
          </a:bodyPr>
          <a:lstStyle/>
          <a:p>
            <a:pPr algn="l"/>
            <a:r>
              <a:rPr sz="900" b="0" i="0">
                <a:solidFill>
                  <a:srgbClr val="E05A0E"/>
                </a:solidFill>
                <a:latin typeface="Calibri"/>
              </a:rPr>
              <a:t>03</a:t>
            </a:r>
          </a:p>
        </p:txBody>
      </p:sp>
      <p:sp>
        <p:nvSpPr>
          <p:cNvPr id="22" name="TextBox 21"/>
          <p:cNvSpPr txBox="1"/>
          <p:nvPr/>
        </p:nvSpPr>
        <p:spPr>
          <a:xfrm>
            <a:off x="3246120" y="2377440"/>
            <a:ext cx="1325880" cy="640080"/>
          </a:xfrm>
          <a:prstGeom prst="rect">
            <a:avLst/>
          </a:prstGeom>
          <a:noFill/>
        </p:spPr>
        <p:txBody>
          <a:bodyPr wrap="square">
            <a:spAutoFit/>
          </a:bodyPr>
          <a:lstStyle/>
          <a:p>
            <a:pPr algn="ctr"/>
            <a:r>
              <a:rPr sz="900" b="1" i="0">
                <a:solidFill>
                  <a:srgbClr val="FFFFFF"/>
                </a:solidFill>
                <a:latin typeface="Calibri"/>
              </a:rPr>
              <a:t>SEARCH
DEPTH</a:t>
            </a:r>
          </a:p>
        </p:txBody>
      </p:sp>
      <p:sp>
        <p:nvSpPr>
          <p:cNvPr id="23" name="TextBox 22"/>
          <p:cNvSpPr txBox="1"/>
          <p:nvPr/>
        </p:nvSpPr>
        <p:spPr>
          <a:xfrm>
            <a:off x="3291839" y="3063240"/>
            <a:ext cx="1234439" cy="1188720"/>
          </a:xfrm>
          <a:prstGeom prst="rect">
            <a:avLst/>
          </a:prstGeom>
          <a:noFill/>
        </p:spPr>
        <p:txBody>
          <a:bodyPr wrap="square">
            <a:spAutoFit/>
          </a:bodyPr>
          <a:lstStyle/>
          <a:p>
            <a:pPr algn="ctr"/>
            <a:r>
              <a:rPr sz="850" b="0" i="0">
                <a:solidFill>
                  <a:srgbClr val="F2F4F8"/>
                </a:solidFill>
                <a:latin typeface="Calibri"/>
              </a:rPr>
              <a:t>FULL/DEEP/
STANDARD/BASIC
8–30 sources</a:t>
            </a:r>
          </a:p>
        </p:txBody>
      </p:sp>
      <p:cxnSp>
        <p:nvCxnSpPr>
          <p:cNvPr id="24" name="Connector 23"/>
          <p:cNvCxnSpPr/>
          <p:nvPr/>
        </p:nvCxnSpPr>
        <p:spPr>
          <a:xfrm>
            <a:off x="4581144" y="3200400"/>
            <a:ext cx="146304" cy="0"/>
          </a:xfrm>
          <a:prstGeom prst="line">
            <a:avLst/>
          </a:prstGeom>
          <a:ln w="25400">
            <a:solidFill>
              <a:srgbClr val="E05A0E"/>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4709159" y="2011680"/>
            <a:ext cx="1325880" cy="2377440"/>
          </a:xfrm>
          <a:prstGeom prst="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782312" y="2103120"/>
            <a:ext cx="457200" cy="320040"/>
          </a:xfrm>
          <a:prstGeom prst="rect">
            <a:avLst/>
          </a:prstGeom>
          <a:noFill/>
        </p:spPr>
        <p:txBody>
          <a:bodyPr wrap="square">
            <a:spAutoFit/>
          </a:bodyPr>
          <a:lstStyle/>
          <a:p>
            <a:pPr algn="l"/>
            <a:r>
              <a:rPr sz="900" b="0" i="0">
                <a:solidFill>
                  <a:srgbClr val="E05A0E"/>
                </a:solidFill>
                <a:latin typeface="Calibri"/>
              </a:rPr>
              <a:t>04</a:t>
            </a:r>
          </a:p>
        </p:txBody>
      </p:sp>
      <p:sp>
        <p:nvSpPr>
          <p:cNvPr id="27" name="TextBox 26"/>
          <p:cNvSpPr txBox="1"/>
          <p:nvPr/>
        </p:nvSpPr>
        <p:spPr>
          <a:xfrm>
            <a:off x="4709159" y="2377440"/>
            <a:ext cx="1325880" cy="640080"/>
          </a:xfrm>
          <a:prstGeom prst="rect">
            <a:avLst/>
          </a:prstGeom>
          <a:noFill/>
        </p:spPr>
        <p:txBody>
          <a:bodyPr wrap="square">
            <a:spAutoFit/>
          </a:bodyPr>
          <a:lstStyle/>
          <a:p>
            <a:pPr algn="ctr"/>
            <a:r>
              <a:rPr sz="900" b="1" i="0">
                <a:solidFill>
                  <a:srgbClr val="FFFFFF"/>
                </a:solidFill>
                <a:latin typeface="Calibri"/>
              </a:rPr>
              <a:t>OSINT
COLLECTION</a:t>
            </a:r>
          </a:p>
        </p:txBody>
      </p:sp>
      <p:sp>
        <p:nvSpPr>
          <p:cNvPr id="28" name="TextBox 27"/>
          <p:cNvSpPr txBox="1"/>
          <p:nvPr/>
        </p:nvSpPr>
        <p:spPr>
          <a:xfrm>
            <a:off x="4754879" y="3063240"/>
            <a:ext cx="1234439" cy="484748"/>
          </a:xfrm>
          <a:prstGeom prst="rect">
            <a:avLst/>
          </a:prstGeom>
          <a:noFill/>
        </p:spPr>
        <p:txBody>
          <a:bodyPr wrap="square">
            <a:spAutoFit/>
          </a:bodyPr>
          <a:lstStyle/>
          <a:p>
            <a:pPr algn="ctr"/>
            <a:r>
              <a:rPr sz="850" b="0" i="0" dirty="0" err="1">
                <a:solidFill>
                  <a:srgbClr val="F2F4F8"/>
                </a:solidFill>
                <a:latin typeface="Calibri"/>
              </a:rPr>
              <a:t>Serper</a:t>
            </a:r>
            <a:r>
              <a:rPr sz="850" b="0" i="0" dirty="0">
                <a:solidFill>
                  <a:srgbClr val="F2F4F8"/>
                </a:solidFill>
                <a:latin typeface="Calibri"/>
              </a:rPr>
              <a:t>
SEC EDGAR
LinkedIn, Docs</a:t>
            </a:r>
          </a:p>
        </p:txBody>
      </p:sp>
      <p:cxnSp>
        <p:nvCxnSpPr>
          <p:cNvPr id="29" name="Connector 28"/>
          <p:cNvCxnSpPr/>
          <p:nvPr/>
        </p:nvCxnSpPr>
        <p:spPr>
          <a:xfrm>
            <a:off x="6044183" y="3200400"/>
            <a:ext cx="146305" cy="0"/>
          </a:xfrm>
          <a:prstGeom prst="line">
            <a:avLst/>
          </a:prstGeom>
          <a:ln w="25400">
            <a:solidFill>
              <a:srgbClr val="E05A0E"/>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6172199" y="2011680"/>
            <a:ext cx="1325880" cy="2377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245351" y="2103120"/>
            <a:ext cx="457200" cy="320040"/>
          </a:xfrm>
          <a:prstGeom prst="rect">
            <a:avLst/>
          </a:prstGeom>
          <a:noFill/>
        </p:spPr>
        <p:txBody>
          <a:bodyPr wrap="square">
            <a:spAutoFit/>
          </a:bodyPr>
          <a:lstStyle/>
          <a:p>
            <a:pPr algn="l"/>
            <a:r>
              <a:rPr sz="900" b="0" i="0">
                <a:solidFill>
                  <a:srgbClr val="E05A0E"/>
                </a:solidFill>
                <a:latin typeface="Calibri"/>
              </a:rPr>
              <a:t>05</a:t>
            </a:r>
          </a:p>
        </p:txBody>
      </p:sp>
      <p:sp>
        <p:nvSpPr>
          <p:cNvPr id="32" name="TextBox 31"/>
          <p:cNvSpPr txBox="1"/>
          <p:nvPr/>
        </p:nvSpPr>
        <p:spPr>
          <a:xfrm>
            <a:off x="6172199" y="2377440"/>
            <a:ext cx="1325880" cy="640080"/>
          </a:xfrm>
          <a:prstGeom prst="rect">
            <a:avLst/>
          </a:prstGeom>
          <a:noFill/>
        </p:spPr>
        <p:txBody>
          <a:bodyPr wrap="square">
            <a:spAutoFit/>
          </a:bodyPr>
          <a:lstStyle/>
          <a:p>
            <a:pPr algn="ctr"/>
            <a:r>
              <a:rPr sz="900" b="1" i="0">
                <a:solidFill>
                  <a:srgbClr val="FFFFFF"/>
                </a:solidFill>
                <a:latin typeface="Calibri"/>
              </a:rPr>
              <a:t>EVIDENCE
SCORING</a:t>
            </a:r>
          </a:p>
        </p:txBody>
      </p:sp>
      <p:sp>
        <p:nvSpPr>
          <p:cNvPr id="33" name="TextBox 32"/>
          <p:cNvSpPr txBox="1"/>
          <p:nvPr/>
        </p:nvSpPr>
        <p:spPr>
          <a:xfrm>
            <a:off x="6217919" y="3063240"/>
            <a:ext cx="1234439" cy="1188720"/>
          </a:xfrm>
          <a:prstGeom prst="rect">
            <a:avLst/>
          </a:prstGeom>
          <a:noFill/>
        </p:spPr>
        <p:txBody>
          <a:bodyPr wrap="square">
            <a:spAutoFit/>
          </a:bodyPr>
          <a:lstStyle/>
          <a:p>
            <a:pPr algn="ctr"/>
            <a:r>
              <a:rPr sz="850" b="0" i="0">
                <a:solidFill>
                  <a:srgbClr val="F2F4F8"/>
                </a:solidFill>
                <a:latin typeface="Calibri"/>
              </a:rPr>
              <a:t>6-component
strength 0–100
7 natures</a:t>
            </a:r>
          </a:p>
        </p:txBody>
      </p:sp>
      <p:cxnSp>
        <p:nvCxnSpPr>
          <p:cNvPr id="34" name="Connector 33"/>
          <p:cNvCxnSpPr/>
          <p:nvPr/>
        </p:nvCxnSpPr>
        <p:spPr>
          <a:xfrm>
            <a:off x="7507223" y="3200400"/>
            <a:ext cx="146304" cy="0"/>
          </a:xfrm>
          <a:prstGeom prst="line">
            <a:avLst/>
          </a:prstGeom>
          <a:ln w="25400">
            <a:solidFill>
              <a:srgbClr val="E05A0E"/>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7635240" y="2011680"/>
            <a:ext cx="1325880" cy="2377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708392" y="2103120"/>
            <a:ext cx="457200" cy="320040"/>
          </a:xfrm>
          <a:prstGeom prst="rect">
            <a:avLst/>
          </a:prstGeom>
          <a:noFill/>
        </p:spPr>
        <p:txBody>
          <a:bodyPr wrap="square">
            <a:spAutoFit/>
          </a:bodyPr>
          <a:lstStyle/>
          <a:p>
            <a:pPr algn="l"/>
            <a:r>
              <a:rPr sz="900" b="0" i="0">
                <a:solidFill>
                  <a:srgbClr val="E05A0E"/>
                </a:solidFill>
                <a:latin typeface="Calibri"/>
              </a:rPr>
              <a:t>06</a:t>
            </a:r>
          </a:p>
        </p:txBody>
      </p:sp>
      <p:sp>
        <p:nvSpPr>
          <p:cNvPr id="37" name="TextBox 36"/>
          <p:cNvSpPr txBox="1"/>
          <p:nvPr/>
        </p:nvSpPr>
        <p:spPr>
          <a:xfrm>
            <a:off x="7635240" y="2377440"/>
            <a:ext cx="1325880" cy="640080"/>
          </a:xfrm>
          <a:prstGeom prst="rect">
            <a:avLst/>
          </a:prstGeom>
          <a:noFill/>
        </p:spPr>
        <p:txBody>
          <a:bodyPr wrap="square">
            <a:spAutoFit/>
          </a:bodyPr>
          <a:lstStyle/>
          <a:p>
            <a:pPr algn="ctr"/>
            <a:r>
              <a:rPr sz="900" b="1" i="0">
                <a:solidFill>
                  <a:srgbClr val="FFFFFF"/>
                </a:solidFill>
                <a:latin typeface="Calibri"/>
              </a:rPr>
              <a:t>AI VERDICT</a:t>
            </a:r>
          </a:p>
        </p:txBody>
      </p:sp>
      <p:sp>
        <p:nvSpPr>
          <p:cNvPr id="38" name="TextBox 37"/>
          <p:cNvSpPr txBox="1"/>
          <p:nvPr/>
        </p:nvSpPr>
        <p:spPr>
          <a:xfrm>
            <a:off x="7680960" y="3063240"/>
            <a:ext cx="1234439" cy="1188720"/>
          </a:xfrm>
          <a:prstGeom prst="rect">
            <a:avLst/>
          </a:prstGeom>
          <a:noFill/>
        </p:spPr>
        <p:txBody>
          <a:bodyPr wrap="square">
            <a:spAutoFit/>
          </a:bodyPr>
          <a:lstStyle/>
          <a:p>
            <a:pPr algn="ctr"/>
            <a:r>
              <a:rPr sz="850" b="0" i="0">
                <a:solidFill>
                  <a:srgbClr val="F2F4F8"/>
                </a:solidFill>
                <a:latin typeface="Calibri"/>
              </a:rPr>
              <a:t>YES / INCONCL.
/ NO
Rule-based</a:t>
            </a:r>
          </a:p>
        </p:txBody>
      </p:sp>
      <p:cxnSp>
        <p:nvCxnSpPr>
          <p:cNvPr id="39" name="Connector 38"/>
          <p:cNvCxnSpPr/>
          <p:nvPr/>
        </p:nvCxnSpPr>
        <p:spPr>
          <a:xfrm>
            <a:off x="8970263" y="3200400"/>
            <a:ext cx="146304" cy="0"/>
          </a:xfrm>
          <a:prstGeom prst="line">
            <a:avLst/>
          </a:prstGeom>
          <a:ln w="25400">
            <a:solidFill>
              <a:srgbClr val="E05A0E"/>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9098280" y="2011680"/>
            <a:ext cx="1325880" cy="2377440"/>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171432" y="2103120"/>
            <a:ext cx="457200" cy="320040"/>
          </a:xfrm>
          <a:prstGeom prst="rect">
            <a:avLst/>
          </a:prstGeom>
          <a:noFill/>
        </p:spPr>
        <p:txBody>
          <a:bodyPr wrap="square">
            <a:spAutoFit/>
          </a:bodyPr>
          <a:lstStyle/>
          <a:p>
            <a:pPr algn="l"/>
            <a:r>
              <a:rPr sz="900" b="0" i="0">
                <a:solidFill>
                  <a:srgbClr val="E05A0E"/>
                </a:solidFill>
                <a:latin typeface="Calibri"/>
              </a:rPr>
              <a:t>07</a:t>
            </a:r>
          </a:p>
        </p:txBody>
      </p:sp>
      <p:sp>
        <p:nvSpPr>
          <p:cNvPr id="42" name="TextBox 41"/>
          <p:cNvSpPr txBox="1"/>
          <p:nvPr/>
        </p:nvSpPr>
        <p:spPr>
          <a:xfrm>
            <a:off x="9098280" y="2377440"/>
            <a:ext cx="1325880" cy="640080"/>
          </a:xfrm>
          <a:prstGeom prst="rect">
            <a:avLst/>
          </a:prstGeom>
          <a:noFill/>
        </p:spPr>
        <p:txBody>
          <a:bodyPr wrap="square">
            <a:spAutoFit/>
          </a:bodyPr>
          <a:lstStyle/>
          <a:p>
            <a:pPr algn="ctr"/>
            <a:r>
              <a:rPr sz="900" b="1" i="0">
                <a:solidFill>
                  <a:srgbClr val="FFFFFF"/>
                </a:solidFill>
                <a:latin typeface="Calibri"/>
              </a:rPr>
              <a:t>RISK
ENGINE</a:t>
            </a:r>
          </a:p>
        </p:txBody>
      </p:sp>
      <p:sp>
        <p:nvSpPr>
          <p:cNvPr id="43" name="TextBox 42"/>
          <p:cNvSpPr txBox="1"/>
          <p:nvPr/>
        </p:nvSpPr>
        <p:spPr>
          <a:xfrm>
            <a:off x="9144000" y="3063240"/>
            <a:ext cx="1234439" cy="1188720"/>
          </a:xfrm>
          <a:prstGeom prst="rect">
            <a:avLst/>
          </a:prstGeom>
          <a:noFill/>
        </p:spPr>
        <p:txBody>
          <a:bodyPr wrap="square">
            <a:spAutoFit/>
          </a:bodyPr>
          <a:lstStyle/>
          <a:p>
            <a:pPr algn="ctr"/>
            <a:r>
              <a:rPr sz="850" b="0" i="0">
                <a:solidFill>
                  <a:srgbClr val="F2F4F8"/>
                </a:solidFill>
                <a:latin typeface="Calibri"/>
              </a:rPr>
              <a:t>9 categories
Floor rules
AI Presence Index</a:t>
            </a:r>
          </a:p>
        </p:txBody>
      </p:sp>
      <p:cxnSp>
        <p:nvCxnSpPr>
          <p:cNvPr id="44" name="Connector 43"/>
          <p:cNvCxnSpPr/>
          <p:nvPr/>
        </p:nvCxnSpPr>
        <p:spPr>
          <a:xfrm>
            <a:off x="10433303" y="3200400"/>
            <a:ext cx="146304" cy="0"/>
          </a:xfrm>
          <a:prstGeom prst="line">
            <a:avLst/>
          </a:prstGeom>
          <a:ln w="25400">
            <a:solidFill>
              <a:srgbClr val="E05A0E"/>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10561319" y="2011680"/>
            <a:ext cx="1325880" cy="23774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0634472" y="2103120"/>
            <a:ext cx="457200" cy="320040"/>
          </a:xfrm>
          <a:prstGeom prst="rect">
            <a:avLst/>
          </a:prstGeom>
          <a:noFill/>
        </p:spPr>
        <p:txBody>
          <a:bodyPr wrap="square">
            <a:spAutoFit/>
          </a:bodyPr>
          <a:lstStyle/>
          <a:p>
            <a:pPr algn="l"/>
            <a:r>
              <a:rPr sz="900" b="0" i="0">
                <a:solidFill>
                  <a:srgbClr val="E05A0E"/>
                </a:solidFill>
                <a:latin typeface="Calibri"/>
              </a:rPr>
              <a:t>08</a:t>
            </a:r>
          </a:p>
        </p:txBody>
      </p:sp>
      <p:sp>
        <p:nvSpPr>
          <p:cNvPr id="47" name="TextBox 46"/>
          <p:cNvSpPr txBox="1"/>
          <p:nvPr/>
        </p:nvSpPr>
        <p:spPr>
          <a:xfrm>
            <a:off x="10561319" y="2377440"/>
            <a:ext cx="1325880" cy="640080"/>
          </a:xfrm>
          <a:prstGeom prst="rect">
            <a:avLst/>
          </a:prstGeom>
          <a:noFill/>
        </p:spPr>
        <p:txBody>
          <a:bodyPr wrap="square">
            <a:spAutoFit/>
          </a:bodyPr>
          <a:lstStyle/>
          <a:p>
            <a:pPr algn="ctr"/>
            <a:r>
              <a:rPr sz="900" b="1" i="0">
                <a:solidFill>
                  <a:srgbClr val="FFFFFF"/>
                </a:solidFill>
                <a:latin typeface="Calibri"/>
              </a:rPr>
              <a:t>RISK OUTPUT
&amp; RECS</a:t>
            </a:r>
          </a:p>
        </p:txBody>
      </p:sp>
      <p:sp>
        <p:nvSpPr>
          <p:cNvPr id="48" name="TextBox 47"/>
          <p:cNvSpPr txBox="1"/>
          <p:nvPr/>
        </p:nvSpPr>
        <p:spPr>
          <a:xfrm>
            <a:off x="10607040" y="3063240"/>
            <a:ext cx="1234439" cy="1188720"/>
          </a:xfrm>
          <a:prstGeom prst="rect">
            <a:avLst/>
          </a:prstGeom>
          <a:noFill/>
        </p:spPr>
        <p:txBody>
          <a:bodyPr wrap="square">
            <a:spAutoFit/>
          </a:bodyPr>
          <a:lstStyle/>
          <a:p>
            <a:pPr algn="ctr"/>
            <a:r>
              <a:rPr sz="850" b="0" i="0">
                <a:solidFill>
                  <a:srgbClr val="F2F4F8"/>
                </a:solidFill>
                <a:latin typeface="Calibri"/>
              </a:rPr>
              <a:t>CRITICAL/HIGH/
MEDIUM/LOW
P1/P2/P3 actions</a:t>
            </a:r>
          </a:p>
        </p:txBody>
      </p:sp>
      <p:sp>
        <p:nvSpPr>
          <p:cNvPr id="49" name="TextBox 48"/>
          <p:cNvSpPr txBox="1"/>
          <p:nvPr/>
        </p:nvSpPr>
        <p:spPr>
          <a:xfrm>
            <a:off x="320040" y="4846320"/>
            <a:ext cx="1371600" cy="274320"/>
          </a:xfrm>
          <a:prstGeom prst="rect">
            <a:avLst/>
          </a:prstGeom>
          <a:noFill/>
        </p:spPr>
        <p:txBody>
          <a:bodyPr wrap="square">
            <a:spAutoFit/>
          </a:bodyPr>
          <a:lstStyle/>
          <a:p>
            <a:pPr algn="l"/>
            <a:r>
              <a:rPr sz="900" b="1" i="0">
                <a:solidFill>
                  <a:srgbClr val="0D1B3E"/>
                </a:solidFill>
                <a:latin typeface="Calibri"/>
              </a:rPr>
              <a:t>INPUT</a:t>
            </a:r>
          </a:p>
        </p:txBody>
      </p:sp>
      <p:sp>
        <p:nvSpPr>
          <p:cNvPr id="50" name="TextBox 49"/>
          <p:cNvSpPr txBox="1"/>
          <p:nvPr/>
        </p:nvSpPr>
        <p:spPr>
          <a:xfrm>
            <a:off x="2880360" y="4846320"/>
            <a:ext cx="1828800" cy="274320"/>
          </a:xfrm>
          <a:prstGeom prst="rect">
            <a:avLst/>
          </a:prstGeom>
          <a:noFill/>
        </p:spPr>
        <p:txBody>
          <a:bodyPr wrap="square">
            <a:spAutoFit/>
          </a:bodyPr>
          <a:lstStyle/>
          <a:p>
            <a:pPr algn="l"/>
            <a:r>
              <a:rPr sz="900" b="1" i="0">
                <a:solidFill>
                  <a:srgbClr val="1A3A6E"/>
                </a:solidFill>
                <a:latin typeface="Calibri"/>
              </a:rPr>
              <a:t>PROCESSING</a:t>
            </a:r>
          </a:p>
        </p:txBody>
      </p:sp>
      <p:sp>
        <p:nvSpPr>
          <p:cNvPr id="51" name="TextBox 50"/>
          <p:cNvSpPr txBox="1"/>
          <p:nvPr/>
        </p:nvSpPr>
        <p:spPr>
          <a:xfrm>
            <a:off x="5760720" y="4846320"/>
            <a:ext cx="1371600" cy="274320"/>
          </a:xfrm>
          <a:prstGeom prst="rect">
            <a:avLst/>
          </a:prstGeom>
          <a:noFill/>
        </p:spPr>
        <p:txBody>
          <a:bodyPr wrap="square">
            <a:spAutoFit/>
          </a:bodyPr>
          <a:lstStyle/>
          <a:p>
            <a:pPr algn="l"/>
            <a:r>
              <a:rPr sz="900" b="1" i="0">
                <a:solidFill>
                  <a:srgbClr val="0D1B3E"/>
                </a:solidFill>
                <a:latin typeface="Calibri"/>
              </a:rPr>
              <a:t>ANALYSIS</a:t>
            </a:r>
          </a:p>
        </p:txBody>
      </p:sp>
      <p:sp>
        <p:nvSpPr>
          <p:cNvPr id="52" name="TextBox 51"/>
          <p:cNvSpPr txBox="1"/>
          <p:nvPr/>
        </p:nvSpPr>
        <p:spPr>
          <a:xfrm>
            <a:off x="8138160" y="4846320"/>
            <a:ext cx="1371600" cy="274320"/>
          </a:xfrm>
          <a:prstGeom prst="rect">
            <a:avLst/>
          </a:prstGeom>
          <a:noFill/>
        </p:spPr>
        <p:txBody>
          <a:bodyPr wrap="square">
            <a:spAutoFit/>
          </a:bodyPr>
          <a:lstStyle/>
          <a:p>
            <a:pPr algn="l"/>
            <a:r>
              <a:rPr sz="900" b="1" i="0">
                <a:solidFill>
                  <a:srgbClr val="E05A0E"/>
                </a:solidFill>
                <a:latin typeface="Calibri"/>
              </a:rPr>
              <a:t>DECISION</a:t>
            </a:r>
          </a:p>
        </p:txBody>
      </p:sp>
      <p:sp>
        <p:nvSpPr>
          <p:cNvPr id="53" name="TextBox 52"/>
          <p:cNvSpPr txBox="1"/>
          <p:nvPr/>
        </p:nvSpPr>
        <p:spPr>
          <a:xfrm>
            <a:off x="10241280" y="4846320"/>
            <a:ext cx="1371600" cy="274320"/>
          </a:xfrm>
          <a:prstGeom prst="rect">
            <a:avLst/>
          </a:prstGeom>
          <a:noFill/>
        </p:spPr>
        <p:txBody>
          <a:bodyPr wrap="square">
            <a:spAutoFit/>
          </a:bodyPr>
          <a:lstStyle/>
          <a:p>
            <a:pPr algn="l"/>
            <a:r>
              <a:rPr sz="900" b="1" i="0">
                <a:solidFill>
                  <a:srgbClr val="C0392B"/>
                </a:solidFill>
                <a:latin typeface="Calibri"/>
              </a:rPr>
              <a:t>OUTPUT</a:t>
            </a:r>
          </a:p>
        </p:txBody>
      </p:sp>
      <p:sp>
        <p:nvSpPr>
          <p:cNvPr id="54" name="TextBox 53"/>
          <p:cNvSpPr txBox="1"/>
          <p:nvPr/>
        </p:nvSpPr>
        <p:spPr>
          <a:xfrm>
            <a:off x="320040" y="5166360"/>
            <a:ext cx="11521440" cy="457200"/>
          </a:xfrm>
          <a:prstGeom prst="rect">
            <a:avLst/>
          </a:prstGeom>
          <a:noFill/>
        </p:spPr>
        <p:txBody>
          <a:bodyPr wrap="square">
            <a:spAutoFit/>
          </a:bodyPr>
          <a:lstStyle/>
          <a:p>
            <a:pPr algn="l"/>
            <a:r>
              <a:rPr sz="900" b="0" i="1">
                <a:solidFill>
                  <a:srgbClr val="4A5A6B"/>
                </a:solidFill>
                <a:latin typeface="Calibri"/>
              </a:rPr>
              <a:t>All 8 stages run automatically per vendor. DEMO mode uses cached Oct 2026 snapshot. LIVE mode calls Serper API (Google Search) in real time.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417320"/>
            <a:ext cx="914400" cy="54864"/>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1440"/>
            <a:ext cx="5486400" cy="365760"/>
          </a:xfrm>
          <a:prstGeom prst="rect">
            <a:avLst/>
          </a:prstGeom>
          <a:noFill/>
        </p:spPr>
        <p:txBody>
          <a:bodyPr wrap="square">
            <a:spAutoFit/>
          </a:bodyPr>
          <a:lstStyle/>
          <a:p>
            <a:pPr algn="l"/>
            <a:r>
              <a:rPr sz="900" b="0" i="0">
                <a:solidFill>
                  <a:srgbClr val="E05A0E"/>
                </a:solidFill>
                <a:latin typeface="Calibri"/>
              </a:rPr>
              <a:t>EXPECTED OUTCOME 02</a:t>
            </a:r>
          </a:p>
        </p:txBody>
      </p:sp>
      <p:sp>
        <p:nvSpPr>
          <p:cNvPr id="6" name="TextBox 5"/>
          <p:cNvSpPr txBox="1"/>
          <p:nvPr/>
        </p:nvSpPr>
        <p:spPr>
          <a:xfrm>
            <a:off x="457200" y="411480"/>
            <a:ext cx="8229600" cy="731520"/>
          </a:xfrm>
          <a:prstGeom prst="rect">
            <a:avLst/>
          </a:prstGeom>
          <a:noFill/>
        </p:spPr>
        <p:txBody>
          <a:bodyPr wrap="square">
            <a:spAutoFit/>
          </a:bodyPr>
          <a:lstStyle/>
          <a:p>
            <a:pPr algn="l"/>
            <a:r>
              <a:rPr sz="2800" b="1" i="0">
                <a:solidFill>
                  <a:srgbClr val="FFFFFF"/>
                </a:solidFill>
                <a:latin typeface="Calibri"/>
              </a:rPr>
              <a:t>Architecture Diagram</a:t>
            </a:r>
          </a:p>
        </p:txBody>
      </p:sp>
      <p:sp>
        <p:nvSpPr>
          <p:cNvPr id="7" name="TextBox 6"/>
          <p:cNvSpPr txBox="1"/>
          <p:nvPr/>
        </p:nvSpPr>
        <p:spPr>
          <a:xfrm>
            <a:off x="1371600" y="1271016"/>
            <a:ext cx="8229600" cy="365760"/>
          </a:xfrm>
          <a:prstGeom prst="rect">
            <a:avLst/>
          </a:prstGeom>
          <a:noFill/>
        </p:spPr>
        <p:txBody>
          <a:bodyPr wrap="square">
            <a:spAutoFit/>
          </a:bodyPr>
          <a:lstStyle/>
          <a:p>
            <a:pPr algn="l"/>
            <a:r>
              <a:rPr sz="1200" b="0" i="0" dirty="0">
                <a:solidFill>
                  <a:srgbClr val="4A5A6B"/>
                </a:solidFill>
                <a:latin typeface="Calibri"/>
              </a:rPr>
              <a:t>Technical components and their interactions within MAVIRA</a:t>
            </a:r>
          </a:p>
        </p:txBody>
      </p:sp>
      <p:sp>
        <p:nvSpPr>
          <p:cNvPr id="8" name="TextBox 7"/>
          <p:cNvSpPr txBox="1"/>
          <p:nvPr/>
        </p:nvSpPr>
        <p:spPr>
          <a:xfrm>
            <a:off x="9144000" y="137160"/>
            <a:ext cx="2743200" cy="274320"/>
          </a:xfrm>
          <a:prstGeom prst="rect">
            <a:avLst/>
          </a:prstGeom>
          <a:noFill/>
        </p:spPr>
        <p:txBody>
          <a:bodyPr wrap="square">
            <a:spAutoFit/>
          </a:bodyPr>
          <a:lstStyle/>
          <a:p>
            <a:pPr algn="r"/>
            <a:r>
              <a:rPr sz="1100" b="1" i="0">
                <a:solidFill>
                  <a:srgbClr val="FFFFFF"/>
                </a:solidFill>
                <a:latin typeface="Calibri"/>
              </a:rPr>
              <a:t>Optiv Consulting</a:t>
            </a:r>
          </a:p>
        </p:txBody>
      </p:sp>
      <p:sp>
        <p:nvSpPr>
          <p:cNvPr id="9" name="TextBox 8"/>
          <p:cNvSpPr txBox="1"/>
          <p:nvPr/>
        </p:nvSpPr>
        <p:spPr>
          <a:xfrm>
            <a:off x="9144000" y="384048"/>
            <a:ext cx="2926080" cy="274320"/>
          </a:xfrm>
          <a:prstGeom prst="rect">
            <a:avLst/>
          </a:prstGeom>
          <a:noFill/>
        </p:spPr>
        <p:txBody>
          <a:bodyPr wrap="square">
            <a:spAutoFit/>
          </a:bodyPr>
          <a:lstStyle/>
          <a:p>
            <a:pPr algn="r"/>
            <a:r>
              <a:rPr sz="800" b="0" i="0">
                <a:solidFill>
                  <a:srgbClr val="F2F4F8"/>
                </a:solidFill>
                <a:latin typeface="Calibri"/>
              </a:rPr>
              <a:t>[formerly part of Optiv Security]</a:t>
            </a:r>
          </a:p>
        </p:txBody>
      </p:sp>
      <p:sp>
        <p:nvSpPr>
          <p:cNvPr id="10" name="Rectangle 9"/>
          <p:cNvSpPr/>
          <p:nvPr/>
        </p:nvSpPr>
        <p:spPr>
          <a:xfrm>
            <a:off x="365760" y="1554480"/>
            <a:ext cx="3657600" cy="502920"/>
          </a:xfrm>
          <a:prstGeom prst="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572768"/>
            <a:ext cx="3657600" cy="457200"/>
          </a:xfrm>
          <a:prstGeom prst="rect">
            <a:avLst/>
          </a:prstGeom>
          <a:noFill/>
        </p:spPr>
        <p:txBody>
          <a:bodyPr wrap="square">
            <a:spAutoFit/>
          </a:bodyPr>
          <a:lstStyle/>
          <a:p>
            <a:pPr algn="ctr"/>
            <a:r>
              <a:rPr sz="1000" b="1" i="0">
                <a:solidFill>
                  <a:srgbClr val="E05A0E"/>
                </a:solidFill>
                <a:latin typeface="Calibri"/>
              </a:rPr>
              <a:t>FRONTEND
(Next.js 16 + React)</a:t>
            </a:r>
          </a:p>
        </p:txBody>
      </p:sp>
      <p:sp>
        <p:nvSpPr>
          <p:cNvPr id="12" name="Rectangle 11"/>
          <p:cNvSpPr/>
          <p:nvPr/>
        </p:nvSpPr>
        <p:spPr>
          <a:xfrm>
            <a:off x="4389120" y="1554480"/>
            <a:ext cx="365760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89120" y="1572768"/>
            <a:ext cx="3657600" cy="457200"/>
          </a:xfrm>
          <a:prstGeom prst="rect">
            <a:avLst/>
          </a:prstGeom>
          <a:noFill/>
        </p:spPr>
        <p:txBody>
          <a:bodyPr wrap="square">
            <a:spAutoFit/>
          </a:bodyPr>
          <a:lstStyle/>
          <a:p>
            <a:pPr algn="ctr"/>
            <a:r>
              <a:rPr sz="1000" b="1" i="0">
                <a:solidFill>
                  <a:srgbClr val="E05A0E"/>
                </a:solidFill>
                <a:latin typeface="Calibri"/>
              </a:rPr>
              <a:t>BACKEND
(FastAPI + Python)</a:t>
            </a:r>
          </a:p>
        </p:txBody>
      </p:sp>
      <p:sp>
        <p:nvSpPr>
          <p:cNvPr id="14" name="Rectangle 13"/>
          <p:cNvSpPr/>
          <p:nvPr/>
        </p:nvSpPr>
        <p:spPr>
          <a:xfrm>
            <a:off x="8412480" y="1554480"/>
            <a:ext cx="3657600" cy="502920"/>
          </a:xfrm>
          <a:prstGeom prst="rect">
            <a:avLst/>
          </a:prstGeom>
          <a:solidFill>
            <a:srgbClr val="2D1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80" y="1572768"/>
            <a:ext cx="3657600" cy="400110"/>
          </a:xfrm>
          <a:prstGeom prst="rect">
            <a:avLst/>
          </a:prstGeom>
          <a:noFill/>
        </p:spPr>
        <p:txBody>
          <a:bodyPr wrap="square">
            <a:spAutoFit/>
          </a:bodyPr>
          <a:lstStyle/>
          <a:p>
            <a:pPr algn="ctr"/>
            <a:r>
              <a:rPr sz="1000" b="1" i="0" dirty="0">
                <a:solidFill>
                  <a:srgbClr val="E05A0E"/>
                </a:solidFill>
                <a:latin typeface="Calibri"/>
              </a:rPr>
              <a:t>DATA LAYER
(SQLite</a:t>
            </a:r>
            <a:r>
              <a:rPr lang="en-IN" sz="1000" b="1" dirty="0">
                <a:solidFill>
                  <a:srgbClr val="E05A0E"/>
                </a:solidFill>
              </a:rPr>
              <a:t> (</a:t>
            </a:r>
            <a:r>
              <a:rPr lang="en-IN" sz="1000" b="1" dirty="0" err="1">
                <a:solidFill>
                  <a:srgbClr val="E05A0E"/>
                </a:solidFill>
              </a:rPr>
              <a:t>SQLAlchemy</a:t>
            </a:r>
            <a:r>
              <a:rPr lang="en-IN" sz="1000" b="1" dirty="0">
                <a:solidFill>
                  <a:srgbClr val="E05A0E"/>
                </a:solidFill>
              </a:rPr>
              <a:t> 2.0)</a:t>
            </a:r>
            <a:r>
              <a:rPr sz="1000" b="1" i="0" dirty="0">
                <a:solidFill>
                  <a:srgbClr val="E05A0E"/>
                </a:solidFill>
                <a:latin typeface="Calibri"/>
              </a:rPr>
              <a:t> + Storage)</a:t>
            </a:r>
          </a:p>
        </p:txBody>
      </p:sp>
      <p:sp>
        <p:nvSpPr>
          <p:cNvPr id="16" name="Rectangle 15"/>
          <p:cNvSpPr/>
          <p:nvPr/>
        </p:nvSpPr>
        <p:spPr>
          <a:xfrm>
            <a:off x="365760" y="2194560"/>
            <a:ext cx="3657600" cy="56692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65760" y="2194560"/>
            <a:ext cx="73152" cy="566928"/>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30352" y="2304288"/>
            <a:ext cx="3383280" cy="365760"/>
          </a:xfrm>
          <a:prstGeom prst="rect">
            <a:avLst/>
          </a:prstGeom>
          <a:noFill/>
        </p:spPr>
        <p:txBody>
          <a:bodyPr wrap="square">
            <a:spAutoFit/>
          </a:bodyPr>
          <a:lstStyle/>
          <a:p>
            <a:pPr algn="l"/>
            <a:r>
              <a:rPr sz="950" b="0" i="0">
                <a:solidFill>
                  <a:srgbClr val="0D1B3E"/>
                </a:solidFill>
                <a:latin typeface="Calibri"/>
              </a:rPr>
              <a:t>Vendor Register Dashboard</a:t>
            </a:r>
          </a:p>
        </p:txBody>
      </p:sp>
      <p:sp>
        <p:nvSpPr>
          <p:cNvPr id="19" name="Rectangle 18"/>
          <p:cNvSpPr/>
          <p:nvPr/>
        </p:nvSpPr>
        <p:spPr>
          <a:xfrm>
            <a:off x="365760" y="2862072"/>
            <a:ext cx="365760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65760" y="2862072"/>
            <a:ext cx="73152" cy="566928"/>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0352" y="2971800"/>
            <a:ext cx="3383280" cy="365760"/>
          </a:xfrm>
          <a:prstGeom prst="rect">
            <a:avLst/>
          </a:prstGeom>
          <a:noFill/>
        </p:spPr>
        <p:txBody>
          <a:bodyPr wrap="square">
            <a:spAutoFit/>
          </a:bodyPr>
          <a:lstStyle/>
          <a:p>
            <a:pPr algn="l"/>
            <a:r>
              <a:rPr sz="950" b="0" i="0">
                <a:solidFill>
                  <a:srgbClr val="0D1B3E"/>
                </a:solidFill>
                <a:latin typeface="Calibri"/>
              </a:rPr>
              <a:t>Import Workbook UI</a:t>
            </a:r>
          </a:p>
        </p:txBody>
      </p:sp>
      <p:sp>
        <p:nvSpPr>
          <p:cNvPr id="22" name="Rectangle 21"/>
          <p:cNvSpPr/>
          <p:nvPr/>
        </p:nvSpPr>
        <p:spPr>
          <a:xfrm>
            <a:off x="365760" y="3529584"/>
            <a:ext cx="3657600" cy="56692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65760" y="3529584"/>
            <a:ext cx="73152" cy="566928"/>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30352" y="3639312"/>
            <a:ext cx="3383280" cy="365760"/>
          </a:xfrm>
          <a:prstGeom prst="rect">
            <a:avLst/>
          </a:prstGeom>
          <a:noFill/>
        </p:spPr>
        <p:txBody>
          <a:bodyPr wrap="square">
            <a:spAutoFit/>
          </a:bodyPr>
          <a:lstStyle/>
          <a:p>
            <a:pPr algn="l"/>
            <a:r>
              <a:rPr sz="950" b="0" i="0">
                <a:solidFill>
                  <a:srgbClr val="0D1B3E"/>
                </a:solidFill>
                <a:latin typeface="Calibri"/>
              </a:rPr>
              <a:t>Evidence Explorer</a:t>
            </a:r>
          </a:p>
        </p:txBody>
      </p:sp>
      <p:sp>
        <p:nvSpPr>
          <p:cNvPr id="25" name="Rectangle 24"/>
          <p:cNvSpPr/>
          <p:nvPr/>
        </p:nvSpPr>
        <p:spPr>
          <a:xfrm>
            <a:off x="365760" y="4197096"/>
            <a:ext cx="365760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65760" y="4197096"/>
            <a:ext cx="73152" cy="566928"/>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30352" y="4306824"/>
            <a:ext cx="3383280" cy="365760"/>
          </a:xfrm>
          <a:prstGeom prst="rect">
            <a:avLst/>
          </a:prstGeom>
          <a:noFill/>
        </p:spPr>
        <p:txBody>
          <a:bodyPr wrap="square">
            <a:spAutoFit/>
          </a:bodyPr>
          <a:lstStyle/>
          <a:p>
            <a:pPr algn="l"/>
            <a:r>
              <a:rPr sz="950" b="0" i="0">
                <a:solidFill>
                  <a:srgbClr val="0D1B3E"/>
                </a:solidFill>
                <a:latin typeface="Calibri"/>
              </a:rPr>
              <a:t>Methodology Viewer</a:t>
            </a:r>
          </a:p>
        </p:txBody>
      </p:sp>
      <p:sp>
        <p:nvSpPr>
          <p:cNvPr id="28" name="Rectangle 27"/>
          <p:cNvSpPr/>
          <p:nvPr/>
        </p:nvSpPr>
        <p:spPr>
          <a:xfrm>
            <a:off x="365760" y="4864608"/>
            <a:ext cx="3657600" cy="56692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65760" y="4864608"/>
            <a:ext cx="73152" cy="566928"/>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30352" y="4974336"/>
            <a:ext cx="3383280" cy="365760"/>
          </a:xfrm>
          <a:prstGeom prst="rect">
            <a:avLst/>
          </a:prstGeom>
          <a:noFill/>
        </p:spPr>
        <p:txBody>
          <a:bodyPr wrap="square">
            <a:spAutoFit/>
          </a:bodyPr>
          <a:lstStyle/>
          <a:p>
            <a:pPr algn="l"/>
            <a:r>
              <a:rPr sz="950" b="0" i="0">
                <a:solidFill>
                  <a:srgbClr val="0D1B3E"/>
                </a:solidFill>
                <a:latin typeface="Calibri"/>
              </a:rPr>
              <a:t>Audit Trail</a:t>
            </a:r>
          </a:p>
        </p:txBody>
      </p:sp>
      <p:sp>
        <p:nvSpPr>
          <p:cNvPr id="31" name="Rectangle 30"/>
          <p:cNvSpPr/>
          <p:nvPr/>
        </p:nvSpPr>
        <p:spPr>
          <a:xfrm>
            <a:off x="365760" y="5532120"/>
            <a:ext cx="365760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65760" y="5532120"/>
            <a:ext cx="73152" cy="566928"/>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30352" y="5641848"/>
            <a:ext cx="3383280" cy="365760"/>
          </a:xfrm>
          <a:prstGeom prst="rect">
            <a:avLst/>
          </a:prstGeom>
          <a:noFill/>
        </p:spPr>
        <p:txBody>
          <a:bodyPr wrap="square">
            <a:spAutoFit/>
          </a:bodyPr>
          <a:lstStyle/>
          <a:p>
            <a:pPr algn="l"/>
            <a:r>
              <a:rPr sz="950" b="0" i="0">
                <a:solidFill>
                  <a:srgbClr val="0D1B3E"/>
                </a:solidFill>
                <a:latin typeface="Calibri"/>
              </a:rPr>
              <a:t>Real-time run progress polling</a:t>
            </a:r>
          </a:p>
        </p:txBody>
      </p:sp>
      <p:sp>
        <p:nvSpPr>
          <p:cNvPr id="34" name="Rectangle 33"/>
          <p:cNvSpPr/>
          <p:nvPr/>
        </p:nvSpPr>
        <p:spPr>
          <a:xfrm>
            <a:off x="4389120" y="2194560"/>
            <a:ext cx="3657600" cy="56692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389120" y="2194560"/>
            <a:ext cx="73152" cy="5669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53712" y="2304288"/>
            <a:ext cx="3383280" cy="365760"/>
          </a:xfrm>
          <a:prstGeom prst="rect">
            <a:avLst/>
          </a:prstGeom>
          <a:noFill/>
        </p:spPr>
        <p:txBody>
          <a:bodyPr wrap="square">
            <a:spAutoFit/>
          </a:bodyPr>
          <a:lstStyle/>
          <a:p>
            <a:pPr algn="l"/>
            <a:r>
              <a:rPr sz="950" b="0" i="0">
                <a:solidFill>
                  <a:srgbClr val="0D1B3E"/>
                </a:solidFill>
                <a:latin typeface="Calibri"/>
              </a:rPr>
              <a:t>8-Stage Assessment Pipeline</a:t>
            </a:r>
          </a:p>
        </p:txBody>
      </p:sp>
      <p:sp>
        <p:nvSpPr>
          <p:cNvPr id="37" name="Rectangle 36"/>
          <p:cNvSpPr/>
          <p:nvPr/>
        </p:nvSpPr>
        <p:spPr>
          <a:xfrm>
            <a:off x="4389120" y="2862072"/>
            <a:ext cx="365760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389120" y="2862072"/>
            <a:ext cx="73152" cy="5669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53712" y="2971800"/>
            <a:ext cx="3383280" cy="365760"/>
          </a:xfrm>
          <a:prstGeom prst="rect">
            <a:avLst/>
          </a:prstGeom>
          <a:noFill/>
        </p:spPr>
        <p:txBody>
          <a:bodyPr wrap="square">
            <a:spAutoFit/>
          </a:bodyPr>
          <a:lstStyle/>
          <a:p>
            <a:pPr algn="l"/>
            <a:r>
              <a:rPr sz="950" b="0" i="0">
                <a:solidFill>
                  <a:srgbClr val="0D1B3E"/>
                </a:solidFill>
                <a:latin typeface="Calibri"/>
              </a:rPr>
              <a:t>Criticality Engine (5 factors)</a:t>
            </a:r>
          </a:p>
        </p:txBody>
      </p:sp>
      <p:sp>
        <p:nvSpPr>
          <p:cNvPr id="40" name="Rectangle 39"/>
          <p:cNvSpPr/>
          <p:nvPr/>
        </p:nvSpPr>
        <p:spPr>
          <a:xfrm>
            <a:off x="4389120" y="3529584"/>
            <a:ext cx="3657600" cy="56692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389120" y="3529584"/>
            <a:ext cx="73152" cy="5669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553712" y="3639312"/>
            <a:ext cx="3383280" cy="365760"/>
          </a:xfrm>
          <a:prstGeom prst="rect">
            <a:avLst/>
          </a:prstGeom>
          <a:noFill/>
        </p:spPr>
        <p:txBody>
          <a:bodyPr wrap="square">
            <a:spAutoFit/>
          </a:bodyPr>
          <a:lstStyle/>
          <a:p>
            <a:pPr algn="l"/>
            <a:r>
              <a:rPr sz="950" b="0" i="0">
                <a:solidFill>
                  <a:srgbClr val="0D1B3E"/>
                </a:solidFill>
                <a:latin typeface="Calibri"/>
              </a:rPr>
              <a:t>Evidence Scoring Engine (6 comp.)</a:t>
            </a:r>
          </a:p>
        </p:txBody>
      </p:sp>
      <p:sp>
        <p:nvSpPr>
          <p:cNvPr id="43" name="Rectangle 42"/>
          <p:cNvSpPr/>
          <p:nvPr/>
        </p:nvSpPr>
        <p:spPr>
          <a:xfrm>
            <a:off x="4389120" y="4197096"/>
            <a:ext cx="365760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4389120" y="4197096"/>
            <a:ext cx="73152" cy="5669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553712" y="4306824"/>
            <a:ext cx="3383280" cy="365760"/>
          </a:xfrm>
          <a:prstGeom prst="rect">
            <a:avLst/>
          </a:prstGeom>
          <a:noFill/>
        </p:spPr>
        <p:txBody>
          <a:bodyPr wrap="square">
            <a:spAutoFit/>
          </a:bodyPr>
          <a:lstStyle/>
          <a:p>
            <a:pPr algn="l"/>
            <a:r>
              <a:rPr sz="950" b="0" i="0">
                <a:solidFill>
                  <a:srgbClr val="0D1B3E"/>
                </a:solidFill>
                <a:latin typeface="Calibri"/>
              </a:rPr>
              <a:t>AI Usage Classifier (rule-based)</a:t>
            </a:r>
          </a:p>
        </p:txBody>
      </p:sp>
      <p:sp>
        <p:nvSpPr>
          <p:cNvPr id="46" name="Rectangle 45"/>
          <p:cNvSpPr/>
          <p:nvPr/>
        </p:nvSpPr>
        <p:spPr>
          <a:xfrm>
            <a:off x="4389120" y="4864608"/>
            <a:ext cx="3657600" cy="56692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389120" y="4864608"/>
            <a:ext cx="73152" cy="5669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553712" y="4974336"/>
            <a:ext cx="3383280" cy="365760"/>
          </a:xfrm>
          <a:prstGeom prst="rect">
            <a:avLst/>
          </a:prstGeom>
          <a:noFill/>
        </p:spPr>
        <p:txBody>
          <a:bodyPr wrap="square">
            <a:spAutoFit/>
          </a:bodyPr>
          <a:lstStyle/>
          <a:p>
            <a:pPr algn="l"/>
            <a:r>
              <a:rPr sz="950" b="0" i="0">
                <a:solidFill>
                  <a:srgbClr val="0D1B3E"/>
                </a:solidFill>
                <a:latin typeface="Calibri"/>
              </a:rPr>
              <a:t>Risk Engine (9 categories)</a:t>
            </a:r>
          </a:p>
        </p:txBody>
      </p:sp>
      <p:sp>
        <p:nvSpPr>
          <p:cNvPr id="49" name="Rectangle 48"/>
          <p:cNvSpPr/>
          <p:nvPr/>
        </p:nvSpPr>
        <p:spPr>
          <a:xfrm>
            <a:off x="4389120" y="5532120"/>
            <a:ext cx="365760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4389120" y="5532120"/>
            <a:ext cx="73152" cy="5669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53712" y="5641848"/>
            <a:ext cx="3383280" cy="365760"/>
          </a:xfrm>
          <a:prstGeom prst="rect">
            <a:avLst/>
          </a:prstGeom>
          <a:noFill/>
        </p:spPr>
        <p:txBody>
          <a:bodyPr wrap="square">
            <a:spAutoFit/>
          </a:bodyPr>
          <a:lstStyle/>
          <a:p>
            <a:pPr algn="l"/>
            <a:r>
              <a:rPr sz="950" b="0" i="0">
                <a:solidFill>
                  <a:srgbClr val="0D1B3E"/>
                </a:solidFill>
                <a:latin typeface="Calibri"/>
              </a:rPr>
              <a:t>REST API (FastAPI)</a:t>
            </a:r>
          </a:p>
        </p:txBody>
      </p:sp>
      <p:sp>
        <p:nvSpPr>
          <p:cNvPr id="52" name="Rectangle 51"/>
          <p:cNvSpPr/>
          <p:nvPr/>
        </p:nvSpPr>
        <p:spPr>
          <a:xfrm>
            <a:off x="4389120" y="6199631"/>
            <a:ext cx="3657600" cy="56692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4389120" y="6199631"/>
            <a:ext cx="73152" cy="5669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553712" y="6309359"/>
            <a:ext cx="3383280" cy="365760"/>
          </a:xfrm>
          <a:prstGeom prst="rect">
            <a:avLst/>
          </a:prstGeom>
          <a:noFill/>
        </p:spPr>
        <p:txBody>
          <a:bodyPr wrap="square">
            <a:spAutoFit/>
          </a:bodyPr>
          <a:lstStyle/>
          <a:p>
            <a:pPr algn="l"/>
            <a:r>
              <a:rPr sz="950" b="0" i="0">
                <a:solidFill>
                  <a:srgbClr val="0D1B3E"/>
                </a:solidFill>
                <a:latin typeface="Calibri"/>
              </a:rPr>
              <a:t>SSRF-protected HTTP fetcher</a:t>
            </a:r>
          </a:p>
        </p:txBody>
      </p:sp>
      <p:sp>
        <p:nvSpPr>
          <p:cNvPr id="55" name="Rectangle 54"/>
          <p:cNvSpPr/>
          <p:nvPr/>
        </p:nvSpPr>
        <p:spPr>
          <a:xfrm>
            <a:off x="8412480" y="2194560"/>
            <a:ext cx="3657600" cy="56692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8412480" y="2194560"/>
            <a:ext cx="73152" cy="566928"/>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577072" y="2304288"/>
            <a:ext cx="3383280" cy="365760"/>
          </a:xfrm>
          <a:prstGeom prst="rect">
            <a:avLst/>
          </a:prstGeom>
          <a:noFill/>
        </p:spPr>
        <p:txBody>
          <a:bodyPr wrap="square">
            <a:spAutoFit/>
          </a:bodyPr>
          <a:lstStyle/>
          <a:p>
            <a:pPr algn="l"/>
            <a:r>
              <a:rPr sz="950" b="0" i="0">
                <a:solidFill>
                  <a:srgbClr val="0D1B3E"/>
                </a:solidFill>
                <a:latin typeface="Calibri"/>
              </a:rPr>
              <a:t>SQLite database (mavira.db)</a:t>
            </a:r>
          </a:p>
        </p:txBody>
      </p:sp>
      <p:sp>
        <p:nvSpPr>
          <p:cNvPr id="58" name="Rectangle 57"/>
          <p:cNvSpPr/>
          <p:nvPr/>
        </p:nvSpPr>
        <p:spPr>
          <a:xfrm>
            <a:off x="8412480" y="2862072"/>
            <a:ext cx="365760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8412480" y="2862072"/>
            <a:ext cx="73152" cy="566928"/>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577072" y="2971800"/>
            <a:ext cx="3383280" cy="365760"/>
          </a:xfrm>
          <a:prstGeom prst="rect">
            <a:avLst/>
          </a:prstGeom>
          <a:noFill/>
        </p:spPr>
        <p:txBody>
          <a:bodyPr wrap="square">
            <a:spAutoFit/>
          </a:bodyPr>
          <a:lstStyle/>
          <a:p>
            <a:pPr algn="l"/>
            <a:r>
              <a:rPr sz="950" b="0" i="0">
                <a:solidFill>
                  <a:srgbClr val="0D1B3E"/>
                </a:solidFill>
                <a:latin typeface="Calibri"/>
              </a:rPr>
              <a:t>Excel .xlsx import parser</a:t>
            </a:r>
          </a:p>
        </p:txBody>
      </p:sp>
      <p:sp>
        <p:nvSpPr>
          <p:cNvPr id="61" name="Rectangle 60"/>
          <p:cNvSpPr/>
          <p:nvPr/>
        </p:nvSpPr>
        <p:spPr>
          <a:xfrm>
            <a:off x="8412480" y="3529584"/>
            <a:ext cx="3657600" cy="56692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8412480" y="3529584"/>
            <a:ext cx="73152" cy="566928"/>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8577072" y="3639312"/>
            <a:ext cx="3383280" cy="365760"/>
          </a:xfrm>
          <a:prstGeom prst="rect">
            <a:avLst/>
          </a:prstGeom>
          <a:noFill/>
        </p:spPr>
        <p:txBody>
          <a:bodyPr wrap="square">
            <a:spAutoFit/>
          </a:bodyPr>
          <a:lstStyle/>
          <a:p>
            <a:pPr algn="l"/>
            <a:r>
              <a:rPr sz="950" b="0" i="0">
                <a:solidFill>
                  <a:srgbClr val="0D1B3E"/>
                </a:solidFill>
                <a:latin typeface="Calibri"/>
              </a:rPr>
              <a:t>JSON snapshot (DEMO mode)</a:t>
            </a:r>
          </a:p>
        </p:txBody>
      </p:sp>
      <p:sp>
        <p:nvSpPr>
          <p:cNvPr id="64" name="Rectangle 63"/>
          <p:cNvSpPr/>
          <p:nvPr/>
        </p:nvSpPr>
        <p:spPr>
          <a:xfrm>
            <a:off x="8412480" y="4197096"/>
            <a:ext cx="365760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8412480" y="4197096"/>
            <a:ext cx="73152" cy="566928"/>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8577072" y="4306824"/>
            <a:ext cx="3383280" cy="365760"/>
          </a:xfrm>
          <a:prstGeom prst="rect">
            <a:avLst/>
          </a:prstGeom>
          <a:noFill/>
        </p:spPr>
        <p:txBody>
          <a:bodyPr wrap="square">
            <a:spAutoFit/>
          </a:bodyPr>
          <a:lstStyle/>
          <a:p>
            <a:pPr algn="l"/>
            <a:r>
              <a:rPr sz="950" b="0" i="0">
                <a:solidFill>
                  <a:srgbClr val="0D1B3E"/>
                </a:solidFill>
                <a:latin typeface="Calibri"/>
              </a:rPr>
              <a:t>Serper API (LIVE mode)</a:t>
            </a:r>
          </a:p>
        </p:txBody>
      </p:sp>
      <p:sp>
        <p:nvSpPr>
          <p:cNvPr id="67" name="Rectangle 66"/>
          <p:cNvSpPr/>
          <p:nvPr/>
        </p:nvSpPr>
        <p:spPr>
          <a:xfrm>
            <a:off x="8412480" y="4864608"/>
            <a:ext cx="3657600" cy="56692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8412480" y="4864608"/>
            <a:ext cx="73152" cy="566928"/>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577072" y="4974336"/>
            <a:ext cx="3383280" cy="365760"/>
          </a:xfrm>
          <a:prstGeom prst="rect">
            <a:avLst/>
          </a:prstGeom>
          <a:noFill/>
        </p:spPr>
        <p:txBody>
          <a:bodyPr wrap="square">
            <a:spAutoFit/>
          </a:bodyPr>
          <a:lstStyle/>
          <a:p>
            <a:pPr algn="l"/>
            <a:r>
              <a:rPr sz="950" b="0" i="0">
                <a:solidFill>
                  <a:srgbClr val="0D1B3E"/>
                </a:solidFill>
                <a:latin typeface="Calibri"/>
              </a:rPr>
              <a:t>methodology.yaml (all weights)</a:t>
            </a:r>
          </a:p>
        </p:txBody>
      </p:sp>
      <p:sp>
        <p:nvSpPr>
          <p:cNvPr id="70" name="Rectangle 69"/>
          <p:cNvSpPr/>
          <p:nvPr/>
        </p:nvSpPr>
        <p:spPr>
          <a:xfrm>
            <a:off x="8412480" y="5532120"/>
            <a:ext cx="365760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8412480" y="5532120"/>
            <a:ext cx="73152" cy="566928"/>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577072" y="5641848"/>
            <a:ext cx="3383280" cy="365760"/>
          </a:xfrm>
          <a:prstGeom prst="rect">
            <a:avLst/>
          </a:prstGeom>
          <a:noFill/>
        </p:spPr>
        <p:txBody>
          <a:bodyPr wrap="square">
            <a:spAutoFit/>
          </a:bodyPr>
          <a:lstStyle/>
          <a:p>
            <a:pPr algn="l"/>
            <a:r>
              <a:rPr sz="950" b="0" i="0">
                <a:solidFill>
                  <a:srgbClr val="0D1B3E"/>
                </a:solidFill>
                <a:latin typeface="Calibri"/>
              </a:rPr>
              <a:t>Storage dir (uploaded files)</a:t>
            </a:r>
          </a:p>
        </p:txBody>
      </p:sp>
      <p:cxnSp>
        <p:nvCxnSpPr>
          <p:cNvPr id="73" name="Connector 72"/>
          <p:cNvCxnSpPr/>
          <p:nvPr/>
        </p:nvCxnSpPr>
        <p:spPr>
          <a:xfrm>
            <a:off x="4023360" y="2514600"/>
            <a:ext cx="365760" cy="0"/>
          </a:xfrm>
          <a:prstGeom prst="line">
            <a:avLst/>
          </a:prstGeom>
          <a:ln w="25400">
            <a:solidFill>
              <a:srgbClr val="E05A0E"/>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8046720" y="2514600"/>
            <a:ext cx="365760" cy="0"/>
          </a:xfrm>
          <a:prstGeom prst="line">
            <a:avLst/>
          </a:prstGeom>
          <a:ln w="25400">
            <a:solidFill>
              <a:srgbClr val="E05A0E"/>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4023360" y="3200400"/>
            <a:ext cx="365760" cy="0"/>
          </a:xfrm>
          <a:prstGeom prst="line">
            <a:avLst/>
          </a:prstGeom>
          <a:ln w="25400">
            <a:solidFill>
              <a:srgbClr val="E05A0E"/>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8046720" y="3200400"/>
            <a:ext cx="365760" cy="0"/>
          </a:xfrm>
          <a:prstGeom prst="line">
            <a:avLst/>
          </a:prstGeom>
          <a:ln w="25400">
            <a:solidFill>
              <a:srgbClr val="E05A0E"/>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4023360" y="3886200"/>
            <a:ext cx="365760" cy="0"/>
          </a:xfrm>
          <a:prstGeom prst="line">
            <a:avLst/>
          </a:prstGeom>
          <a:ln w="25400">
            <a:solidFill>
              <a:srgbClr val="E05A0E"/>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046720" y="3886200"/>
            <a:ext cx="365760" cy="0"/>
          </a:xfrm>
          <a:prstGeom prst="line">
            <a:avLst/>
          </a:prstGeom>
          <a:ln w="25400">
            <a:solidFill>
              <a:srgbClr val="E05A0E"/>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8897112" y="6357027"/>
            <a:ext cx="3383280" cy="507831"/>
          </a:xfrm>
          <a:prstGeom prst="rect">
            <a:avLst/>
          </a:prstGeom>
          <a:noFill/>
        </p:spPr>
        <p:txBody>
          <a:bodyPr wrap="square">
            <a:spAutoFit/>
          </a:bodyPr>
          <a:lstStyle/>
          <a:p>
            <a:pPr algn="l"/>
            <a:r>
              <a:rPr sz="900" b="0" i="1" dirty="0">
                <a:solidFill>
                  <a:srgbClr val="4A5A6B"/>
                </a:solidFill>
                <a:latin typeface="Calibri"/>
              </a:rPr>
              <a:t>User uploads Excel workbook  →  Backend parses vendors  →  Pipeline runs per vendor  →  Results stored in SQLite  →  Frontend polls API  →  Dashboard updates live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417320"/>
            <a:ext cx="914400" cy="54864"/>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1440"/>
            <a:ext cx="5486400" cy="365760"/>
          </a:xfrm>
          <a:prstGeom prst="rect">
            <a:avLst/>
          </a:prstGeom>
          <a:noFill/>
        </p:spPr>
        <p:txBody>
          <a:bodyPr wrap="square">
            <a:spAutoFit/>
          </a:bodyPr>
          <a:lstStyle/>
          <a:p>
            <a:pPr algn="l"/>
            <a:r>
              <a:rPr sz="900" b="0" i="0">
                <a:solidFill>
                  <a:srgbClr val="E05A0E"/>
                </a:solidFill>
                <a:latin typeface="Calibri"/>
              </a:rPr>
              <a:t>EXPECTED OUTCOME 03</a:t>
            </a:r>
          </a:p>
        </p:txBody>
      </p:sp>
      <p:sp>
        <p:nvSpPr>
          <p:cNvPr id="6" name="TextBox 5"/>
          <p:cNvSpPr txBox="1"/>
          <p:nvPr/>
        </p:nvSpPr>
        <p:spPr>
          <a:xfrm>
            <a:off x="457200" y="411480"/>
            <a:ext cx="8229600" cy="731520"/>
          </a:xfrm>
          <a:prstGeom prst="rect">
            <a:avLst/>
          </a:prstGeom>
          <a:noFill/>
        </p:spPr>
        <p:txBody>
          <a:bodyPr wrap="square">
            <a:spAutoFit/>
          </a:bodyPr>
          <a:lstStyle/>
          <a:p>
            <a:pPr algn="l"/>
            <a:r>
              <a:rPr sz="2800" b="1" i="0">
                <a:solidFill>
                  <a:srgbClr val="FFFFFF"/>
                </a:solidFill>
                <a:latin typeface="Calibri"/>
              </a:rPr>
              <a:t>Source Strategy — OSINT Sources</a:t>
            </a:r>
          </a:p>
        </p:txBody>
      </p:sp>
      <p:sp>
        <p:nvSpPr>
          <p:cNvPr id="7" name="TextBox 6"/>
          <p:cNvSpPr txBox="1"/>
          <p:nvPr/>
        </p:nvSpPr>
        <p:spPr>
          <a:xfrm>
            <a:off x="457200" y="1481328"/>
            <a:ext cx="8229600" cy="365760"/>
          </a:xfrm>
          <a:prstGeom prst="rect">
            <a:avLst/>
          </a:prstGeom>
          <a:noFill/>
        </p:spPr>
        <p:txBody>
          <a:bodyPr wrap="square">
            <a:spAutoFit/>
          </a:bodyPr>
          <a:lstStyle/>
          <a:p>
            <a:pPr algn="l"/>
            <a:r>
              <a:rPr sz="1200" b="0" i="0">
                <a:solidFill>
                  <a:srgbClr val="4A5A6B"/>
                </a:solidFill>
                <a:latin typeface="Calibri"/>
              </a:rPr>
              <a:t>Where we look and why each source carries evidentiary weight</a:t>
            </a:r>
          </a:p>
        </p:txBody>
      </p:sp>
      <p:sp>
        <p:nvSpPr>
          <p:cNvPr id="8" name="TextBox 7"/>
          <p:cNvSpPr txBox="1"/>
          <p:nvPr/>
        </p:nvSpPr>
        <p:spPr>
          <a:xfrm>
            <a:off x="9144000" y="137160"/>
            <a:ext cx="2743200" cy="274320"/>
          </a:xfrm>
          <a:prstGeom prst="rect">
            <a:avLst/>
          </a:prstGeom>
          <a:noFill/>
        </p:spPr>
        <p:txBody>
          <a:bodyPr wrap="square">
            <a:spAutoFit/>
          </a:bodyPr>
          <a:lstStyle/>
          <a:p>
            <a:pPr algn="r"/>
            <a:r>
              <a:rPr sz="1100" b="1" i="0">
                <a:solidFill>
                  <a:srgbClr val="FFFFFF"/>
                </a:solidFill>
                <a:latin typeface="Calibri"/>
              </a:rPr>
              <a:t>Optiv Consulting</a:t>
            </a:r>
          </a:p>
        </p:txBody>
      </p:sp>
      <p:sp>
        <p:nvSpPr>
          <p:cNvPr id="9" name="TextBox 8"/>
          <p:cNvSpPr txBox="1"/>
          <p:nvPr/>
        </p:nvSpPr>
        <p:spPr>
          <a:xfrm>
            <a:off x="9144000" y="384048"/>
            <a:ext cx="2926080" cy="274320"/>
          </a:xfrm>
          <a:prstGeom prst="rect">
            <a:avLst/>
          </a:prstGeom>
          <a:noFill/>
        </p:spPr>
        <p:txBody>
          <a:bodyPr wrap="square">
            <a:spAutoFit/>
          </a:bodyPr>
          <a:lstStyle/>
          <a:p>
            <a:pPr algn="r"/>
            <a:r>
              <a:rPr sz="800" b="0" i="0">
                <a:solidFill>
                  <a:srgbClr val="F2F4F8"/>
                </a:solidFill>
                <a:latin typeface="Calibri"/>
              </a:rPr>
              <a:t>[formerly part of Optiv Security]</a:t>
            </a:r>
          </a:p>
        </p:txBody>
      </p:sp>
      <p:graphicFrame>
        <p:nvGraphicFramePr>
          <p:cNvPr id="10" name="Table 9"/>
          <p:cNvGraphicFramePr>
            <a:graphicFrameLocks noGrp="1"/>
          </p:cNvGraphicFramePr>
          <p:nvPr>
            <p:extLst>
              <p:ext uri="{D42A27DB-BD31-4B8C-83A1-F6EECF244321}">
                <p14:modId xmlns:p14="http://schemas.microsoft.com/office/powerpoint/2010/main" val="3720542826"/>
              </p:ext>
            </p:extLst>
          </p:nvPr>
        </p:nvGraphicFramePr>
        <p:xfrm>
          <a:off x="365760" y="1746504"/>
          <a:ext cx="11430000" cy="34747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4480560">
                  <a:extLst>
                    <a:ext uri="{9D8B030D-6E8A-4147-A177-3AD203B41FA5}">
                      <a16:colId xmlns:a16="http://schemas.microsoft.com/office/drawing/2014/main" val="20003"/>
                    </a:ext>
                  </a:extLst>
                </a:gridCol>
              </a:tblGrid>
              <a:tr h="694944">
                <a:tc>
                  <a:txBody>
                    <a:bodyPr/>
                    <a:lstStyle/>
                    <a:p>
                      <a:r>
                        <a:rPr sz="1000" b="1" dirty="0">
                          <a:solidFill>
                            <a:srgbClr val="FFFFFF"/>
                          </a:solidFill>
                          <a:latin typeface="Calibri"/>
                        </a:rPr>
                        <a:t>Tier</a:t>
                      </a:r>
                    </a:p>
                  </a:txBody>
                  <a:tcPr>
                    <a:solidFill>
                      <a:srgbClr val="0D1B3E"/>
                    </a:solidFill>
                  </a:tcPr>
                </a:tc>
                <a:tc>
                  <a:txBody>
                    <a:bodyPr/>
                    <a:lstStyle/>
                    <a:p>
                      <a:r>
                        <a:rPr sz="1000" b="1">
                          <a:solidFill>
                            <a:srgbClr val="FFFFFF"/>
                          </a:solidFill>
                          <a:latin typeface="Calibri"/>
                        </a:rPr>
                        <a:t>Sources</a:t>
                      </a:r>
                    </a:p>
                  </a:txBody>
                  <a:tcPr>
                    <a:solidFill>
                      <a:srgbClr val="0D1B3E"/>
                    </a:solidFill>
                  </a:tcPr>
                </a:tc>
                <a:tc>
                  <a:txBody>
                    <a:bodyPr/>
                    <a:lstStyle/>
                    <a:p>
                      <a:r>
                        <a:rPr sz="1000" b="1">
                          <a:solidFill>
                            <a:srgbClr val="FFFFFF"/>
                          </a:solidFill>
                          <a:latin typeface="Calibri"/>
                        </a:rPr>
                        <a:t>Reliability</a:t>
                      </a:r>
                    </a:p>
                  </a:txBody>
                  <a:tcPr>
                    <a:solidFill>
                      <a:srgbClr val="0D1B3E"/>
                    </a:solidFill>
                  </a:tcPr>
                </a:tc>
                <a:tc>
                  <a:txBody>
                    <a:bodyPr/>
                    <a:lstStyle/>
                    <a:p>
                      <a:r>
                        <a:rPr sz="1000" b="1">
                          <a:solidFill>
                            <a:srgbClr val="FFFFFF"/>
                          </a:solidFill>
                          <a:latin typeface="Calibri"/>
                        </a:rPr>
                        <a:t>Examples</a:t>
                      </a:r>
                    </a:p>
                  </a:txBody>
                  <a:tcPr>
                    <a:solidFill>
                      <a:srgbClr val="0D1B3E"/>
                    </a:solidFill>
                  </a:tcPr>
                </a:tc>
                <a:extLst>
                  <a:ext uri="{0D108BD9-81ED-4DB2-BD59-A6C34878D82A}">
                    <a16:rowId xmlns:a16="http://schemas.microsoft.com/office/drawing/2014/main" val="10000"/>
                  </a:ext>
                </a:extLst>
              </a:tr>
              <a:tr h="694944">
                <a:tc>
                  <a:txBody>
                    <a:bodyPr/>
                    <a:lstStyle/>
                    <a:p>
                      <a:r>
                        <a:rPr sz="900" b="0">
                          <a:solidFill>
                            <a:srgbClr val="0D1B3E"/>
                          </a:solidFill>
                          <a:latin typeface="Calibri"/>
                        </a:rPr>
                        <a:t>DIRECT
(vendor-controlled)</a:t>
                      </a:r>
                    </a:p>
                  </a:txBody>
                  <a:tcPr>
                    <a:solidFill>
                      <a:srgbClr val="FFFFFF"/>
                    </a:solidFill>
                  </a:tcPr>
                </a:tc>
                <a:tc>
                  <a:txBody>
                    <a:bodyPr/>
                    <a:lstStyle/>
                    <a:p>
                      <a:r>
                        <a:rPr sz="900" b="0">
                          <a:solidFill>
                            <a:srgbClr val="0D1B3E"/>
                          </a:solidFill>
                          <a:latin typeface="Calibri"/>
                        </a:rPr>
                        <a:t>Vendor website, IR page, annual report, product docs, SEC filings (10-K, 8-K)</a:t>
                      </a:r>
                    </a:p>
                  </a:txBody>
                  <a:tcPr>
                    <a:solidFill>
                      <a:srgbClr val="FFFFFF"/>
                    </a:solidFill>
                  </a:tcPr>
                </a:tc>
                <a:tc>
                  <a:txBody>
                    <a:bodyPr/>
                    <a:lstStyle/>
                    <a:p>
                      <a:r>
                        <a:rPr sz="900" b="0">
                          <a:solidFill>
                            <a:srgbClr val="0D1B3E"/>
                          </a:solidFill>
                          <a:latin typeface="Calibri"/>
                        </a:rPr>
                        <a:t>0.85–1.0
(highest)</a:t>
                      </a:r>
                    </a:p>
                  </a:txBody>
                  <a:tcPr>
                    <a:solidFill>
                      <a:srgbClr val="FFFFFF"/>
                    </a:solidFill>
                  </a:tcPr>
                </a:tc>
                <a:tc>
                  <a:txBody>
                    <a:bodyPr/>
                    <a:lstStyle/>
                    <a:p>
                      <a:r>
                        <a:rPr sz="900" b="0">
                          <a:solidFill>
                            <a:srgbClr val="0D1B3E"/>
                          </a:solidFill>
                          <a:latin typeface="Calibri"/>
                        </a:rPr>
                        <a:t>fiserv.com/investor-relations → 'Foundry AI, Azure OpenAI, 100bn tokens'</a:t>
                      </a:r>
                    </a:p>
                  </a:txBody>
                  <a:tcPr>
                    <a:solidFill>
                      <a:srgbClr val="FFFFFF"/>
                    </a:solidFill>
                  </a:tcPr>
                </a:tc>
                <a:extLst>
                  <a:ext uri="{0D108BD9-81ED-4DB2-BD59-A6C34878D82A}">
                    <a16:rowId xmlns:a16="http://schemas.microsoft.com/office/drawing/2014/main" val="10001"/>
                  </a:ext>
                </a:extLst>
              </a:tr>
              <a:tr h="694944">
                <a:tc>
                  <a:txBody>
                    <a:bodyPr/>
                    <a:lstStyle/>
                    <a:p>
                      <a:r>
                        <a:rPr sz="900" b="0">
                          <a:solidFill>
                            <a:srgbClr val="0D1B3E"/>
                          </a:solidFill>
                          <a:latin typeface="Calibri"/>
                        </a:rPr>
                        <a:t>SEMI-DIRECT
(vendor-adjacent)</a:t>
                      </a:r>
                    </a:p>
                  </a:txBody>
                  <a:tcPr>
                    <a:solidFill>
                      <a:srgbClr val="F2F4F8"/>
                    </a:solidFill>
                  </a:tcPr>
                </a:tc>
                <a:tc>
                  <a:txBody>
                    <a:bodyPr/>
                    <a:lstStyle/>
                    <a:p>
                      <a:r>
                        <a:rPr sz="900" b="0">
                          <a:solidFill>
                            <a:srgbClr val="0D1B3E"/>
                          </a:solidFill>
                          <a:latin typeface="Calibri"/>
                        </a:rPr>
                        <a:t>Press releases, partner announcements, earnings call transcripts, LinkedIn official</a:t>
                      </a:r>
                    </a:p>
                  </a:txBody>
                  <a:tcPr>
                    <a:solidFill>
                      <a:srgbClr val="F2F4F8"/>
                    </a:solidFill>
                  </a:tcPr>
                </a:tc>
                <a:tc>
                  <a:txBody>
                    <a:bodyPr/>
                    <a:lstStyle/>
                    <a:p>
                      <a:r>
                        <a:rPr sz="900" b="0">
                          <a:solidFill>
                            <a:srgbClr val="0D1B3E"/>
                          </a:solidFill>
                          <a:latin typeface="Calibri"/>
                        </a:rPr>
                        <a:t>0.65–0.84</a:t>
                      </a:r>
                    </a:p>
                  </a:txBody>
                  <a:tcPr>
                    <a:solidFill>
                      <a:srgbClr val="F2F4F8"/>
                    </a:solidFill>
                  </a:tcPr>
                </a:tc>
                <a:tc>
                  <a:txBody>
                    <a:bodyPr/>
                    <a:lstStyle/>
                    <a:p>
                      <a:r>
                        <a:rPr sz="900" b="0">
                          <a:solidFill>
                            <a:srgbClr val="0D1B3E"/>
                          </a:solidFill>
                          <a:latin typeface="Calibri"/>
                        </a:rPr>
                        <a:t>BNY press release: 'Eliza AI platform processes 15M daily client interactions'</a:t>
                      </a:r>
                    </a:p>
                  </a:txBody>
                  <a:tcPr>
                    <a:solidFill>
                      <a:srgbClr val="F2F4F8"/>
                    </a:solidFill>
                  </a:tcPr>
                </a:tc>
                <a:extLst>
                  <a:ext uri="{0D108BD9-81ED-4DB2-BD59-A6C34878D82A}">
                    <a16:rowId xmlns:a16="http://schemas.microsoft.com/office/drawing/2014/main" val="10002"/>
                  </a:ext>
                </a:extLst>
              </a:tr>
              <a:tr h="694944">
                <a:tc>
                  <a:txBody>
                    <a:bodyPr/>
                    <a:lstStyle/>
                    <a:p>
                      <a:r>
                        <a:rPr sz="900" b="0">
                          <a:solidFill>
                            <a:srgbClr val="0D1B3E"/>
                          </a:solidFill>
                          <a:latin typeface="Calibri"/>
                        </a:rPr>
                        <a:t>INDIRECT
(third-party reporting)</a:t>
                      </a:r>
                    </a:p>
                  </a:txBody>
                  <a:tcPr>
                    <a:solidFill>
                      <a:srgbClr val="FFFFFF"/>
                    </a:solidFill>
                  </a:tcPr>
                </a:tc>
                <a:tc>
                  <a:txBody>
                    <a:bodyPr/>
                    <a:lstStyle/>
                    <a:p>
                      <a:r>
                        <a:rPr sz="900" b="0">
                          <a:solidFill>
                            <a:srgbClr val="0D1B3E"/>
                          </a:solidFill>
                          <a:latin typeface="Calibri"/>
                        </a:rPr>
                        <a:t>Industry analyst reports (Gartner, Forrester), tech journalism, regulatory filings by peers</a:t>
                      </a:r>
                    </a:p>
                  </a:txBody>
                  <a:tcPr>
                    <a:solidFill>
                      <a:srgbClr val="FFFFFF"/>
                    </a:solidFill>
                  </a:tcPr>
                </a:tc>
                <a:tc>
                  <a:txBody>
                    <a:bodyPr/>
                    <a:lstStyle/>
                    <a:p>
                      <a:r>
                        <a:rPr sz="900" b="0">
                          <a:solidFill>
                            <a:srgbClr val="0D1B3E"/>
                          </a:solidFill>
                          <a:latin typeface="Calibri"/>
                        </a:rPr>
                        <a:t>0.45–0.64</a:t>
                      </a:r>
                    </a:p>
                  </a:txBody>
                  <a:tcPr>
                    <a:solidFill>
                      <a:srgbClr val="FFFFFF"/>
                    </a:solidFill>
                  </a:tcPr>
                </a:tc>
                <a:tc>
                  <a:txBody>
                    <a:bodyPr/>
                    <a:lstStyle/>
                    <a:p>
                      <a:r>
                        <a:rPr sz="900" b="0">
                          <a:solidFill>
                            <a:srgbClr val="0D1B3E"/>
                          </a:solidFill>
                          <a:latin typeface="Calibri"/>
                        </a:rPr>
                        <a:t>Fintech Times: 'Fiserv Foundry deployed across 3,000 FI clients'</a:t>
                      </a:r>
                    </a:p>
                  </a:txBody>
                  <a:tcPr>
                    <a:solidFill>
                      <a:srgbClr val="FFFFFF"/>
                    </a:solidFill>
                  </a:tcPr>
                </a:tc>
                <a:extLst>
                  <a:ext uri="{0D108BD9-81ED-4DB2-BD59-A6C34878D82A}">
                    <a16:rowId xmlns:a16="http://schemas.microsoft.com/office/drawing/2014/main" val="10003"/>
                  </a:ext>
                </a:extLst>
              </a:tr>
              <a:tr h="694944">
                <a:tc>
                  <a:txBody>
                    <a:bodyPr/>
                    <a:lstStyle/>
                    <a:p>
                      <a:r>
                        <a:rPr sz="900" b="0">
                          <a:solidFill>
                            <a:srgbClr val="0D1B3E"/>
                          </a:solidFill>
                          <a:latin typeface="Calibri"/>
                        </a:rPr>
                        <a:t>COMMENTARY
(unverified)</a:t>
                      </a:r>
                    </a:p>
                  </a:txBody>
                  <a:tcPr>
                    <a:solidFill>
                      <a:srgbClr val="F2F4F8"/>
                    </a:solidFill>
                  </a:tcPr>
                </a:tc>
                <a:tc>
                  <a:txBody>
                    <a:bodyPr/>
                    <a:lstStyle/>
                    <a:p>
                      <a:r>
                        <a:rPr sz="900" b="0" dirty="0">
                          <a:solidFill>
                            <a:srgbClr val="0D1B3E"/>
                          </a:solidFill>
                          <a:latin typeface="Calibri"/>
                        </a:rPr>
                        <a:t>Reddit, Twitter/X, generic AI industry articles, vendor-agnostic commentary</a:t>
                      </a:r>
                    </a:p>
                  </a:txBody>
                  <a:tcPr>
                    <a:solidFill>
                      <a:srgbClr val="F2F4F8"/>
                    </a:solidFill>
                  </a:tcPr>
                </a:tc>
                <a:tc>
                  <a:txBody>
                    <a:bodyPr/>
                    <a:lstStyle/>
                    <a:p>
                      <a:r>
                        <a:rPr sz="900" b="0">
                          <a:solidFill>
                            <a:srgbClr val="0D1B3E"/>
                          </a:solidFill>
                          <a:latin typeface="Calibri"/>
                        </a:rPr>
                        <a:t>0.10–0.44
(lowest)</a:t>
                      </a:r>
                    </a:p>
                  </a:txBody>
                  <a:tcPr>
                    <a:solidFill>
                      <a:srgbClr val="F2F4F8"/>
                    </a:solidFill>
                  </a:tcPr>
                </a:tc>
                <a:tc>
                  <a:txBody>
                    <a:bodyPr/>
                    <a:lstStyle/>
                    <a:p>
                      <a:r>
                        <a:rPr sz="900" b="0" dirty="0">
                          <a:solidFill>
                            <a:srgbClr val="0D1B3E"/>
                          </a:solidFill>
                          <a:latin typeface="Calibri"/>
                        </a:rPr>
                        <a:t>Article: 'Payments companies are exploring AI' — no vendor-specific claim</a:t>
                      </a:r>
                    </a:p>
                  </a:txBody>
                  <a:tcPr>
                    <a:solidFill>
                      <a:srgbClr val="F2F4F8"/>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365760" y="5257800"/>
            <a:ext cx="3657600" cy="274320"/>
          </a:xfrm>
          <a:prstGeom prst="rect">
            <a:avLst/>
          </a:prstGeom>
          <a:noFill/>
        </p:spPr>
        <p:txBody>
          <a:bodyPr wrap="square">
            <a:spAutoFit/>
          </a:bodyPr>
          <a:lstStyle/>
          <a:p>
            <a:pPr algn="l"/>
            <a:r>
              <a:rPr sz="1100" b="1" i="0">
                <a:solidFill>
                  <a:srgbClr val="0D1B3E"/>
                </a:solidFill>
                <a:latin typeface="Calibri"/>
              </a:rPr>
              <a:t>Why these tiers?</a:t>
            </a:r>
          </a:p>
        </p:txBody>
      </p:sp>
      <p:sp>
        <p:nvSpPr>
          <p:cNvPr id="12" name="TextBox 11"/>
          <p:cNvSpPr txBox="1"/>
          <p:nvPr/>
        </p:nvSpPr>
        <p:spPr>
          <a:xfrm>
            <a:off x="365760" y="5532120"/>
            <a:ext cx="11430000" cy="1097280"/>
          </a:xfrm>
          <a:prstGeom prst="rect">
            <a:avLst/>
          </a:prstGeom>
          <a:noFill/>
        </p:spPr>
        <p:txBody>
          <a:bodyPr wrap="square">
            <a:spAutoFit/>
          </a:bodyPr>
          <a:lstStyle/>
          <a:p>
            <a:pPr algn="l"/>
            <a:r>
              <a:rPr sz="1000" b="0" i="0">
                <a:solidFill>
                  <a:srgbClr val="4A5A6B"/>
                </a:solidFill>
                <a:latin typeface="Calibri"/>
              </a:rPr>
              <a:t>Source reliability drives 30% of the evidence strength score — the single largest component. A DIRECT source from fiserv.com/investor-relations is controlled by Fiserv's legal and IR team: they are accountable for every word. A tweet is not. The tier system makes this accountability difference mathematically explicit so the same source always produces the same score.</a:t>
            </a:r>
          </a:p>
        </p:txBody>
      </p:sp>
      <p:sp>
        <p:nvSpPr>
          <p:cNvPr id="13" name="TextBox 12">
            <a:extLst>
              <a:ext uri="{FF2B5EF4-FFF2-40B4-BE49-F238E27FC236}">
                <a16:creationId xmlns:a16="http://schemas.microsoft.com/office/drawing/2014/main" id="{953BDC47-93E0-D75B-EB68-A2838F5B5BD9}"/>
              </a:ext>
            </a:extLst>
          </p:cNvPr>
          <p:cNvSpPr txBox="1"/>
          <p:nvPr/>
        </p:nvSpPr>
        <p:spPr>
          <a:xfrm>
            <a:off x="3908552" y="6313865"/>
            <a:ext cx="8280400" cy="584775"/>
          </a:xfrm>
          <a:prstGeom prst="rect">
            <a:avLst/>
          </a:prstGeom>
          <a:noFill/>
        </p:spPr>
        <p:txBody>
          <a:bodyPr wrap="square">
            <a:spAutoFit/>
          </a:bodyPr>
          <a:lstStyle/>
          <a:p>
            <a:pPr algn="r"/>
            <a:r>
              <a:rPr lang="en-IN" sz="800" dirty="0" err="1"/>
              <a:t>site:linkedin.com</a:t>
            </a:r>
            <a:r>
              <a:rPr lang="en-IN" sz="800" dirty="0"/>
              <a:t>/company</a:t>
            </a:r>
          </a:p>
          <a:p>
            <a:pPr algn="r"/>
            <a:r>
              <a:rPr lang="en-IN" sz="800" dirty="0"/>
              <a:t>"[vendor name]" AI     </a:t>
            </a:r>
            <a:r>
              <a:rPr lang="en-US" sz="800" dirty="0"/>
              <a:t>site:[vendor-domain].com "artificial</a:t>
            </a:r>
          </a:p>
          <a:p>
            <a:pPr algn="r"/>
            <a:r>
              <a:rPr lang="en-US" sz="800" dirty="0"/>
              <a:t>intelligence" OR "machine</a:t>
            </a:r>
          </a:p>
          <a:p>
            <a:pPr algn="r"/>
            <a:r>
              <a:rPr lang="en-US" sz="800" dirty="0"/>
              <a:t>learning"</a:t>
            </a:r>
            <a:endParaRPr lang="en-IN"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417320"/>
            <a:ext cx="914400" cy="54864"/>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1440"/>
            <a:ext cx="5486400" cy="365760"/>
          </a:xfrm>
          <a:prstGeom prst="rect">
            <a:avLst/>
          </a:prstGeom>
          <a:noFill/>
        </p:spPr>
        <p:txBody>
          <a:bodyPr wrap="square">
            <a:spAutoFit/>
          </a:bodyPr>
          <a:lstStyle/>
          <a:p>
            <a:pPr algn="l"/>
            <a:r>
              <a:rPr sz="900" b="0" i="0">
                <a:solidFill>
                  <a:srgbClr val="E05A0E"/>
                </a:solidFill>
                <a:latin typeface="Calibri"/>
              </a:rPr>
              <a:t>EXPECTED OUTCOME 03</a:t>
            </a:r>
          </a:p>
        </p:txBody>
      </p:sp>
      <p:sp>
        <p:nvSpPr>
          <p:cNvPr id="6" name="TextBox 5"/>
          <p:cNvSpPr txBox="1"/>
          <p:nvPr/>
        </p:nvSpPr>
        <p:spPr>
          <a:xfrm>
            <a:off x="457200" y="411480"/>
            <a:ext cx="8229600" cy="731520"/>
          </a:xfrm>
          <a:prstGeom prst="rect">
            <a:avLst/>
          </a:prstGeom>
          <a:noFill/>
        </p:spPr>
        <p:txBody>
          <a:bodyPr wrap="square">
            <a:spAutoFit/>
          </a:bodyPr>
          <a:lstStyle/>
          <a:p>
            <a:pPr algn="l"/>
            <a:r>
              <a:rPr sz="2800" b="1" i="0">
                <a:solidFill>
                  <a:srgbClr val="FFFFFF"/>
                </a:solidFill>
                <a:latin typeface="Calibri"/>
              </a:rPr>
              <a:t>Source Strategy — Evidence Scoring</a:t>
            </a:r>
          </a:p>
        </p:txBody>
      </p:sp>
      <p:sp>
        <p:nvSpPr>
          <p:cNvPr id="7" name="TextBox 6"/>
          <p:cNvSpPr txBox="1"/>
          <p:nvPr/>
        </p:nvSpPr>
        <p:spPr>
          <a:xfrm>
            <a:off x="1646903" y="1274310"/>
            <a:ext cx="8229600" cy="365760"/>
          </a:xfrm>
          <a:prstGeom prst="rect">
            <a:avLst/>
          </a:prstGeom>
          <a:noFill/>
        </p:spPr>
        <p:txBody>
          <a:bodyPr wrap="square">
            <a:spAutoFit/>
          </a:bodyPr>
          <a:lstStyle/>
          <a:p>
            <a:pPr algn="l"/>
            <a:r>
              <a:rPr sz="1200" b="0" i="0" dirty="0">
                <a:solidFill>
                  <a:srgbClr val="4A5A6B"/>
                </a:solidFill>
                <a:latin typeface="Calibri"/>
              </a:rPr>
              <a:t>How we assign evidentiary weight to every piece of information we find</a:t>
            </a:r>
          </a:p>
        </p:txBody>
      </p:sp>
      <p:sp>
        <p:nvSpPr>
          <p:cNvPr id="8" name="TextBox 7"/>
          <p:cNvSpPr txBox="1"/>
          <p:nvPr/>
        </p:nvSpPr>
        <p:spPr>
          <a:xfrm>
            <a:off x="9144000" y="137160"/>
            <a:ext cx="2743200" cy="274320"/>
          </a:xfrm>
          <a:prstGeom prst="rect">
            <a:avLst/>
          </a:prstGeom>
          <a:noFill/>
        </p:spPr>
        <p:txBody>
          <a:bodyPr wrap="square">
            <a:spAutoFit/>
          </a:bodyPr>
          <a:lstStyle/>
          <a:p>
            <a:pPr algn="r"/>
            <a:r>
              <a:rPr sz="1100" b="1" i="0">
                <a:solidFill>
                  <a:srgbClr val="FFFFFF"/>
                </a:solidFill>
                <a:latin typeface="Calibri"/>
              </a:rPr>
              <a:t>Optiv Consulting</a:t>
            </a:r>
          </a:p>
        </p:txBody>
      </p:sp>
      <p:sp>
        <p:nvSpPr>
          <p:cNvPr id="9" name="TextBox 8"/>
          <p:cNvSpPr txBox="1"/>
          <p:nvPr/>
        </p:nvSpPr>
        <p:spPr>
          <a:xfrm>
            <a:off x="9144000" y="384048"/>
            <a:ext cx="2926080" cy="274320"/>
          </a:xfrm>
          <a:prstGeom prst="rect">
            <a:avLst/>
          </a:prstGeom>
          <a:noFill/>
        </p:spPr>
        <p:txBody>
          <a:bodyPr wrap="square">
            <a:spAutoFit/>
          </a:bodyPr>
          <a:lstStyle/>
          <a:p>
            <a:pPr algn="r"/>
            <a:r>
              <a:rPr sz="800" b="0" i="0">
                <a:solidFill>
                  <a:srgbClr val="F2F4F8"/>
                </a:solidFill>
                <a:latin typeface="Calibri"/>
              </a:rPr>
              <a:t>[formerly part of Optiv Security]</a:t>
            </a:r>
          </a:p>
        </p:txBody>
      </p:sp>
      <p:sp>
        <p:nvSpPr>
          <p:cNvPr id="10" name="Rectangle 9"/>
          <p:cNvSpPr/>
          <p:nvPr/>
        </p:nvSpPr>
        <p:spPr>
          <a:xfrm>
            <a:off x="365760" y="1645920"/>
            <a:ext cx="11430000" cy="5943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1709928"/>
            <a:ext cx="11155680" cy="457200"/>
          </a:xfrm>
          <a:prstGeom prst="rect">
            <a:avLst/>
          </a:prstGeom>
          <a:noFill/>
        </p:spPr>
        <p:txBody>
          <a:bodyPr wrap="square">
            <a:spAutoFit/>
          </a:bodyPr>
          <a:lstStyle/>
          <a:p>
            <a:pPr algn="ctr"/>
            <a:r>
              <a:rPr sz="1100" b="1" i="0">
                <a:solidFill>
                  <a:srgbClr val="E05A0E"/>
                </a:solidFill>
                <a:latin typeface="Calibri"/>
              </a:rPr>
              <a:t>strength  =  (source_reliability × 30)  +  (directness × 20)  +  (specificity × 20)  +  (service_relevance × 15)  +  (independence × 10)  +  (recency × 5)</a:t>
            </a:r>
          </a:p>
        </p:txBody>
      </p:sp>
      <p:graphicFrame>
        <p:nvGraphicFramePr>
          <p:cNvPr id="12" name="Table 11"/>
          <p:cNvGraphicFramePr>
            <a:graphicFrameLocks noGrp="1"/>
          </p:cNvGraphicFramePr>
          <p:nvPr/>
        </p:nvGraphicFramePr>
        <p:xfrm>
          <a:off x="365760" y="2331720"/>
          <a:ext cx="11430000" cy="306324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tblGrid>
              <a:tr h="437605">
                <a:tc>
                  <a:txBody>
                    <a:bodyPr/>
                    <a:lstStyle/>
                    <a:p>
                      <a:r>
                        <a:rPr sz="1000" b="1">
                          <a:solidFill>
                            <a:srgbClr val="FFFFFF"/>
                          </a:solidFill>
                          <a:latin typeface="Calibri"/>
                        </a:rPr>
                        <a:t>Component</a:t>
                      </a:r>
                    </a:p>
                  </a:txBody>
                  <a:tcPr>
                    <a:solidFill>
                      <a:srgbClr val="0D1B3E"/>
                    </a:solidFill>
                  </a:tcPr>
                </a:tc>
                <a:tc>
                  <a:txBody>
                    <a:bodyPr/>
                    <a:lstStyle/>
                    <a:p>
                      <a:r>
                        <a:rPr sz="1000" b="1">
                          <a:solidFill>
                            <a:srgbClr val="FFFFFF"/>
                          </a:solidFill>
                          <a:latin typeface="Calibri"/>
                        </a:rPr>
                        <a:t>Weight</a:t>
                      </a:r>
                    </a:p>
                  </a:txBody>
                  <a:tcPr>
                    <a:solidFill>
                      <a:srgbClr val="0D1B3E"/>
                    </a:solidFill>
                  </a:tcPr>
                </a:tc>
                <a:tc>
                  <a:txBody>
                    <a:bodyPr/>
                    <a:lstStyle/>
                    <a:p>
                      <a:r>
                        <a:rPr sz="1000" b="1">
                          <a:solidFill>
                            <a:srgbClr val="FFFFFF"/>
                          </a:solidFill>
                          <a:latin typeface="Calibri"/>
                        </a:rPr>
                        <a:t>Score = 1.0 when…</a:t>
                      </a:r>
                    </a:p>
                  </a:txBody>
                  <a:tcPr>
                    <a:solidFill>
                      <a:srgbClr val="0D1B3E"/>
                    </a:solidFill>
                  </a:tcPr>
                </a:tc>
                <a:tc>
                  <a:txBody>
                    <a:bodyPr/>
                    <a:lstStyle/>
                    <a:p>
                      <a:r>
                        <a:rPr sz="1000" b="1">
                          <a:solidFill>
                            <a:srgbClr val="FFFFFF"/>
                          </a:solidFill>
                          <a:latin typeface="Calibri"/>
                        </a:rPr>
                        <a:t>Score = 0.0 when…</a:t>
                      </a:r>
                    </a:p>
                  </a:txBody>
                  <a:tcPr>
                    <a:solidFill>
                      <a:srgbClr val="0D1B3E"/>
                    </a:solidFill>
                  </a:tcPr>
                </a:tc>
                <a:extLst>
                  <a:ext uri="{0D108BD9-81ED-4DB2-BD59-A6C34878D82A}">
                    <a16:rowId xmlns:a16="http://schemas.microsoft.com/office/drawing/2014/main" val="10000"/>
                  </a:ext>
                </a:extLst>
              </a:tr>
              <a:tr h="437605">
                <a:tc>
                  <a:txBody>
                    <a:bodyPr/>
                    <a:lstStyle/>
                    <a:p>
                      <a:r>
                        <a:rPr sz="900" b="0">
                          <a:solidFill>
                            <a:srgbClr val="0D1B3E"/>
                          </a:solidFill>
                          <a:latin typeface="Calibri"/>
                        </a:rPr>
                        <a:t>Source Reliability</a:t>
                      </a:r>
                    </a:p>
                  </a:txBody>
                  <a:tcPr>
                    <a:solidFill>
                      <a:srgbClr val="FFFFFF"/>
                    </a:solidFill>
                  </a:tcPr>
                </a:tc>
                <a:tc>
                  <a:txBody>
                    <a:bodyPr/>
                    <a:lstStyle/>
                    <a:p>
                      <a:r>
                        <a:rPr sz="900" b="0">
                          <a:solidFill>
                            <a:srgbClr val="0D1B3E"/>
                          </a:solidFill>
                          <a:latin typeface="Calibri"/>
                        </a:rPr>
                        <a:t>30%</a:t>
                      </a:r>
                    </a:p>
                  </a:txBody>
                  <a:tcPr>
                    <a:solidFill>
                      <a:srgbClr val="FFFFFF"/>
                    </a:solidFill>
                  </a:tcPr>
                </a:tc>
                <a:tc>
                  <a:txBody>
                    <a:bodyPr/>
                    <a:lstStyle/>
                    <a:p>
                      <a:r>
                        <a:rPr sz="900" b="0">
                          <a:solidFill>
                            <a:srgbClr val="0D1B3E"/>
                          </a:solidFill>
                          <a:latin typeface="Calibri"/>
                        </a:rPr>
                        <a:t>Vendor's own IR/product page (DIRECT)</a:t>
                      </a:r>
                    </a:p>
                  </a:txBody>
                  <a:tcPr>
                    <a:solidFill>
                      <a:srgbClr val="FFFFFF"/>
                    </a:solidFill>
                  </a:tcPr>
                </a:tc>
                <a:tc>
                  <a:txBody>
                    <a:bodyPr/>
                    <a:lstStyle/>
                    <a:p>
                      <a:r>
                        <a:rPr sz="900" b="0">
                          <a:solidFill>
                            <a:srgbClr val="0D1B3E"/>
                          </a:solidFill>
                          <a:latin typeface="Calibri"/>
                        </a:rPr>
                        <a:t>Anonymous blog, unverified social post</a:t>
                      </a:r>
                    </a:p>
                  </a:txBody>
                  <a:tcPr>
                    <a:solidFill>
                      <a:srgbClr val="FFFFFF"/>
                    </a:solidFill>
                  </a:tcPr>
                </a:tc>
                <a:extLst>
                  <a:ext uri="{0D108BD9-81ED-4DB2-BD59-A6C34878D82A}">
                    <a16:rowId xmlns:a16="http://schemas.microsoft.com/office/drawing/2014/main" val="10001"/>
                  </a:ext>
                </a:extLst>
              </a:tr>
              <a:tr h="437605">
                <a:tc>
                  <a:txBody>
                    <a:bodyPr/>
                    <a:lstStyle/>
                    <a:p>
                      <a:r>
                        <a:rPr sz="900" b="0">
                          <a:solidFill>
                            <a:srgbClr val="0D1B3E"/>
                          </a:solidFill>
                          <a:latin typeface="Calibri"/>
                        </a:rPr>
                        <a:t>Directness</a:t>
                      </a:r>
                    </a:p>
                  </a:txBody>
                  <a:tcPr>
                    <a:solidFill>
                      <a:srgbClr val="F2F4F8"/>
                    </a:solidFill>
                  </a:tcPr>
                </a:tc>
                <a:tc>
                  <a:txBody>
                    <a:bodyPr/>
                    <a:lstStyle/>
                    <a:p>
                      <a:r>
                        <a:rPr sz="900" b="0">
                          <a:solidFill>
                            <a:srgbClr val="0D1B3E"/>
                          </a:solidFill>
                          <a:latin typeface="Calibri"/>
                        </a:rPr>
                        <a:t>20%</a:t>
                      </a:r>
                    </a:p>
                  </a:txBody>
                  <a:tcPr>
                    <a:solidFill>
                      <a:srgbClr val="F2F4F8"/>
                    </a:solidFill>
                  </a:tcPr>
                </a:tc>
                <a:tc>
                  <a:txBody>
                    <a:bodyPr/>
                    <a:lstStyle/>
                    <a:p>
                      <a:r>
                        <a:rPr sz="900" b="0">
                          <a:solidFill>
                            <a:srgbClr val="0D1B3E"/>
                          </a:solidFill>
                          <a:latin typeface="Calibri"/>
                        </a:rPr>
                        <a:t>'We use GPT-4 for fraud detection' — explicit statement</a:t>
                      </a:r>
                    </a:p>
                  </a:txBody>
                  <a:tcPr>
                    <a:solidFill>
                      <a:srgbClr val="F2F4F8"/>
                    </a:solidFill>
                  </a:tcPr>
                </a:tc>
                <a:tc>
                  <a:txBody>
                    <a:bodyPr/>
                    <a:lstStyle/>
                    <a:p>
                      <a:r>
                        <a:rPr sz="900" b="0">
                          <a:solidFill>
                            <a:srgbClr val="0D1B3E"/>
                          </a:solidFill>
                          <a:latin typeface="Calibri"/>
                        </a:rPr>
                        <a:t>Only vague implication: 'AI-powered platform'</a:t>
                      </a:r>
                    </a:p>
                  </a:txBody>
                  <a:tcPr>
                    <a:solidFill>
                      <a:srgbClr val="F2F4F8"/>
                    </a:solidFill>
                  </a:tcPr>
                </a:tc>
                <a:extLst>
                  <a:ext uri="{0D108BD9-81ED-4DB2-BD59-A6C34878D82A}">
                    <a16:rowId xmlns:a16="http://schemas.microsoft.com/office/drawing/2014/main" val="10002"/>
                  </a:ext>
                </a:extLst>
              </a:tr>
              <a:tr h="437605">
                <a:tc>
                  <a:txBody>
                    <a:bodyPr/>
                    <a:lstStyle/>
                    <a:p>
                      <a:r>
                        <a:rPr sz="900" b="0">
                          <a:solidFill>
                            <a:srgbClr val="0D1B3E"/>
                          </a:solidFill>
                          <a:latin typeface="Calibri"/>
                        </a:rPr>
                        <a:t>Specificity</a:t>
                      </a:r>
                    </a:p>
                  </a:txBody>
                  <a:tcPr>
                    <a:solidFill>
                      <a:srgbClr val="FFFFFF"/>
                    </a:solidFill>
                  </a:tcPr>
                </a:tc>
                <a:tc>
                  <a:txBody>
                    <a:bodyPr/>
                    <a:lstStyle/>
                    <a:p>
                      <a:r>
                        <a:rPr sz="900" b="0">
                          <a:solidFill>
                            <a:srgbClr val="0D1B3E"/>
                          </a:solidFill>
                          <a:latin typeface="Calibri"/>
                        </a:rPr>
                        <a:t>20%</a:t>
                      </a:r>
                    </a:p>
                  </a:txBody>
                  <a:tcPr>
                    <a:solidFill>
                      <a:srgbClr val="FFFFFF"/>
                    </a:solidFill>
                  </a:tcPr>
                </a:tc>
                <a:tc>
                  <a:txBody>
                    <a:bodyPr/>
                    <a:lstStyle/>
                    <a:p>
                      <a:r>
                        <a:rPr sz="900" b="0">
                          <a:solidFill>
                            <a:srgbClr val="0D1B3E"/>
                          </a:solidFill>
                          <a:latin typeface="Calibri"/>
                        </a:rPr>
                        <a:t>Named AI product + provider + quantified usage</a:t>
                      </a:r>
                    </a:p>
                  </a:txBody>
                  <a:tcPr>
                    <a:solidFill>
                      <a:srgbClr val="FFFFFF"/>
                    </a:solidFill>
                  </a:tcPr>
                </a:tc>
                <a:tc>
                  <a:txBody>
                    <a:bodyPr/>
                    <a:lstStyle/>
                    <a:p>
                      <a:r>
                        <a:rPr sz="900" b="0">
                          <a:solidFill>
                            <a:srgbClr val="0D1B3E"/>
                          </a:solidFill>
                          <a:latin typeface="Calibri"/>
                        </a:rPr>
                        <a:t>Generic 'machine learning' with no detail</a:t>
                      </a:r>
                    </a:p>
                  </a:txBody>
                  <a:tcPr>
                    <a:solidFill>
                      <a:srgbClr val="FFFFFF"/>
                    </a:solidFill>
                  </a:tcPr>
                </a:tc>
                <a:extLst>
                  <a:ext uri="{0D108BD9-81ED-4DB2-BD59-A6C34878D82A}">
                    <a16:rowId xmlns:a16="http://schemas.microsoft.com/office/drawing/2014/main" val="10003"/>
                  </a:ext>
                </a:extLst>
              </a:tr>
              <a:tr h="437605">
                <a:tc>
                  <a:txBody>
                    <a:bodyPr/>
                    <a:lstStyle/>
                    <a:p>
                      <a:r>
                        <a:rPr sz="900" b="0">
                          <a:solidFill>
                            <a:srgbClr val="0D1B3E"/>
                          </a:solidFill>
                          <a:latin typeface="Calibri"/>
                        </a:rPr>
                        <a:t>Service Relevance</a:t>
                      </a:r>
                    </a:p>
                  </a:txBody>
                  <a:tcPr>
                    <a:solidFill>
                      <a:srgbClr val="F2F4F8"/>
                    </a:solidFill>
                  </a:tcPr>
                </a:tc>
                <a:tc>
                  <a:txBody>
                    <a:bodyPr/>
                    <a:lstStyle/>
                    <a:p>
                      <a:r>
                        <a:rPr sz="900" b="0">
                          <a:solidFill>
                            <a:srgbClr val="0D1B3E"/>
                          </a:solidFill>
                          <a:latin typeface="Calibri"/>
                        </a:rPr>
                        <a:t>15%</a:t>
                      </a:r>
                    </a:p>
                  </a:txBody>
                  <a:tcPr>
                    <a:solidFill>
                      <a:srgbClr val="F2F4F8"/>
                    </a:solidFill>
                  </a:tcPr>
                </a:tc>
                <a:tc>
                  <a:txBody>
                    <a:bodyPr/>
                    <a:lstStyle/>
                    <a:p>
                      <a:r>
                        <a:rPr sz="900" b="0">
                          <a:solidFill>
                            <a:srgbClr val="0D1B3E"/>
                          </a:solidFill>
                          <a:latin typeface="Calibri"/>
                        </a:rPr>
                        <a:t>AI is in the exact service Meridian receives</a:t>
                      </a:r>
                    </a:p>
                  </a:txBody>
                  <a:tcPr>
                    <a:solidFill>
                      <a:srgbClr val="F2F4F8"/>
                    </a:solidFill>
                  </a:tcPr>
                </a:tc>
                <a:tc>
                  <a:txBody>
                    <a:bodyPr/>
                    <a:lstStyle/>
                    <a:p>
                      <a:r>
                        <a:rPr sz="900" b="0">
                          <a:solidFill>
                            <a:srgbClr val="0D1B3E"/>
                          </a:solidFill>
                          <a:latin typeface="Calibri"/>
                        </a:rPr>
                        <a:t>AI mentioned for unrelated product line</a:t>
                      </a:r>
                    </a:p>
                  </a:txBody>
                  <a:tcPr>
                    <a:solidFill>
                      <a:srgbClr val="F2F4F8"/>
                    </a:solidFill>
                  </a:tcPr>
                </a:tc>
                <a:extLst>
                  <a:ext uri="{0D108BD9-81ED-4DB2-BD59-A6C34878D82A}">
                    <a16:rowId xmlns:a16="http://schemas.microsoft.com/office/drawing/2014/main" val="10004"/>
                  </a:ext>
                </a:extLst>
              </a:tr>
              <a:tr h="437605">
                <a:tc>
                  <a:txBody>
                    <a:bodyPr/>
                    <a:lstStyle/>
                    <a:p>
                      <a:r>
                        <a:rPr sz="900" b="0">
                          <a:solidFill>
                            <a:srgbClr val="0D1B3E"/>
                          </a:solidFill>
                          <a:latin typeface="Calibri"/>
                        </a:rPr>
                        <a:t>Independence</a:t>
                      </a:r>
                    </a:p>
                  </a:txBody>
                  <a:tcPr>
                    <a:solidFill>
                      <a:srgbClr val="FFFFFF"/>
                    </a:solidFill>
                  </a:tcPr>
                </a:tc>
                <a:tc>
                  <a:txBody>
                    <a:bodyPr/>
                    <a:lstStyle/>
                    <a:p>
                      <a:r>
                        <a:rPr sz="900" b="0">
                          <a:solidFill>
                            <a:srgbClr val="0D1B3E"/>
                          </a:solidFill>
                          <a:latin typeface="Calibri"/>
                        </a:rPr>
                        <a:t>10%</a:t>
                      </a:r>
                    </a:p>
                  </a:txBody>
                  <a:tcPr>
                    <a:solidFill>
                      <a:srgbClr val="FFFFFF"/>
                    </a:solidFill>
                  </a:tcPr>
                </a:tc>
                <a:tc>
                  <a:txBody>
                    <a:bodyPr/>
                    <a:lstStyle/>
                    <a:p>
                      <a:r>
                        <a:rPr sz="900" b="0">
                          <a:solidFill>
                            <a:srgbClr val="0D1B3E"/>
                          </a:solidFill>
                          <a:latin typeface="Calibri"/>
                        </a:rPr>
                        <a:t>Third-party analyst report (zero vendor control)</a:t>
                      </a:r>
                    </a:p>
                  </a:txBody>
                  <a:tcPr>
                    <a:solidFill>
                      <a:srgbClr val="FFFFFF"/>
                    </a:solidFill>
                  </a:tcPr>
                </a:tc>
                <a:tc>
                  <a:txBody>
                    <a:bodyPr/>
                    <a:lstStyle/>
                    <a:p>
                      <a:r>
                        <a:rPr sz="900" b="0">
                          <a:solidFill>
                            <a:srgbClr val="0D1B3E"/>
                          </a:solidFill>
                          <a:latin typeface="Calibri"/>
                        </a:rPr>
                        <a:t>Vendor's own marketing copy</a:t>
                      </a:r>
                    </a:p>
                  </a:txBody>
                  <a:tcPr>
                    <a:solidFill>
                      <a:srgbClr val="FFFFFF"/>
                    </a:solidFill>
                  </a:tcPr>
                </a:tc>
                <a:extLst>
                  <a:ext uri="{0D108BD9-81ED-4DB2-BD59-A6C34878D82A}">
                    <a16:rowId xmlns:a16="http://schemas.microsoft.com/office/drawing/2014/main" val="10005"/>
                  </a:ext>
                </a:extLst>
              </a:tr>
              <a:tr h="437610">
                <a:tc>
                  <a:txBody>
                    <a:bodyPr/>
                    <a:lstStyle/>
                    <a:p>
                      <a:r>
                        <a:rPr sz="900" b="0">
                          <a:solidFill>
                            <a:srgbClr val="0D1B3E"/>
                          </a:solidFill>
                          <a:latin typeface="Calibri"/>
                        </a:rPr>
                        <a:t>Recency</a:t>
                      </a:r>
                    </a:p>
                  </a:txBody>
                  <a:tcPr>
                    <a:solidFill>
                      <a:srgbClr val="F2F4F8"/>
                    </a:solidFill>
                  </a:tcPr>
                </a:tc>
                <a:tc>
                  <a:txBody>
                    <a:bodyPr/>
                    <a:lstStyle/>
                    <a:p>
                      <a:r>
                        <a:rPr sz="900" b="0">
                          <a:solidFill>
                            <a:srgbClr val="0D1B3E"/>
                          </a:solidFill>
                          <a:latin typeface="Calibri"/>
                        </a:rPr>
                        <a:t>5%</a:t>
                      </a:r>
                    </a:p>
                  </a:txBody>
                  <a:tcPr>
                    <a:solidFill>
                      <a:srgbClr val="F2F4F8"/>
                    </a:solidFill>
                  </a:tcPr>
                </a:tc>
                <a:tc>
                  <a:txBody>
                    <a:bodyPr/>
                    <a:lstStyle/>
                    <a:p>
                      <a:r>
                        <a:rPr sz="900" b="0">
                          <a:solidFill>
                            <a:srgbClr val="0D1B3E"/>
                          </a:solidFill>
                          <a:latin typeface="Calibri"/>
                        </a:rPr>
                        <a:t>Published 2025–2026</a:t>
                      </a:r>
                    </a:p>
                  </a:txBody>
                  <a:tcPr>
                    <a:solidFill>
                      <a:srgbClr val="F2F4F8"/>
                    </a:solidFill>
                  </a:tcPr>
                </a:tc>
                <a:tc>
                  <a:txBody>
                    <a:bodyPr/>
                    <a:lstStyle/>
                    <a:p>
                      <a:r>
                        <a:rPr sz="900" b="0">
                          <a:solidFill>
                            <a:srgbClr val="0D1B3E"/>
                          </a:solidFill>
                          <a:latin typeface="Calibri"/>
                        </a:rPr>
                        <a:t>Published pre-2022</a:t>
                      </a:r>
                    </a:p>
                  </a:txBody>
                  <a:tcPr>
                    <a:solidFill>
                      <a:srgbClr val="F2F4F8"/>
                    </a:solidFill>
                  </a:tcPr>
                </a:tc>
                <a:extLst>
                  <a:ext uri="{0D108BD9-81ED-4DB2-BD59-A6C34878D82A}">
                    <a16:rowId xmlns:a16="http://schemas.microsoft.com/office/drawing/2014/main" val="10006"/>
                  </a:ext>
                </a:extLst>
              </a:tr>
            </a:tbl>
          </a:graphicData>
        </a:graphic>
      </p:graphicFrame>
      <p:sp>
        <p:nvSpPr>
          <p:cNvPr id="13" name="TextBox 12"/>
          <p:cNvSpPr txBox="1"/>
          <p:nvPr/>
        </p:nvSpPr>
        <p:spPr>
          <a:xfrm>
            <a:off x="365760" y="5486400"/>
            <a:ext cx="11430000" cy="457200"/>
          </a:xfrm>
          <a:prstGeom prst="rect">
            <a:avLst/>
          </a:prstGeom>
          <a:noFill/>
        </p:spPr>
        <p:txBody>
          <a:bodyPr wrap="square">
            <a:spAutoFit/>
          </a:bodyPr>
          <a:lstStyle/>
          <a:p>
            <a:pPr algn="l"/>
            <a:r>
              <a:rPr sz="1000" b="1" i="0">
                <a:solidFill>
                  <a:srgbClr val="0D1B3E"/>
                </a:solidFill>
                <a:latin typeface="Calibri"/>
              </a:rPr>
              <a:t>Verdict thresholds:  YES if single DIRECT source ≥ 65  |  YES if 2+ independent sources from different domains both ≥ 45  |  Otherwise INCONCLUSIVE</a:t>
            </a:r>
          </a:p>
        </p:txBody>
      </p:sp>
      <p:sp>
        <p:nvSpPr>
          <p:cNvPr id="14" name="TextBox 13"/>
          <p:cNvSpPr txBox="1"/>
          <p:nvPr/>
        </p:nvSpPr>
        <p:spPr>
          <a:xfrm>
            <a:off x="365760" y="5989320"/>
            <a:ext cx="11430000" cy="731520"/>
          </a:xfrm>
          <a:prstGeom prst="rect">
            <a:avLst/>
          </a:prstGeom>
          <a:noFill/>
        </p:spPr>
        <p:txBody>
          <a:bodyPr wrap="square">
            <a:spAutoFit/>
          </a:bodyPr>
          <a:lstStyle/>
          <a:p>
            <a:pPr algn="l"/>
            <a:r>
              <a:rPr sz="950" b="0" i="1">
                <a:solidFill>
                  <a:srgbClr val="4A5A6B"/>
                </a:solidFill>
                <a:latin typeface="Calibri"/>
              </a:rPr>
              <a:t>Why 65?  At strength 65 a source must score strongly on at least 3 components — it cannot be vague, old, and irrelevant simultaneously. Below 65, real uncertainty remains. The 45/dual-source rule captures convergent weak signals from independent publications.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417320"/>
            <a:ext cx="914400" cy="54864"/>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1440"/>
            <a:ext cx="5486400" cy="365760"/>
          </a:xfrm>
          <a:prstGeom prst="rect">
            <a:avLst/>
          </a:prstGeom>
          <a:noFill/>
        </p:spPr>
        <p:txBody>
          <a:bodyPr wrap="square">
            <a:spAutoFit/>
          </a:bodyPr>
          <a:lstStyle/>
          <a:p>
            <a:pPr algn="l"/>
            <a:r>
              <a:rPr sz="900" b="0" i="0">
                <a:solidFill>
                  <a:srgbClr val="E05A0E"/>
                </a:solidFill>
                <a:latin typeface="Calibri"/>
              </a:rPr>
              <a:t>EXPECTED OUTCOME 04  |  DESIGN RATIONALE</a:t>
            </a:r>
          </a:p>
        </p:txBody>
      </p:sp>
      <p:sp>
        <p:nvSpPr>
          <p:cNvPr id="6" name="TextBox 5"/>
          <p:cNvSpPr txBox="1"/>
          <p:nvPr/>
        </p:nvSpPr>
        <p:spPr>
          <a:xfrm>
            <a:off x="457200" y="411480"/>
            <a:ext cx="8229600" cy="731520"/>
          </a:xfrm>
          <a:prstGeom prst="rect">
            <a:avLst/>
          </a:prstGeom>
          <a:noFill/>
        </p:spPr>
        <p:txBody>
          <a:bodyPr wrap="square">
            <a:spAutoFit/>
          </a:bodyPr>
          <a:lstStyle/>
          <a:p>
            <a:pPr algn="l"/>
            <a:r>
              <a:rPr sz="2800" b="1" i="0">
                <a:solidFill>
                  <a:srgbClr val="FFFFFF"/>
                </a:solidFill>
                <a:latin typeface="Calibri"/>
              </a:rPr>
              <a:t>Why Exactly 5 Criticality Factors?</a:t>
            </a:r>
          </a:p>
        </p:txBody>
      </p:sp>
      <p:sp>
        <p:nvSpPr>
          <p:cNvPr id="7" name="TextBox 6"/>
          <p:cNvSpPr txBox="1"/>
          <p:nvPr/>
        </p:nvSpPr>
        <p:spPr>
          <a:xfrm>
            <a:off x="1463040" y="1265383"/>
            <a:ext cx="8229600" cy="646331"/>
          </a:xfrm>
          <a:prstGeom prst="rect">
            <a:avLst/>
          </a:prstGeom>
          <a:noFill/>
        </p:spPr>
        <p:txBody>
          <a:bodyPr wrap="square">
            <a:spAutoFit/>
          </a:bodyPr>
          <a:lstStyle/>
          <a:p>
            <a:r>
              <a:rPr sz="1200" b="0" i="0" dirty="0">
                <a:solidFill>
                  <a:srgbClr val="4A5A6B"/>
                </a:solidFill>
                <a:latin typeface="Calibri"/>
              </a:rPr>
              <a:t>Rooted in FFIEC, OCC, and SR 11-7 third-party risk frameworks</a:t>
            </a:r>
            <a:br>
              <a:rPr lang="en-IN" sz="1200" b="0" i="0" dirty="0">
                <a:solidFill>
                  <a:srgbClr val="4A5A6B"/>
                </a:solidFill>
                <a:latin typeface="Calibri"/>
              </a:rPr>
            </a:br>
            <a:r>
              <a:rPr lang="en-US" sz="1200" b="1" i="1" dirty="0" err="1">
                <a:solidFill>
                  <a:srgbClr val="4A5A6B"/>
                </a:solidFill>
              </a:rPr>
              <a:t>criticality_score</a:t>
            </a:r>
            <a:r>
              <a:rPr lang="en-US" sz="1200" b="1" i="1" dirty="0">
                <a:solidFill>
                  <a:srgbClr val="4A5A6B"/>
                </a:solidFill>
              </a:rPr>
              <a:t> = (OD*0.30) + (DS*0.25) + (PF*0.15) + (RE*0.15) + (DV*0.15)</a:t>
            </a:r>
          </a:p>
          <a:p>
            <a:pPr algn="l"/>
            <a:endParaRPr sz="1200" b="0" i="0" dirty="0">
              <a:solidFill>
                <a:srgbClr val="4A5A6B"/>
              </a:solidFill>
              <a:latin typeface="Calibri"/>
            </a:endParaRPr>
          </a:p>
        </p:txBody>
      </p:sp>
      <p:sp>
        <p:nvSpPr>
          <p:cNvPr id="8" name="TextBox 7"/>
          <p:cNvSpPr txBox="1"/>
          <p:nvPr/>
        </p:nvSpPr>
        <p:spPr>
          <a:xfrm>
            <a:off x="9144000" y="137160"/>
            <a:ext cx="2743200" cy="274320"/>
          </a:xfrm>
          <a:prstGeom prst="rect">
            <a:avLst/>
          </a:prstGeom>
          <a:noFill/>
        </p:spPr>
        <p:txBody>
          <a:bodyPr wrap="square">
            <a:spAutoFit/>
          </a:bodyPr>
          <a:lstStyle/>
          <a:p>
            <a:pPr algn="r"/>
            <a:r>
              <a:rPr sz="1100" b="1" i="0">
                <a:solidFill>
                  <a:srgbClr val="FFFFFF"/>
                </a:solidFill>
                <a:latin typeface="Calibri"/>
              </a:rPr>
              <a:t>Optiv Consulting</a:t>
            </a:r>
          </a:p>
        </p:txBody>
      </p:sp>
      <p:sp>
        <p:nvSpPr>
          <p:cNvPr id="9" name="TextBox 8"/>
          <p:cNvSpPr txBox="1"/>
          <p:nvPr/>
        </p:nvSpPr>
        <p:spPr>
          <a:xfrm>
            <a:off x="9144000" y="384048"/>
            <a:ext cx="2926080" cy="274320"/>
          </a:xfrm>
          <a:prstGeom prst="rect">
            <a:avLst/>
          </a:prstGeom>
          <a:noFill/>
        </p:spPr>
        <p:txBody>
          <a:bodyPr wrap="square">
            <a:spAutoFit/>
          </a:bodyPr>
          <a:lstStyle/>
          <a:p>
            <a:pPr algn="r"/>
            <a:r>
              <a:rPr sz="800" b="0" i="0">
                <a:solidFill>
                  <a:srgbClr val="F2F4F8"/>
                </a:solidFill>
                <a:latin typeface="Calibri"/>
              </a:rPr>
              <a:t>[formerly part of Optiv Security]</a:t>
            </a:r>
          </a:p>
        </p:txBody>
      </p:sp>
      <p:sp>
        <p:nvSpPr>
          <p:cNvPr id="10" name="Rectangle 9"/>
          <p:cNvSpPr/>
          <p:nvPr/>
        </p:nvSpPr>
        <p:spPr>
          <a:xfrm>
            <a:off x="365760" y="1737360"/>
            <a:ext cx="502920" cy="822960"/>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874519"/>
            <a:ext cx="502920" cy="548640"/>
          </a:xfrm>
          <a:prstGeom prst="rect">
            <a:avLst/>
          </a:prstGeom>
          <a:noFill/>
        </p:spPr>
        <p:txBody>
          <a:bodyPr wrap="square">
            <a:spAutoFit/>
          </a:bodyPr>
          <a:lstStyle/>
          <a:p>
            <a:pPr algn="ctr"/>
            <a:r>
              <a:rPr sz="1300" b="1" i="0">
                <a:solidFill>
                  <a:srgbClr val="FFFFFF"/>
                </a:solidFill>
                <a:latin typeface="Calibri"/>
              </a:rPr>
              <a:t>01</a:t>
            </a:r>
          </a:p>
        </p:txBody>
      </p:sp>
      <p:sp>
        <p:nvSpPr>
          <p:cNvPr id="12" name="Rectangle 11"/>
          <p:cNvSpPr/>
          <p:nvPr/>
        </p:nvSpPr>
        <p:spPr>
          <a:xfrm>
            <a:off x="960120" y="1737360"/>
            <a:ext cx="1691640" cy="8229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1810512"/>
            <a:ext cx="1691640" cy="685800"/>
          </a:xfrm>
          <a:prstGeom prst="rect">
            <a:avLst/>
          </a:prstGeom>
          <a:noFill/>
        </p:spPr>
        <p:txBody>
          <a:bodyPr wrap="square">
            <a:spAutoFit/>
          </a:bodyPr>
          <a:lstStyle/>
          <a:p>
            <a:pPr algn="ctr"/>
            <a:r>
              <a:rPr sz="1000" b="1" i="0">
                <a:solidFill>
                  <a:srgbClr val="FFFFFF"/>
                </a:solidFill>
                <a:latin typeface="Calibri"/>
              </a:rPr>
              <a:t>Operational
Dependency</a:t>
            </a:r>
          </a:p>
        </p:txBody>
      </p:sp>
      <p:sp>
        <p:nvSpPr>
          <p:cNvPr id="14" name="Rectangle 13"/>
          <p:cNvSpPr/>
          <p:nvPr/>
        </p:nvSpPr>
        <p:spPr>
          <a:xfrm>
            <a:off x="2651760" y="1737360"/>
            <a:ext cx="685800" cy="822960"/>
          </a:xfrm>
          <a:prstGeom prst="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651760" y="1920240"/>
            <a:ext cx="685800" cy="457200"/>
          </a:xfrm>
          <a:prstGeom prst="rect">
            <a:avLst/>
          </a:prstGeom>
          <a:noFill/>
        </p:spPr>
        <p:txBody>
          <a:bodyPr wrap="square">
            <a:spAutoFit/>
          </a:bodyPr>
          <a:lstStyle/>
          <a:p>
            <a:pPr algn="ctr"/>
            <a:r>
              <a:rPr sz="1400" b="1" i="0">
                <a:solidFill>
                  <a:srgbClr val="E05A0E"/>
                </a:solidFill>
                <a:latin typeface="Calibri"/>
              </a:rPr>
              <a:t>30%</a:t>
            </a:r>
          </a:p>
        </p:txBody>
      </p:sp>
      <p:sp>
        <p:nvSpPr>
          <p:cNvPr id="16" name="TextBox 15"/>
          <p:cNvSpPr txBox="1"/>
          <p:nvPr/>
        </p:nvSpPr>
        <p:spPr>
          <a:xfrm>
            <a:off x="3429000" y="1783080"/>
            <a:ext cx="8321040" cy="731520"/>
          </a:xfrm>
          <a:prstGeom prst="rect">
            <a:avLst/>
          </a:prstGeom>
          <a:noFill/>
        </p:spPr>
        <p:txBody>
          <a:bodyPr wrap="square">
            <a:spAutoFit/>
          </a:bodyPr>
          <a:lstStyle/>
          <a:p>
            <a:pPr algn="l"/>
            <a:r>
              <a:rPr sz="900" b="0" i="0" dirty="0">
                <a:solidFill>
                  <a:srgbClr val="4A5A6B"/>
                </a:solidFill>
                <a:latin typeface="Calibri"/>
              </a:rPr>
              <a:t>How badly does Meridian break if this vendor disappears tomorrow?
OCC Bulletin 2013-29 names operational dependency as the primary driver of TPRM depth. Fiserv at OD=1.0 stops all banking operations. Terrapin at OD=0.4 delays a consulting project.</a:t>
            </a:r>
          </a:p>
        </p:txBody>
      </p:sp>
      <p:sp>
        <p:nvSpPr>
          <p:cNvPr id="17" name="Rectangle 16"/>
          <p:cNvSpPr/>
          <p:nvPr/>
        </p:nvSpPr>
        <p:spPr>
          <a:xfrm>
            <a:off x="365760" y="2743200"/>
            <a:ext cx="502920" cy="822960"/>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2880360"/>
            <a:ext cx="502920" cy="548640"/>
          </a:xfrm>
          <a:prstGeom prst="rect">
            <a:avLst/>
          </a:prstGeom>
          <a:noFill/>
        </p:spPr>
        <p:txBody>
          <a:bodyPr wrap="square">
            <a:spAutoFit/>
          </a:bodyPr>
          <a:lstStyle/>
          <a:p>
            <a:pPr algn="ctr"/>
            <a:r>
              <a:rPr sz="1300" b="1" i="0">
                <a:solidFill>
                  <a:srgbClr val="FFFFFF"/>
                </a:solidFill>
                <a:latin typeface="Calibri"/>
              </a:rPr>
              <a:t>02</a:t>
            </a:r>
          </a:p>
        </p:txBody>
      </p:sp>
      <p:sp>
        <p:nvSpPr>
          <p:cNvPr id="19" name="Rectangle 18"/>
          <p:cNvSpPr/>
          <p:nvPr/>
        </p:nvSpPr>
        <p:spPr>
          <a:xfrm>
            <a:off x="960120" y="2743200"/>
            <a:ext cx="1691640" cy="8229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0120" y="2816352"/>
            <a:ext cx="1691640" cy="685800"/>
          </a:xfrm>
          <a:prstGeom prst="rect">
            <a:avLst/>
          </a:prstGeom>
          <a:noFill/>
        </p:spPr>
        <p:txBody>
          <a:bodyPr wrap="square">
            <a:spAutoFit/>
          </a:bodyPr>
          <a:lstStyle/>
          <a:p>
            <a:pPr algn="ctr"/>
            <a:r>
              <a:rPr sz="1000" b="1" i="0">
                <a:solidFill>
                  <a:srgbClr val="FFFFFF"/>
                </a:solidFill>
                <a:latin typeface="Calibri"/>
              </a:rPr>
              <a:t>Data
Sensitivity</a:t>
            </a:r>
          </a:p>
        </p:txBody>
      </p:sp>
      <p:sp>
        <p:nvSpPr>
          <p:cNvPr id="21" name="Rectangle 20"/>
          <p:cNvSpPr/>
          <p:nvPr/>
        </p:nvSpPr>
        <p:spPr>
          <a:xfrm>
            <a:off x="2651760" y="2743200"/>
            <a:ext cx="685800" cy="822960"/>
          </a:xfrm>
          <a:prstGeom prst="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651760" y="2926080"/>
            <a:ext cx="685800" cy="457200"/>
          </a:xfrm>
          <a:prstGeom prst="rect">
            <a:avLst/>
          </a:prstGeom>
          <a:noFill/>
        </p:spPr>
        <p:txBody>
          <a:bodyPr wrap="square">
            <a:spAutoFit/>
          </a:bodyPr>
          <a:lstStyle/>
          <a:p>
            <a:pPr algn="ctr"/>
            <a:r>
              <a:rPr sz="1400" b="1" i="0">
                <a:solidFill>
                  <a:srgbClr val="E05A0E"/>
                </a:solidFill>
                <a:latin typeface="Calibri"/>
              </a:rPr>
              <a:t>25%</a:t>
            </a:r>
          </a:p>
        </p:txBody>
      </p:sp>
      <p:sp>
        <p:nvSpPr>
          <p:cNvPr id="23" name="TextBox 22"/>
          <p:cNvSpPr txBox="1"/>
          <p:nvPr/>
        </p:nvSpPr>
        <p:spPr>
          <a:xfrm>
            <a:off x="3429000" y="2788920"/>
            <a:ext cx="8321040" cy="731520"/>
          </a:xfrm>
          <a:prstGeom prst="rect">
            <a:avLst/>
          </a:prstGeom>
          <a:noFill/>
        </p:spPr>
        <p:txBody>
          <a:bodyPr wrap="square">
            <a:spAutoFit/>
          </a:bodyPr>
          <a:lstStyle/>
          <a:p>
            <a:pPr algn="l"/>
            <a:r>
              <a:rPr sz="900" b="0" i="0" dirty="0">
                <a:solidFill>
                  <a:srgbClr val="4A5A6B"/>
                </a:solidFill>
                <a:latin typeface="Calibri"/>
              </a:rPr>
              <a:t>What category of data does this vendor touch?
GLBA Safeguards Rule + FFIEC IT Handbook require elevated scrutiny for customer financial PII. Data breaches carry direct customer harm and regulatory penalty — hence the second-largest weight.</a:t>
            </a:r>
          </a:p>
        </p:txBody>
      </p:sp>
      <p:sp>
        <p:nvSpPr>
          <p:cNvPr id="24" name="Rectangle 23"/>
          <p:cNvSpPr/>
          <p:nvPr/>
        </p:nvSpPr>
        <p:spPr>
          <a:xfrm>
            <a:off x="365760" y="3749039"/>
            <a:ext cx="502920" cy="822960"/>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5760" y="3886200"/>
            <a:ext cx="502920" cy="548640"/>
          </a:xfrm>
          <a:prstGeom prst="rect">
            <a:avLst/>
          </a:prstGeom>
          <a:noFill/>
        </p:spPr>
        <p:txBody>
          <a:bodyPr wrap="square">
            <a:spAutoFit/>
          </a:bodyPr>
          <a:lstStyle/>
          <a:p>
            <a:pPr algn="ctr"/>
            <a:r>
              <a:rPr sz="1300" b="1" i="0">
                <a:solidFill>
                  <a:srgbClr val="FFFFFF"/>
                </a:solidFill>
                <a:latin typeface="Calibri"/>
              </a:rPr>
              <a:t>03</a:t>
            </a:r>
          </a:p>
        </p:txBody>
      </p:sp>
      <p:sp>
        <p:nvSpPr>
          <p:cNvPr id="26" name="Rectangle 25"/>
          <p:cNvSpPr/>
          <p:nvPr/>
        </p:nvSpPr>
        <p:spPr>
          <a:xfrm>
            <a:off x="960120" y="3749039"/>
            <a:ext cx="1691640" cy="8229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60120" y="3822191"/>
            <a:ext cx="1691640" cy="685800"/>
          </a:xfrm>
          <a:prstGeom prst="rect">
            <a:avLst/>
          </a:prstGeom>
          <a:noFill/>
        </p:spPr>
        <p:txBody>
          <a:bodyPr wrap="square">
            <a:spAutoFit/>
          </a:bodyPr>
          <a:lstStyle/>
          <a:p>
            <a:pPr algn="ctr"/>
            <a:r>
              <a:rPr sz="1000" b="1" i="0">
                <a:solidFill>
                  <a:srgbClr val="FFFFFF"/>
                </a:solidFill>
                <a:latin typeface="Calibri"/>
              </a:rPr>
              <a:t>Payment /
Financial Flow</a:t>
            </a:r>
          </a:p>
        </p:txBody>
      </p:sp>
      <p:sp>
        <p:nvSpPr>
          <p:cNvPr id="28" name="Rectangle 27"/>
          <p:cNvSpPr/>
          <p:nvPr/>
        </p:nvSpPr>
        <p:spPr>
          <a:xfrm>
            <a:off x="2651760" y="3749039"/>
            <a:ext cx="685800" cy="822960"/>
          </a:xfrm>
          <a:prstGeom prst="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651760" y="3931920"/>
            <a:ext cx="685800" cy="457200"/>
          </a:xfrm>
          <a:prstGeom prst="rect">
            <a:avLst/>
          </a:prstGeom>
          <a:noFill/>
        </p:spPr>
        <p:txBody>
          <a:bodyPr wrap="square">
            <a:spAutoFit/>
          </a:bodyPr>
          <a:lstStyle/>
          <a:p>
            <a:pPr algn="ctr"/>
            <a:r>
              <a:rPr sz="1400" b="1" i="0">
                <a:solidFill>
                  <a:srgbClr val="E05A0E"/>
                </a:solidFill>
                <a:latin typeface="Calibri"/>
              </a:rPr>
              <a:t>15%</a:t>
            </a:r>
          </a:p>
        </p:txBody>
      </p:sp>
      <p:sp>
        <p:nvSpPr>
          <p:cNvPr id="30" name="TextBox 29"/>
          <p:cNvSpPr txBox="1"/>
          <p:nvPr/>
        </p:nvSpPr>
        <p:spPr>
          <a:xfrm>
            <a:off x="3429000" y="3794759"/>
            <a:ext cx="8321040" cy="731520"/>
          </a:xfrm>
          <a:prstGeom prst="rect">
            <a:avLst/>
          </a:prstGeom>
          <a:noFill/>
        </p:spPr>
        <p:txBody>
          <a:bodyPr wrap="square">
            <a:spAutoFit/>
          </a:bodyPr>
          <a:lstStyle/>
          <a:p>
            <a:pPr algn="l"/>
            <a:r>
              <a:rPr sz="900" b="0" i="0" dirty="0">
                <a:solidFill>
                  <a:srgbClr val="4A5A6B"/>
                </a:solidFill>
                <a:latin typeface="Calibri"/>
              </a:rPr>
              <a:t>Does real money move through this vendor?
TCH clears ACH and RTP — actual settlement funds. FSSI mails statements. Payment rail operators have a dedicated escalation rule because failure = financial loss.</a:t>
            </a:r>
          </a:p>
        </p:txBody>
      </p:sp>
      <p:sp>
        <p:nvSpPr>
          <p:cNvPr id="31" name="Rectangle 30"/>
          <p:cNvSpPr/>
          <p:nvPr/>
        </p:nvSpPr>
        <p:spPr>
          <a:xfrm>
            <a:off x="365760" y="4754880"/>
            <a:ext cx="502920" cy="822960"/>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65760" y="4892040"/>
            <a:ext cx="502920" cy="548640"/>
          </a:xfrm>
          <a:prstGeom prst="rect">
            <a:avLst/>
          </a:prstGeom>
          <a:noFill/>
        </p:spPr>
        <p:txBody>
          <a:bodyPr wrap="square">
            <a:spAutoFit/>
          </a:bodyPr>
          <a:lstStyle/>
          <a:p>
            <a:pPr algn="ctr"/>
            <a:r>
              <a:rPr sz="1300" b="1" i="0">
                <a:solidFill>
                  <a:srgbClr val="FFFFFF"/>
                </a:solidFill>
                <a:latin typeface="Calibri"/>
              </a:rPr>
              <a:t>04</a:t>
            </a:r>
          </a:p>
        </p:txBody>
      </p:sp>
      <p:sp>
        <p:nvSpPr>
          <p:cNvPr id="33" name="Rectangle 32"/>
          <p:cNvSpPr/>
          <p:nvPr/>
        </p:nvSpPr>
        <p:spPr>
          <a:xfrm>
            <a:off x="960120" y="4754880"/>
            <a:ext cx="1691640" cy="8229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60120" y="4828032"/>
            <a:ext cx="1691640" cy="685800"/>
          </a:xfrm>
          <a:prstGeom prst="rect">
            <a:avLst/>
          </a:prstGeom>
          <a:noFill/>
        </p:spPr>
        <p:txBody>
          <a:bodyPr wrap="square">
            <a:spAutoFit/>
          </a:bodyPr>
          <a:lstStyle/>
          <a:p>
            <a:pPr algn="ctr"/>
            <a:r>
              <a:rPr sz="1000" b="1" i="0">
                <a:solidFill>
                  <a:srgbClr val="FFFFFF"/>
                </a:solidFill>
                <a:latin typeface="Calibri"/>
              </a:rPr>
              <a:t>Regulatory
Exposure</a:t>
            </a:r>
          </a:p>
        </p:txBody>
      </p:sp>
      <p:sp>
        <p:nvSpPr>
          <p:cNvPr id="35" name="Rectangle 34"/>
          <p:cNvSpPr/>
          <p:nvPr/>
        </p:nvSpPr>
        <p:spPr>
          <a:xfrm>
            <a:off x="2651760" y="4754880"/>
            <a:ext cx="685800" cy="822960"/>
          </a:xfrm>
          <a:prstGeom prst="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651760" y="4937760"/>
            <a:ext cx="685800" cy="457200"/>
          </a:xfrm>
          <a:prstGeom prst="rect">
            <a:avLst/>
          </a:prstGeom>
          <a:noFill/>
        </p:spPr>
        <p:txBody>
          <a:bodyPr wrap="square">
            <a:spAutoFit/>
          </a:bodyPr>
          <a:lstStyle/>
          <a:p>
            <a:pPr algn="ctr"/>
            <a:r>
              <a:rPr sz="1400" b="1" i="0">
                <a:solidFill>
                  <a:srgbClr val="E05A0E"/>
                </a:solidFill>
                <a:latin typeface="Calibri"/>
              </a:rPr>
              <a:t>15%</a:t>
            </a:r>
          </a:p>
        </p:txBody>
      </p:sp>
      <p:sp>
        <p:nvSpPr>
          <p:cNvPr id="37" name="TextBox 36"/>
          <p:cNvSpPr txBox="1"/>
          <p:nvPr/>
        </p:nvSpPr>
        <p:spPr>
          <a:xfrm>
            <a:off x="3429000" y="4800600"/>
            <a:ext cx="8321040" cy="731520"/>
          </a:xfrm>
          <a:prstGeom prst="rect">
            <a:avLst/>
          </a:prstGeom>
          <a:noFill/>
        </p:spPr>
        <p:txBody>
          <a:bodyPr wrap="square">
            <a:spAutoFit/>
          </a:bodyPr>
          <a:lstStyle/>
          <a:p>
            <a:pPr algn="l"/>
            <a:r>
              <a:rPr sz="900" b="0" i="0">
                <a:solidFill>
                  <a:srgbClr val="4A5A6B"/>
                </a:solidFill>
                <a:latin typeface="Calibri"/>
              </a:rPr>
              <a:t>Which regulators watch this service?
Core banking: FFIEC, OCC, Federal Reserve. Document services: CFPB. Consulting: minimal. Higher regulatory exposure means a failure creates both business and compliance risk.</a:t>
            </a:r>
          </a:p>
        </p:txBody>
      </p:sp>
      <p:sp>
        <p:nvSpPr>
          <p:cNvPr id="38" name="Rectangle 37"/>
          <p:cNvSpPr/>
          <p:nvPr/>
        </p:nvSpPr>
        <p:spPr>
          <a:xfrm>
            <a:off x="365760" y="5760720"/>
            <a:ext cx="502920" cy="822960"/>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65760" y="5897880"/>
            <a:ext cx="502920" cy="548640"/>
          </a:xfrm>
          <a:prstGeom prst="rect">
            <a:avLst/>
          </a:prstGeom>
          <a:noFill/>
        </p:spPr>
        <p:txBody>
          <a:bodyPr wrap="square">
            <a:spAutoFit/>
          </a:bodyPr>
          <a:lstStyle/>
          <a:p>
            <a:pPr algn="ctr"/>
            <a:r>
              <a:rPr sz="1300" b="1" i="0">
                <a:solidFill>
                  <a:srgbClr val="FFFFFF"/>
                </a:solidFill>
                <a:latin typeface="Calibri"/>
              </a:rPr>
              <a:t>05</a:t>
            </a:r>
          </a:p>
        </p:txBody>
      </p:sp>
      <p:sp>
        <p:nvSpPr>
          <p:cNvPr id="40" name="Rectangle 39"/>
          <p:cNvSpPr/>
          <p:nvPr/>
        </p:nvSpPr>
        <p:spPr>
          <a:xfrm>
            <a:off x="960120" y="5760720"/>
            <a:ext cx="1691640" cy="8229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60120" y="5833872"/>
            <a:ext cx="1691640" cy="685800"/>
          </a:xfrm>
          <a:prstGeom prst="rect">
            <a:avLst/>
          </a:prstGeom>
          <a:noFill/>
        </p:spPr>
        <p:txBody>
          <a:bodyPr wrap="square">
            <a:spAutoFit/>
          </a:bodyPr>
          <a:lstStyle/>
          <a:p>
            <a:pPr algn="ctr"/>
            <a:r>
              <a:rPr sz="1000" b="1" i="0">
                <a:solidFill>
                  <a:srgbClr val="FFFFFF"/>
                </a:solidFill>
                <a:latin typeface="Calibri"/>
              </a:rPr>
              <a:t>Downstream
Vulnerability</a:t>
            </a:r>
          </a:p>
        </p:txBody>
      </p:sp>
      <p:sp>
        <p:nvSpPr>
          <p:cNvPr id="42" name="Rectangle 41"/>
          <p:cNvSpPr/>
          <p:nvPr/>
        </p:nvSpPr>
        <p:spPr>
          <a:xfrm>
            <a:off x="2651760" y="5760720"/>
            <a:ext cx="685800" cy="822960"/>
          </a:xfrm>
          <a:prstGeom prst="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651760" y="5943600"/>
            <a:ext cx="685800" cy="457200"/>
          </a:xfrm>
          <a:prstGeom prst="rect">
            <a:avLst/>
          </a:prstGeom>
          <a:noFill/>
        </p:spPr>
        <p:txBody>
          <a:bodyPr wrap="square">
            <a:spAutoFit/>
          </a:bodyPr>
          <a:lstStyle/>
          <a:p>
            <a:pPr algn="ctr"/>
            <a:r>
              <a:rPr sz="1400" b="1" i="0">
                <a:solidFill>
                  <a:srgbClr val="E05A0E"/>
                </a:solidFill>
                <a:latin typeface="Calibri"/>
              </a:rPr>
              <a:t>15%</a:t>
            </a:r>
          </a:p>
        </p:txBody>
      </p:sp>
      <p:sp>
        <p:nvSpPr>
          <p:cNvPr id="44" name="TextBox 43"/>
          <p:cNvSpPr txBox="1"/>
          <p:nvPr/>
        </p:nvSpPr>
        <p:spPr>
          <a:xfrm>
            <a:off x="3429000" y="5806440"/>
            <a:ext cx="8321040" cy="731520"/>
          </a:xfrm>
          <a:prstGeom prst="rect">
            <a:avLst/>
          </a:prstGeom>
          <a:noFill/>
        </p:spPr>
        <p:txBody>
          <a:bodyPr wrap="square">
            <a:spAutoFit/>
          </a:bodyPr>
          <a:lstStyle/>
          <a:p>
            <a:pPr algn="l"/>
            <a:r>
              <a:rPr sz="900" b="0" i="0">
                <a:solidFill>
                  <a:srgbClr val="4A5A6B"/>
                </a:solidFill>
                <a:latin typeface="Calibri"/>
              </a:rPr>
              <a:t>How many other Meridian systems depend on this vendor?
Fiserv underpins every Meridian service — downstream vulnerability = 1.0. Terrapin advises one project — downstream = 0.3. Cascading failure probability matters.</a:t>
            </a:r>
          </a:p>
        </p:txBody>
      </p:sp>
      <p:sp>
        <p:nvSpPr>
          <p:cNvPr id="45" name="TextBox 44"/>
          <p:cNvSpPr txBox="1"/>
          <p:nvPr/>
        </p:nvSpPr>
        <p:spPr>
          <a:xfrm>
            <a:off x="758952" y="6632742"/>
            <a:ext cx="11430000" cy="320040"/>
          </a:xfrm>
          <a:prstGeom prst="rect">
            <a:avLst/>
          </a:prstGeom>
          <a:noFill/>
        </p:spPr>
        <p:txBody>
          <a:bodyPr wrap="square">
            <a:spAutoFit/>
          </a:bodyPr>
          <a:lstStyle/>
          <a:p>
            <a:pPr algn="l"/>
            <a:r>
              <a:rPr sz="950" b="1" i="0" dirty="0">
                <a:solidFill>
                  <a:srgbClr val="0D1B3E"/>
                </a:solidFill>
                <a:latin typeface="Calibri"/>
              </a:rPr>
              <a:t>Together these 5 factors capture the complete risk surface defined by every major US banking regulator. No factor was added without a regulatory citation. No factor was left out that a regulator mandates.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417320"/>
            <a:ext cx="914400" cy="54864"/>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1440"/>
            <a:ext cx="5486400" cy="365760"/>
          </a:xfrm>
          <a:prstGeom prst="rect">
            <a:avLst/>
          </a:prstGeom>
          <a:noFill/>
        </p:spPr>
        <p:txBody>
          <a:bodyPr wrap="square">
            <a:spAutoFit/>
          </a:bodyPr>
          <a:lstStyle/>
          <a:p>
            <a:pPr algn="l"/>
            <a:r>
              <a:rPr sz="900" b="0" i="0">
                <a:solidFill>
                  <a:srgbClr val="E05A0E"/>
                </a:solidFill>
                <a:latin typeface="Calibri"/>
              </a:rPr>
              <a:t>EXPECTED OUTCOME 04  |  DESIGN RATIONALE</a:t>
            </a:r>
          </a:p>
        </p:txBody>
      </p:sp>
      <p:sp>
        <p:nvSpPr>
          <p:cNvPr id="6" name="TextBox 5"/>
          <p:cNvSpPr txBox="1"/>
          <p:nvPr/>
        </p:nvSpPr>
        <p:spPr>
          <a:xfrm>
            <a:off x="457200" y="411480"/>
            <a:ext cx="8229600" cy="731520"/>
          </a:xfrm>
          <a:prstGeom prst="rect">
            <a:avLst/>
          </a:prstGeom>
          <a:noFill/>
        </p:spPr>
        <p:txBody>
          <a:bodyPr wrap="square">
            <a:spAutoFit/>
          </a:bodyPr>
          <a:lstStyle/>
          <a:p>
            <a:pPr algn="l"/>
            <a:r>
              <a:rPr sz="2800" b="1" i="0">
                <a:solidFill>
                  <a:srgbClr val="FFFFFF"/>
                </a:solidFill>
                <a:latin typeface="Calibri"/>
              </a:rPr>
              <a:t>Why These Weights? (30 / 25 / 15 / 15 / 15)</a:t>
            </a:r>
          </a:p>
        </p:txBody>
      </p:sp>
      <p:sp>
        <p:nvSpPr>
          <p:cNvPr id="7" name="TextBox 6"/>
          <p:cNvSpPr txBox="1"/>
          <p:nvPr/>
        </p:nvSpPr>
        <p:spPr>
          <a:xfrm>
            <a:off x="1479754" y="1335024"/>
            <a:ext cx="8229600" cy="365760"/>
          </a:xfrm>
          <a:prstGeom prst="rect">
            <a:avLst/>
          </a:prstGeom>
          <a:noFill/>
        </p:spPr>
        <p:txBody>
          <a:bodyPr wrap="square">
            <a:spAutoFit/>
          </a:bodyPr>
          <a:lstStyle/>
          <a:p>
            <a:pPr algn="l"/>
            <a:r>
              <a:rPr sz="1200" b="0" i="0">
                <a:solidFill>
                  <a:srgbClr val="4A5A6B"/>
                </a:solidFill>
                <a:latin typeface="Calibri"/>
              </a:rPr>
              <a:t>The weight distribution reflects relative regulatory and operational impact</a:t>
            </a:r>
          </a:p>
        </p:txBody>
      </p:sp>
      <p:sp>
        <p:nvSpPr>
          <p:cNvPr id="8" name="TextBox 7"/>
          <p:cNvSpPr txBox="1"/>
          <p:nvPr/>
        </p:nvSpPr>
        <p:spPr>
          <a:xfrm>
            <a:off x="9144000" y="137160"/>
            <a:ext cx="2743200" cy="274320"/>
          </a:xfrm>
          <a:prstGeom prst="rect">
            <a:avLst/>
          </a:prstGeom>
          <a:noFill/>
        </p:spPr>
        <p:txBody>
          <a:bodyPr wrap="square">
            <a:spAutoFit/>
          </a:bodyPr>
          <a:lstStyle/>
          <a:p>
            <a:pPr algn="r"/>
            <a:r>
              <a:rPr sz="1100" b="1" i="0">
                <a:solidFill>
                  <a:srgbClr val="FFFFFF"/>
                </a:solidFill>
                <a:latin typeface="Calibri"/>
              </a:rPr>
              <a:t>Optiv Consulting</a:t>
            </a:r>
          </a:p>
        </p:txBody>
      </p:sp>
      <p:sp>
        <p:nvSpPr>
          <p:cNvPr id="9" name="TextBox 8"/>
          <p:cNvSpPr txBox="1"/>
          <p:nvPr/>
        </p:nvSpPr>
        <p:spPr>
          <a:xfrm>
            <a:off x="9144000" y="384048"/>
            <a:ext cx="2926080" cy="274320"/>
          </a:xfrm>
          <a:prstGeom prst="rect">
            <a:avLst/>
          </a:prstGeom>
          <a:noFill/>
        </p:spPr>
        <p:txBody>
          <a:bodyPr wrap="square">
            <a:spAutoFit/>
          </a:bodyPr>
          <a:lstStyle/>
          <a:p>
            <a:pPr algn="r"/>
            <a:r>
              <a:rPr sz="800" b="0" i="0">
                <a:solidFill>
                  <a:srgbClr val="F2F4F8"/>
                </a:solidFill>
                <a:latin typeface="Calibri"/>
              </a:rPr>
              <a:t>[formerly part of Optiv Security]</a:t>
            </a:r>
          </a:p>
        </p:txBody>
      </p:sp>
      <p:sp>
        <p:nvSpPr>
          <p:cNvPr id="10" name="Rectangle 9"/>
          <p:cNvSpPr/>
          <p:nvPr/>
        </p:nvSpPr>
        <p:spPr>
          <a:xfrm>
            <a:off x="365760" y="1645920"/>
            <a:ext cx="11430000" cy="438912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1828800"/>
            <a:ext cx="2743200" cy="365760"/>
          </a:xfrm>
          <a:prstGeom prst="rect">
            <a:avLst/>
          </a:prstGeom>
          <a:noFill/>
        </p:spPr>
        <p:txBody>
          <a:bodyPr wrap="square">
            <a:spAutoFit/>
          </a:bodyPr>
          <a:lstStyle/>
          <a:p>
            <a:pPr algn="l"/>
            <a:r>
              <a:rPr sz="1000" b="1" i="0">
                <a:solidFill>
                  <a:srgbClr val="0D1B3E"/>
                </a:solidFill>
                <a:latin typeface="Calibri"/>
              </a:rPr>
              <a:t>Operational Dependency</a:t>
            </a:r>
          </a:p>
        </p:txBody>
      </p:sp>
      <p:sp>
        <p:nvSpPr>
          <p:cNvPr id="12" name="Rectangle 11"/>
          <p:cNvSpPr/>
          <p:nvPr/>
        </p:nvSpPr>
        <p:spPr>
          <a:xfrm>
            <a:off x="3383280" y="1865376"/>
            <a:ext cx="6035040" cy="347472"/>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509760" y="1901952"/>
            <a:ext cx="548640" cy="274320"/>
          </a:xfrm>
          <a:prstGeom prst="rect">
            <a:avLst/>
          </a:prstGeom>
          <a:noFill/>
        </p:spPr>
        <p:txBody>
          <a:bodyPr wrap="square">
            <a:spAutoFit/>
          </a:bodyPr>
          <a:lstStyle/>
          <a:p>
            <a:pPr algn="l"/>
            <a:r>
              <a:rPr sz="1100" b="1" i="0">
                <a:solidFill>
                  <a:srgbClr val="E05A0E"/>
                </a:solidFill>
                <a:latin typeface="Calibri"/>
              </a:rPr>
              <a:t>30%</a:t>
            </a:r>
          </a:p>
        </p:txBody>
      </p:sp>
      <p:sp>
        <p:nvSpPr>
          <p:cNvPr id="14" name="TextBox 13"/>
          <p:cNvSpPr txBox="1"/>
          <p:nvPr/>
        </p:nvSpPr>
        <p:spPr>
          <a:xfrm>
            <a:off x="3566160" y="1903476"/>
            <a:ext cx="7040880" cy="230832"/>
          </a:xfrm>
          <a:prstGeom prst="rect">
            <a:avLst/>
          </a:prstGeom>
          <a:noFill/>
        </p:spPr>
        <p:txBody>
          <a:bodyPr wrap="square">
            <a:spAutoFit/>
          </a:bodyPr>
          <a:lstStyle/>
          <a:p>
            <a:pPr algn="l"/>
            <a:r>
              <a:rPr sz="900" b="0" i="0">
                <a:solidFill>
                  <a:schemeClr val="bg1"/>
                </a:solidFill>
                <a:latin typeface="Calibri"/>
              </a:rPr>
              <a:t>Primary driver per OCC 2013-29. If this vendor fails and Meridian stops, no other factor matters.</a:t>
            </a:r>
          </a:p>
        </p:txBody>
      </p:sp>
      <p:sp>
        <p:nvSpPr>
          <p:cNvPr id="15" name="TextBox 14"/>
          <p:cNvSpPr txBox="1"/>
          <p:nvPr/>
        </p:nvSpPr>
        <p:spPr>
          <a:xfrm>
            <a:off x="548640" y="2633472"/>
            <a:ext cx="2743200" cy="365760"/>
          </a:xfrm>
          <a:prstGeom prst="rect">
            <a:avLst/>
          </a:prstGeom>
          <a:noFill/>
        </p:spPr>
        <p:txBody>
          <a:bodyPr wrap="square">
            <a:spAutoFit/>
          </a:bodyPr>
          <a:lstStyle/>
          <a:p>
            <a:pPr algn="l"/>
            <a:r>
              <a:rPr sz="1000" b="1" i="0">
                <a:solidFill>
                  <a:srgbClr val="0D1B3E"/>
                </a:solidFill>
                <a:latin typeface="Calibri"/>
              </a:rPr>
              <a:t>Data Sensitivity</a:t>
            </a:r>
          </a:p>
        </p:txBody>
      </p:sp>
      <p:sp>
        <p:nvSpPr>
          <p:cNvPr id="16" name="Rectangle 15"/>
          <p:cNvSpPr/>
          <p:nvPr/>
        </p:nvSpPr>
        <p:spPr>
          <a:xfrm>
            <a:off x="3383280" y="2670048"/>
            <a:ext cx="5029200" cy="347472"/>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03919" y="2706624"/>
            <a:ext cx="548640" cy="274320"/>
          </a:xfrm>
          <a:prstGeom prst="rect">
            <a:avLst/>
          </a:prstGeom>
          <a:noFill/>
        </p:spPr>
        <p:txBody>
          <a:bodyPr wrap="square">
            <a:spAutoFit/>
          </a:bodyPr>
          <a:lstStyle/>
          <a:p>
            <a:pPr algn="l"/>
            <a:r>
              <a:rPr sz="1100" b="1" i="0">
                <a:solidFill>
                  <a:srgbClr val="0D1B3E"/>
                </a:solidFill>
                <a:latin typeface="Calibri"/>
              </a:rPr>
              <a:t>25%</a:t>
            </a:r>
          </a:p>
        </p:txBody>
      </p:sp>
      <p:sp>
        <p:nvSpPr>
          <p:cNvPr id="18" name="TextBox 17"/>
          <p:cNvSpPr txBox="1"/>
          <p:nvPr/>
        </p:nvSpPr>
        <p:spPr>
          <a:xfrm>
            <a:off x="3429000" y="2670048"/>
            <a:ext cx="4937760" cy="369332"/>
          </a:xfrm>
          <a:prstGeom prst="rect">
            <a:avLst/>
          </a:prstGeom>
          <a:noFill/>
        </p:spPr>
        <p:txBody>
          <a:bodyPr wrap="square">
            <a:spAutoFit/>
          </a:bodyPr>
          <a:lstStyle/>
          <a:p>
            <a:pPr algn="l"/>
            <a:r>
              <a:rPr sz="900" b="0" i="0" dirty="0">
                <a:solidFill>
                  <a:schemeClr val="bg1"/>
                </a:solidFill>
                <a:latin typeface="Calibri"/>
              </a:rPr>
              <a:t>GLBA + FFIEC mandate elevated scrutiny for customer financial PII. Second-largest because breach = direct customer harm.</a:t>
            </a:r>
          </a:p>
        </p:txBody>
      </p:sp>
      <p:sp>
        <p:nvSpPr>
          <p:cNvPr id="19" name="TextBox 18"/>
          <p:cNvSpPr txBox="1"/>
          <p:nvPr/>
        </p:nvSpPr>
        <p:spPr>
          <a:xfrm>
            <a:off x="548640" y="3438144"/>
            <a:ext cx="2743200" cy="365760"/>
          </a:xfrm>
          <a:prstGeom prst="rect">
            <a:avLst/>
          </a:prstGeom>
          <a:noFill/>
        </p:spPr>
        <p:txBody>
          <a:bodyPr wrap="square">
            <a:spAutoFit/>
          </a:bodyPr>
          <a:lstStyle/>
          <a:p>
            <a:pPr algn="l"/>
            <a:r>
              <a:rPr sz="1000" b="1" i="0">
                <a:solidFill>
                  <a:srgbClr val="0D1B3E"/>
                </a:solidFill>
                <a:latin typeface="Calibri"/>
              </a:rPr>
              <a:t>Payment / Financial Flow</a:t>
            </a:r>
          </a:p>
        </p:txBody>
      </p:sp>
      <p:sp>
        <p:nvSpPr>
          <p:cNvPr id="20" name="Rectangle 19"/>
          <p:cNvSpPr/>
          <p:nvPr/>
        </p:nvSpPr>
        <p:spPr>
          <a:xfrm>
            <a:off x="3383280" y="3474720"/>
            <a:ext cx="3017520" cy="347472"/>
          </a:xfrm>
          <a:prstGeom prst="rect">
            <a:avLst/>
          </a:prstGeom>
          <a:solidFill>
            <a:srgbClr val="226A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92240" y="3511296"/>
            <a:ext cx="548640" cy="274320"/>
          </a:xfrm>
          <a:prstGeom prst="rect">
            <a:avLst/>
          </a:prstGeom>
          <a:noFill/>
        </p:spPr>
        <p:txBody>
          <a:bodyPr wrap="square">
            <a:spAutoFit/>
          </a:bodyPr>
          <a:lstStyle/>
          <a:p>
            <a:pPr algn="l"/>
            <a:r>
              <a:rPr sz="1100" b="1" i="0">
                <a:solidFill>
                  <a:srgbClr val="226AA8"/>
                </a:solidFill>
                <a:latin typeface="Calibri"/>
              </a:rPr>
              <a:t>15%</a:t>
            </a:r>
          </a:p>
        </p:txBody>
      </p:sp>
      <p:sp>
        <p:nvSpPr>
          <p:cNvPr id="22" name="TextBox 21"/>
          <p:cNvSpPr txBox="1"/>
          <p:nvPr/>
        </p:nvSpPr>
        <p:spPr>
          <a:xfrm>
            <a:off x="3383280" y="3474720"/>
            <a:ext cx="2926080" cy="369332"/>
          </a:xfrm>
          <a:prstGeom prst="rect">
            <a:avLst/>
          </a:prstGeom>
          <a:noFill/>
        </p:spPr>
        <p:txBody>
          <a:bodyPr wrap="square">
            <a:spAutoFit/>
          </a:bodyPr>
          <a:lstStyle/>
          <a:p>
            <a:pPr algn="l"/>
            <a:r>
              <a:rPr sz="900" b="0" i="0" dirty="0">
                <a:solidFill>
                  <a:schemeClr val="bg1"/>
                </a:solidFill>
                <a:latin typeface="Calibri"/>
              </a:rPr>
              <a:t>Payment rails deserve weight but failure is contained to transaction execution, not systemic collapse.</a:t>
            </a:r>
          </a:p>
        </p:txBody>
      </p:sp>
      <p:sp>
        <p:nvSpPr>
          <p:cNvPr id="23" name="TextBox 22"/>
          <p:cNvSpPr txBox="1"/>
          <p:nvPr/>
        </p:nvSpPr>
        <p:spPr>
          <a:xfrm>
            <a:off x="548640" y="4242816"/>
            <a:ext cx="2743200" cy="365760"/>
          </a:xfrm>
          <a:prstGeom prst="rect">
            <a:avLst/>
          </a:prstGeom>
          <a:noFill/>
        </p:spPr>
        <p:txBody>
          <a:bodyPr wrap="square">
            <a:spAutoFit/>
          </a:bodyPr>
          <a:lstStyle/>
          <a:p>
            <a:pPr algn="l"/>
            <a:r>
              <a:rPr sz="1000" b="1" i="0">
                <a:solidFill>
                  <a:srgbClr val="0D1B3E"/>
                </a:solidFill>
                <a:latin typeface="Calibri"/>
              </a:rPr>
              <a:t>Regulatory Exposure</a:t>
            </a:r>
          </a:p>
        </p:txBody>
      </p:sp>
      <p:sp>
        <p:nvSpPr>
          <p:cNvPr id="24" name="Rectangle 23"/>
          <p:cNvSpPr/>
          <p:nvPr/>
        </p:nvSpPr>
        <p:spPr>
          <a:xfrm>
            <a:off x="3383280" y="4279392"/>
            <a:ext cx="3017520" cy="347472"/>
          </a:xfrm>
          <a:prstGeom prst="rect">
            <a:avLst/>
          </a:prstGeom>
          <a:solidFill>
            <a:srgbClr val="226A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92240" y="4315968"/>
            <a:ext cx="548640" cy="274320"/>
          </a:xfrm>
          <a:prstGeom prst="rect">
            <a:avLst/>
          </a:prstGeom>
          <a:noFill/>
        </p:spPr>
        <p:txBody>
          <a:bodyPr wrap="square">
            <a:spAutoFit/>
          </a:bodyPr>
          <a:lstStyle/>
          <a:p>
            <a:pPr algn="l"/>
            <a:r>
              <a:rPr sz="1100" b="1" i="0">
                <a:solidFill>
                  <a:srgbClr val="226AA8"/>
                </a:solidFill>
                <a:latin typeface="Calibri"/>
              </a:rPr>
              <a:t>15%</a:t>
            </a:r>
          </a:p>
        </p:txBody>
      </p:sp>
      <p:sp>
        <p:nvSpPr>
          <p:cNvPr id="26" name="TextBox 25"/>
          <p:cNvSpPr txBox="1"/>
          <p:nvPr/>
        </p:nvSpPr>
        <p:spPr>
          <a:xfrm>
            <a:off x="3429000" y="4244848"/>
            <a:ext cx="2926080" cy="369332"/>
          </a:xfrm>
          <a:prstGeom prst="rect">
            <a:avLst/>
          </a:prstGeom>
          <a:noFill/>
        </p:spPr>
        <p:txBody>
          <a:bodyPr wrap="square">
            <a:spAutoFit/>
          </a:bodyPr>
          <a:lstStyle/>
          <a:p>
            <a:pPr algn="l"/>
            <a:r>
              <a:rPr sz="900" b="0" i="0">
                <a:solidFill>
                  <a:schemeClr val="bg1"/>
                </a:solidFill>
                <a:latin typeface="Calibri"/>
              </a:rPr>
              <a:t>Amplifies risk from above factors. OCC examines TPRM at exam time but regulatory risk is conditional.</a:t>
            </a:r>
          </a:p>
        </p:txBody>
      </p:sp>
      <p:sp>
        <p:nvSpPr>
          <p:cNvPr id="27" name="TextBox 26"/>
          <p:cNvSpPr txBox="1"/>
          <p:nvPr/>
        </p:nvSpPr>
        <p:spPr>
          <a:xfrm>
            <a:off x="548640" y="5047488"/>
            <a:ext cx="2743200" cy="365760"/>
          </a:xfrm>
          <a:prstGeom prst="rect">
            <a:avLst/>
          </a:prstGeom>
          <a:noFill/>
        </p:spPr>
        <p:txBody>
          <a:bodyPr wrap="square">
            <a:spAutoFit/>
          </a:bodyPr>
          <a:lstStyle/>
          <a:p>
            <a:pPr algn="l"/>
            <a:r>
              <a:rPr sz="1000" b="1" i="0">
                <a:solidFill>
                  <a:srgbClr val="0D1B3E"/>
                </a:solidFill>
                <a:latin typeface="Calibri"/>
              </a:rPr>
              <a:t>Downstream Vulnerability</a:t>
            </a:r>
          </a:p>
        </p:txBody>
      </p:sp>
      <p:sp>
        <p:nvSpPr>
          <p:cNvPr id="28" name="Rectangle 27"/>
          <p:cNvSpPr/>
          <p:nvPr/>
        </p:nvSpPr>
        <p:spPr>
          <a:xfrm>
            <a:off x="3383280" y="5084064"/>
            <a:ext cx="3017520" cy="347472"/>
          </a:xfrm>
          <a:prstGeom prst="rect">
            <a:avLst/>
          </a:prstGeom>
          <a:solidFill>
            <a:srgbClr val="226A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92240" y="5120640"/>
            <a:ext cx="548640" cy="274320"/>
          </a:xfrm>
          <a:prstGeom prst="rect">
            <a:avLst/>
          </a:prstGeom>
          <a:noFill/>
        </p:spPr>
        <p:txBody>
          <a:bodyPr wrap="square">
            <a:spAutoFit/>
          </a:bodyPr>
          <a:lstStyle/>
          <a:p>
            <a:pPr algn="l"/>
            <a:r>
              <a:rPr sz="1100" b="1" i="0">
                <a:solidFill>
                  <a:srgbClr val="226AA8"/>
                </a:solidFill>
                <a:latin typeface="Calibri"/>
              </a:rPr>
              <a:t>15%</a:t>
            </a:r>
          </a:p>
        </p:txBody>
      </p:sp>
      <p:sp>
        <p:nvSpPr>
          <p:cNvPr id="30" name="TextBox 29"/>
          <p:cNvSpPr txBox="1"/>
          <p:nvPr/>
        </p:nvSpPr>
        <p:spPr>
          <a:xfrm>
            <a:off x="3455874" y="5071380"/>
            <a:ext cx="2809240" cy="369332"/>
          </a:xfrm>
          <a:prstGeom prst="rect">
            <a:avLst/>
          </a:prstGeom>
          <a:noFill/>
        </p:spPr>
        <p:txBody>
          <a:bodyPr wrap="square">
            <a:spAutoFit/>
          </a:bodyPr>
          <a:lstStyle/>
          <a:p>
            <a:pPr algn="l"/>
            <a:r>
              <a:rPr sz="900" b="0" i="0" dirty="0">
                <a:solidFill>
                  <a:schemeClr val="bg1"/>
                </a:solidFill>
                <a:latin typeface="Calibri"/>
              </a:rPr>
              <a:t>Cascading failure is real but rarely primary. Weighted equally with Payment and Regulatory exposure.</a:t>
            </a:r>
          </a:p>
        </p:txBody>
      </p:sp>
      <p:sp>
        <p:nvSpPr>
          <p:cNvPr id="31" name="TextBox 30"/>
          <p:cNvSpPr txBox="1"/>
          <p:nvPr/>
        </p:nvSpPr>
        <p:spPr>
          <a:xfrm>
            <a:off x="365760" y="6172200"/>
            <a:ext cx="11430000" cy="594360"/>
          </a:xfrm>
          <a:prstGeom prst="rect">
            <a:avLst/>
          </a:prstGeom>
          <a:noFill/>
        </p:spPr>
        <p:txBody>
          <a:bodyPr wrap="square">
            <a:spAutoFit/>
          </a:bodyPr>
          <a:lstStyle/>
          <a:p>
            <a:pPr algn="l"/>
            <a:r>
              <a:rPr sz="1000" b="0" i="0">
                <a:solidFill>
                  <a:srgbClr val="0D1B3E"/>
                </a:solidFill>
                <a:latin typeface="Calibri"/>
              </a:rPr>
              <a:t>Weights sum to 100% and were calibrated so a vendor at maximum OD alone (0.30 raw) cannot reach CRITICAL (≥0.80). CRITICAL requires combined elevation across at least 3 factors — preventing single-factor gaming.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417320"/>
            <a:ext cx="914400" cy="54864"/>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1440"/>
            <a:ext cx="5486400" cy="365760"/>
          </a:xfrm>
          <a:prstGeom prst="rect">
            <a:avLst/>
          </a:prstGeom>
          <a:noFill/>
        </p:spPr>
        <p:txBody>
          <a:bodyPr wrap="square">
            <a:spAutoFit/>
          </a:bodyPr>
          <a:lstStyle/>
          <a:p>
            <a:pPr algn="l"/>
            <a:r>
              <a:rPr sz="900" b="0" i="0">
                <a:solidFill>
                  <a:srgbClr val="E05A0E"/>
                </a:solidFill>
                <a:latin typeface="Calibri"/>
              </a:rPr>
              <a:t>EXPECTED OUTCOME 04</a:t>
            </a:r>
          </a:p>
        </p:txBody>
      </p:sp>
      <p:sp>
        <p:nvSpPr>
          <p:cNvPr id="6" name="TextBox 5"/>
          <p:cNvSpPr txBox="1"/>
          <p:nvPr/>
        </p:nvSpPr>
        <p:spPr>
          <a:xfrm>
            <a:off x="457200" y="411480"/>
            <a:ext cx="8229600" cy="731520"/>
          </a:xfrm>
          <a:prstGeom prst="rect">
            <a:avLst/>
          </a:prstGeom>
          <a:noFill/>
        </p:spPr>
        <p:txBody>
          <a:bodyPr wrap="square">
            <a:spAutoFit/>
          </a:bodyPr>
          <a:lstStyle/>
          <a:p>
            <a:pPr algn="l"/>
            <a:r>
              <a:rPr sz="2800" b="1" i="0">
                <a:solidFill>
                  <a:srgbClr val="FFFFFF"/>
                </a:solidFill>
                <a:latin typeface="Calibri"/>
              </a:rPr>
              <a:t>Criticality Ratings — All 6 Vendors</a:t>
            </a:r>
          </a:p>
        </p:txBody>
      </p:sp>
      <p:sp>
        <p:nvSpPr>
          <p:cNvPr id="7" name="TextBox 6"/>
          <p:cNvSpPr txBox="1"/>
          <p:nvPr/>
        </p:nvSpPr>
        <p:spPr>
          <a:xfrm>
            <a:off x="457200" y="1481328"/>
            <a:ext cx="8229600" cy="365760"/>
          </a:xfrm>
          <a:prstGeom prst="rect">
            <a:avLst/>
          </a:prstGeom>
          <a:noFill/>
        </p:spPr>
        <p:txBody>
          <a:bodyPr wrap="square">
            <a:spAutoFit/>
          </a:bodyPr>
          <a:lstStyle/>
          <a:p>
            <a:pPr algn="l"/>
            <a:r>
              <a:rPr sz="1200" b="0" i="0">
                <a:solidFill>
                  <a:srgbClr val="4A5A6B"/>
                </a:solidFill>
                <a:latin typeface="Calibri"/>
              </a:rPr>
              <a:t>Factor scores, raw scores, escalation rules, and final tier</a:t>
            </a:r>
          </a:p>
        </p:txBody>
      </p:sp>
      <p:sp>
        <p:nvSpPr>
          <p:cNvPr id="8" name="TextBox 7"/>
          <p:cNvSpPr txBox="1"/>
          <p:nvPr/>
        </p:nvSpPr>
        <p:spPr>
          <a:xfrm>
            <a:off x="9144000" y="137160"/>
            <a:ext cx="2743200" cy="274320"/>
          </a:xfrm>
          <a:prstGeom prst="rect">
            <a:avLst/>
          </a:prstGeom>
          <a:noFill/>
        </p:spPr>
        <p:txBody>
          <a:bodyPr wrap="square">
            <a:spAutoFit/>
          </a:bodyPr>
          <a:lstStyle/>
          <a:p>
            <a:pPr algn="r"/>
            <a:r>
              <a:rPr sz="1100" b="1" i="0">
                <a:solidFill>
                  <a:srgbClr val="FFFFFF"/>
                </a:solidFill>
                <a:latin typeface="Calibri"/>
              </a:rPr>
              <a:t>Optiv Consulting</a:t>
            </a:r>
          </a:p>
        </p:txBody>
      </p:sp>
      <p:sp>
        <p:nvSpPr>
          <p:cNvPr id="9" name="TextBox 8"/>
          <p:cNvSpPr txBox="1"/>
          <p:nvPr/>
        </p:nvSpPr>
        <p:spPr>
          <a:xfrm>
            <a:off x="9144000" y="384048"/>
            <a:ext cx="2926080" cy="274320"/>
          </a:xfrm>
          <a:prstGeom prst="rect">
            <a:avLst/>
          </a:prstGeom>
          <a:noFill/>
        </p:spPr>
        <p:txBody>
          <a:bodyPr wrap="square">
            <a:spAutoFit/>
          </a:bodyPr>
          <a:lstStyle/>
          <a:p>
            <a:pPr algn="r"/>
            <a:r>
              <a:rPr sz="800" b="0" i="0">
                <a:solidFill>
                  <a:srgbClr val="F2F4F8"/>
                </a:solidFill>
                <a:latin typeface="Calibri"/>
              </a:rPr>
              <a:t>[formerly part of Optiv Security]</a:t>
            </a:r>
          </a:p>
        </p:txBody>
      </p:sp>
      <p:graphicFrame>
        <p:nvGraphicFramePr>
          <p:cNvPr id="10" name="Table 9"/>
          <p:cNvGraphicFramePr>
            <a:graphicFrameLocks noGrp="1"/>
          </p:cNvGraphicFramePr>
          <p:nvPr>
            <p:extLst>
              <p:ext uri="{D42A27DB-BD31-4B8C-83A1-F6EECF244321}">
                <p14:modId xmlns:p14="http://schemas.microsoft.com/office/powerpoint/2010/main" val="3609116404"/>
              </p:ext>
            </p:extLst>
          </p:nvPr>
        </p:nvGraphicFramePr>
        <p:xfrm>
          <a:off x="274320" y="1755648"/>
          <a:ext cx="10652760" cy="43891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777240">
                  <a:extLst>
                    <a:ext uri="{9D8B030D-6E8A-4147-A177-3AD203B41FA5}">
                      <a16:colId xmlns:a16="http://schemas.microsoft.com/office/drawing/2014/main" val="20005"/>
                    </a:ext>
                  </a:extLst>
                </a:gridCol>
                <a:gridCol w="59436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gridCol w="3063240">
                  <a:extLst>
                    <a:ext uri="{9D8B030D-6E8A-4147-A177-3AD203B41FA5}">
                      <a16:colId xmlns:a16="http://schemas.microsoft.com/office/drawing/2014/main" val="20008"/>
                    </a:ext>
                  </a:extLst>
                </a:gridCol>
              </a:tblGrid>
              <a:tr h="627017">
                <a:tc>
                  <a:txBody>
                    <a:bodyPr/>
                    <a:lstStyle/>
                    <a:p>
                      <a:r>
                        <a:rPr sz="1000" b="1">
                          <a:solidFill>
                            <a:srgbClr val="FFFFFF"/>
                          </a:solidFill>
                          <a:latin typeface="Calibri"/>
                        </a:rPr>
                        <a:t>Vendor</a:t>
                      </a:r>
                    </a:p>
                  </a:txBody>
                  <a:tcPr>
                    <a:solidFill>
                      <a:srgbClr val="0D1B3E"/>
                    </a:solidFill>
                  </a:tcPr>
                </a:tc>
                <a:tc>
                  <a:txBody>
                    <a:bodyPr/>
                    <a:lstStyle/>
                    <a:p>
                      <a:r>
                        <a:rPr sz="1000" b="1">
                          <a:solidFill>
                            <a:srgbClr val="FFFFFF"/>
                          </a:solidFill>
                          <a:latin typeface="Calibri"/>
                        </a:rPr>
                        <a:t>OD 30%</a:t>
                      </a:r>
                    </a:p>
                  </a:txBody>
                  <a:tcPr>
                    <a:solidFill>
                      <a:srgbClr val="0D1B3E"/>
                    </a:solidFill>
                  </a:tcPr>
                </a:tc>
                <a:tc>
                  <a:txBody>
                    <a:bodyPr/>
                    <a:lstStyle/>
                    <a:p>
                      <a:r>
                        <a:rPr sz="1000" b="1">
                          <a:solidFill>
                            <a:srgbClr val="FFFFFF"/>
                          </a:solidFill>
                          <a:latin typeface="Calibri"/>
                        </a:rPr>
                        <a:t>DS 25%</a:t>
                      </a:r>
                    </a:p>
                  </a:txBody>
                  <a:tcPr>
                    <a:solidFill>
                      <a:srgbClr val="0D1B3E"/>
                    </a:solidFill>
                  </a:tcPr>
                </a:tc>
                <a:tc>
                  <a:txBody>
                    <a:bodyPr/>
                    <a:lstStyle/>
                    <a:p>
                      <a:r>
                        <a:rPr sz="1000" b="1">
                          <a:solidFill>
                            <a:srgbClr val="FFFFFF"/>
                          </a:solidFill>
                          <a:latin typeface="Calibri"/>
                        </a:rPr>
                        <a:t>PF 15%</a:t>
                      </a:r>
                    </a:p>
                  </a:txBody>
                  <a:tcPr>
                    <a:solidFill>
                      <a:srgbClr val="0D1B3E"/>
                    </a:solidFill>
                  </a:tcPr>
                </a:tc>
                <a:tc>
                  <a:txBody>
                    <a:bodyPr/>
                    <a:lstStyle/>
                    <a:p>
                      <a:r>
                        <a:rPr sz="1000" b="1">
                          <a:solidFill>
                            <a:srgbClr val="FFFFFF"/>
                          </a:solidFill>
                          <a:latin typeface="Calibri"/>
                        </a:rPr>
                        <a:t>RE 15%</a:t>
                      </a:r>
                    </a:p>
                  </a:txBody>
                  <a:tcPr>
                    <a:solidFill>
                      <a:srgbClr val="0D1B3E"/>
                    </a:solidFill>
                  </a:tcPr>
                </a:tc>
                <a:tc>
                  <a:txBody>
                    <a:bodyPr/>
                    <a:lstStyle/>
                    <a:p>
                      <a:r>
                        <a:rPr sz="1000" b="1">
                          <a:solidFill>
                            <a:srgbClr val="FFFFFF"/>
                          </a:solidFill>
                          <a:latin typeface="Calibri"/>
                        </a:rPr>
                        <a:t>DV 15%</a:t>
                      </a:r>
                    </a:p>
                  </a:txBody>
                  <a:tcPr>
                    <a:solidFill>
                      <a:srgbClr val="0D1B3E"/>
                    </a:solidFill>
                  </a:tcPr>
                </a:tc>
                <a:tc>
                  <a:txBody>
                    <a:bodyPr/>
                    <a:lstStyle/>
                    <a:p>
                      <a:r>
                        <a:rPr sz="1000" b="1">
                          <a:solidFill>
                            <a:srgbClr val="FFFFFF"/>
                          </a:solidFill>
                          <a:latin typeface="Calibri"/>
                        </a:rPr>
                        <a:t>Raw</a:t>
                      </a:r>
                    </a:p>
                  </a:txBody>
                  <a:tcPr>
                    <a:solidFill>
                      <a:srgbClr val="0D1B3E"/>
                    </a:solidFill>
                  </a:tcPr>
                </a:tc>
                <a:tc>
                  <a:txBody>
                    <a:bodyPr/>
                    <a:lstStyle/>
                    <a:p>
                      <a:r>
                        <a:rPr sz="1000" b="1">
                          <a:solidFill>
                            <a:srgbClr val="FFFFFF"/>
                          </a:solidFill>
                          <a:latin typeface="Calibri"/>
                        </a:rPr>
                        <a:t>Final Tier</a:t>
                      </a:r>
                    </a:p>
                  </a:txBody>
                  <a:tcPr>
                    <a:solidFill>
                      <a:srgbClr val="0D1B3E"/>
                    </a:solidFill>
                  </a:tcPr>
                </a:tc>
                <a:tc>
                  <a:txBody>
                    <a:bodyPr/>
                    <a:lstStyle/>
                    <a:p>
                      <a:r>
                        <a:rPr sz="1000" b="1">
                          <a:solidFill>
                            <a:srgbClr val="FFFFFF"/>
                          </a:solidFill>
                          <a:latin typeface="Calibri"/>
                        </a:rPr>
                        <a:t>Escalation</a:t>
                      </a:r>
                    </a:p>
                  </a:txBody>
                  <a:tcPr>
                    <a:solidFill>
                      <a:srgbClr val="0D1B3E"/>
                    </a:solidFill>
                  </a:tcPr>
                </a:tc>
                <a:extLst>
                  <a:ext uri="{0D108BD9-81ED-4DB2-BD59-A6C34878D82A}">
                    <a16:rowId xmlns:a16="http://schemas.microsoft.com/office/drawing/2014/main" val="10000"/>
                  </a:ext>
                </a:extLst>
              </a:tr>
              <a:tr h="627017">
                <a:tc>
                  <a:txBody>
                    <a:bodyPr/>
                    <a:lstStyle/>
                    <a:p>
                      <a:r>
                        <a:rPr sz="900" b="0">
                          <a:solidFill>
                            <a:srgbClr val="0D1B3E"/>
                          </a:solidFill>
                          <a:latin typeface="Calibri"/>
                        </a:rPr>
                        <a:t>AutomWorx (V-001)</a:t>
                      </a:r>
                    </a:p>
                  </a:txBody>
                  <a:tcPr>
                    <a:solidFill>
                      <a:srgbClr val="FFF0CC"/>
                    </a:solidFill>
                  </a:tcPr>
                </a:tc>
                <a:tc>
                  <a:txBody>
                    <a:bodyPr/>
                    <a:lstStyle/>
                    <a:p>
                      <a:r>
                        <a:rPr sz="900" b="0">
                          <a:solidFill>
                            <a:srgbClr val="0D1B3E"/>
                          </a:solidFill>
                          <a:latin typeface="Calibri"/>
                        </a:rPr>
                        <a:t>0.70</a:t>
                      </a:r>
                    </a:p>
                  </a:txBody>
                  <a:tcPr>
                    <a:solidFill>
                      <a:srgbClr val="FFF0CC"/>
                    </a:solidFill>
                  </a:tcPr>
                </a:tc>
                <a:tc>
                  <a:txBody>
                    <a:bodyPr/>
                    <a:lstStyle/>
                    <a:p>
                      <a:r>
                        <a:rPr sz="900" b="0">
                          <a:solidFill>
                            <a:srgbClr val="0D1B3E"/>
                          </a:solidFill>
                          <a:latin typeface="Calibri"/>
                        </a:rPr>
                        <a:t>0.50</a:t>
                      </a:r>
                    </a:p>
                  </a:txBody>
                  <a:tcPr>
                    <a:solidFill>
                      <a:srgbClr val="FFF0CC"/>
                    </a:solidFill>
                  </a:tcPr>
                </a:tc>
                <a:tc>
                  <a:txBody>
                    <a:bodyPr/>
                    <a:lstStyle/>
                    <a:p>
                      <a:r>
                        <a:rPr sz="900" b="0">
                          <a:solidFill>
                            <a:srgbClr val="0D1B3E"/>
                          </a:solidFill>
                          <a:latin typeface="Calibri"/>
                        </a:rPr>
                        <a:t>0.10</a:t>
                      </a:r>
                    </a:p>
                  </a:txBody>
                  <a:tcPr>
                    <a:solidFill>
                      <a:srgbClr val="FFF0CC"/>
                    </a:solidFill>
                  </a:tcPr>
                </a:tc>
                <a:tc>
                  <a:txBody>
                    <a:bodyPr/>
                    <a:lstStyle/>
                    <a:p>
                      <a:r>
                        <a:rPr sz="900" b="0">
                          <a:solidFill>
                            <a:srgbClr val="0D1B3E"/>
                          </a:solidFill>
                          <a:latin typeface="Calibri"/>
                        </a:rPr>
                        <a:t>0.40</a:t>
                      </a:r>
                    </a:p>
                  </a:txBody>
                  <a:tcPr>
                    <a:solidFill>
                      <a:srgbClr val="FFF0CC"/>
                    </a:solidFill>
                  </a:tcPr>
                </a:tc>
                <a:tc>
                  <a:txBody>
                    <a:bodyPr/>
                    <a:lstStyle/>
                    <a:p>
                      <a:r>
                        <a:rPr sz="900" b="0">
                          <a:solidFill>
                            <a:srgbClr val="0D1B3E"/>
                          </a:solidFill>
                          <a:latin typeface="Calibri"/>
                        </a:rPr>
                        <a:t>0.50</a:t>
                      </a:r>
                    </a:p>
                  </a:txBody>
                  <a:tcPr>
                    <a:solidFill>
                      <a:srgbClr val="FFF0CC"/>
                    </a:solidFill>
                  </a:tcPr>
                </a:tc>
                <a:tc>
                  <a:txBody>
                    <a:bodyPr/>
                    <a:lstStyle/>
                    <a:p>
                      <a:r>
                        <a:rPr sz="900" b="0">
                          <a:solidFill>
                            <a:srgbClr val="0D1B3E"/>
                          </a:solidFill>
                          <a:latin typeface="Calibri"/>
                        </a:rPr>
                        <a:t>0.50</a:t>
                      </a:r>
                    </a:p>
                  </a:txBody>
                  <a:tcPr>
                    <a:solidFill>
                      <a:srgbClr val="FFF0CC"/>
                    </a:solidFill>
                  </a:tcPr>
                </a:tc>
                <a:tc>
                  <a:txBody>
                    <a:bodyPr/>
                    <a:lstStyle/>
                    <a:p>
                      <a:r>
                        <a:rPr sz="900" b="0">
                          <a:solidFill>
                            <a:srgbClr val="0D1B3E"/>
                          </a:solidFill>
                          <a:latin typeface="Calibri"/>
                        </a:rPr>
                        <a:t>HIGH</a:t>
                      </a:r>
                    </a:p>
                  </a:txBody>
                  <a:tcPr>
                    <a:solidFill>
                      <a:srgbClr val="FFF0CC"/>
                    </a:solidFill>
                  </a:tcPr>
                </a:tc>
                <a:tc>
                  <a:txBody>
                    <a:bodyPr/>
                    <a:lstStyle/>
                    <a:p>
                      <a:r>
                        <a:rPr sz="900" b="0">
                          <a:solidFill>
                            <a:srgbClr val="0D1B3E"/>
                          </a:solidFill>
                          <a:latin typeface="Calibri"/>
                        </a:rPr>
                        <a:t>privileged_production_access
rule fired</a:t>
                      </a:r>
                    </a:p>
                  </a:txBody>
                  <a:tcPr>
                    <a:solidFill>
                      <a:srgbClr val="FFF0CC"/>
                    </a:solidFill>
                  </a:tcPr>
                </a:tc>
                <a:extLst>
                  <a:ext uri="{0D108BD9-81ED-4DB2-BD59-A6C34878D82A}">
                    <a16:rowId xmlns:a16="http://schemas.microsoft.com/office/drawing/2014/main" val="10001"/>
                  </a:ext>
                </a:extLst>
              </a:tr>
              <a:tr h="627017">
                <a:tc>
                  <a:txBody>
                    <a:bodyPr/>
                    <a:lstStyle/>
                    <a:p>
                      <a:r>
                        <a:rPr sz="900" b="0">
                          <a:solidFill>
                            <a:srgbClr val="0D1B3E"/>
                          </a:solidFill>
                          <a:latin typeface="Calibri"/>
                        </a:rPr>
                        <a:t>Fiserv (V-002)</a:t>
                      </a:r>
                    </a:p>
                  </a:txBody>
                  <a:tcPr>
                    <a:solidFill>
                      <a:srgbClr val="FFE0E0"/>
                    </a:solidFill>
                  </a:tcPr>
                </a:tc>
                <a:tc>
                  <a:txBody>
                    <a:bodyPr/>
                    <a:lstStyle/>
                    <a:p>
                      <a:r>
                        <a:rPr sz="900" b="0">
                          <a:solidFill>
                            <a:srgbClr val="0D1B3E"/>
                          </a:solidFill>
                          <a:latin typeface="Calibri"/>
                        </a:rPr>
                        <a:t>1.00</a:t>
                      </a:r>
                    </a:p>
                  </a:txBody>
                  <a:tcPr>
                    <a:solidFill>
                      <a:srgbClr val="FFE0E0"/>
                    </a:solidFill>
                  </a:tcPr>
                </a:tc>
                <a:tc>
                  <a:txBody>
                    <a:bodyPr/>
                    <a:lstStyle/>
                    <a:p>
                      <a:r>
                        <a:rPr sz="900" b="0">
                          <a:solidFill>
                            <a:srgbClr val="0D1B3E"/>
                          </a:solidFill>
                          <a:latin typeface="Calibri"/>
                        </a:rPr>
                        <a:t>1.00</a:t>
                      </a:r>
                    </a:p>
                  </a:txBody>
                  <a:tcPr>
                    <a:solidFill>
                      <a:srgbClr val="FFE0E0"/>
                    </a:solidFill>
                  </a:tcPr>
                </a:tc>
                <a:tc>
                  <a:txBody>
                    <a:bodyPr/>
                    <a:lstStyle/>
                    <a:p>
                      <a:r>
                        <a:rPr sz="900" b="0">
                          <a:solidFill>
                            <a:srgbClr val="0D1B3E"/>
                          </a:solidFill>
                          <a:latin typeface="Calibri"/>
                        </a:rPr>
                        <a:t>0.80</a:t>
                      </a:r>
                    </a:p>
                  </a:txBody>
                  <a:tcPr>
                    <a:solidFill>
                      <a:srgbClr val="FFE0E0"/>
                    </a:solidFill>
                  </a:tcPr>
                </a:tc>
                <a:tc>
                  <a:txBody>
                    <a:bodyPr/>
                    <a:lstStyle/>
                    <a:p>
                      <a:r>
                        <a:rPr sz="900" b="0">
                          <a:solidFill>
                            <a:srgbClr val="0D1B3E"/>
                          </a:solidFill>
                          <a:latin typeface="Calibri"/>
                        </a:rPr>
                        <a:t>1.00</a:t>
                      </a:r>
                    </a:p>
                  </a:txBody>
                  <a:tcPr>
                    <a:solidFill>
                      <a:srgbClr val="FFE0E0"/>
                    </a:solidFill>
                  </a:tcPr>
                </a:tc>
                <a:tc>
                  <a:txBody>
                    <a:bodyPr/>
                    <a:lstStyle/>
                    <a:p>
                      <a:r>
                        <a:rPr sz="900" b="0">
                          <a:solidFill>
                            <a:srgbClr val="0D1B3E"/>
                          </a:solidFill>
                          <a:latin typeface="Calibri"/>
                        </a:rPr>
                        <a:t>1.00</a:t>
                      </a:r>
                    </a:p>
                  </a:txBody>
                  <a:tcPr>
                    <a:solidFill>
                      <a:srgbClr val="FFE0E0"/>
                    </a:solidFill>
                  </a:tcPr>
                </a:tc>
                <a:tc>
                  <a:txBody>
                    <a:bodyPr/>
                    <a:lstStyle/>
                    <a:p>
                      <a:r>
                        <a:rPr sz="900" b="0">
                          <a:solidFill>
                            <a:srgbClr val="0D1B3E"/>
                          </a:solidFill>
                          <a:latin typeface="Calibri"/>
                        </a:rPr>
                        <a:t>0.98</a:t>
                      </a:r>
                    </a:p>
                  </a:txBody>
                  <a:tcPr>
                    <a:solidFill>
                      <a:srgbClr val="FFE0E0"/>
                    </a:solidFill>
                  </a:tcPr>
                </a:tc>
                <a:tc>
                  <a:txBody>
                    <a:bodyPr/>
                    <a:lstStyle/>
                    <a:p>
                      <a:r>
                        <a:rPr sz="900" b="0">
                          <a:solidFill>
                            <a:srgbClr val="0D1B3E"/>
                          </a:solidFill>
                          <a:latin typeface="Calibri"/>
                        </a:rPr>
                        <a:t>CRITICAL</a:t>
                      </a:r>
                    </a:p>
                  </a:txBody>
                  <a:tcPr>
                    <a:solidFill>
                      <a:srgbClr val="FFE0E0"/>
                    </a:solidFill>
                  </a:tcPr>
                </a:tc>
                <a:tc>
                  <a:txBody>
                    <a:bodyPr/>
                    <a:lstStyle/>
                    <a:p>
                      <a:r>
                        <a:rPr sz="900" b="0">
                          <a:solidFill>
                            <a:srgbClr val="0D1B3E"/>
                          </a:solidFill>
                          <a:latin typeface="Calibri"/>
                        </a:rPr>
                        <a:t>core_banking_system rule
also fired</a:t>
                      </a:r>
                    </a:p>
                  </a:txBody>
                  <a:tcPr>
                    <a:solidFill>
                      <a:srgbClr val="FFE0E0"/>
                    </a:solidFill>
                  </a:tcPr>
                </a:tc>
                <a:extLst>
                  <a:ext uri="{0D108BD9-81ED-4DB2-BD59-A6C34878D82A}">
                    <a16:rowId xmlns:a16="http://schemas.microsoft.com/office/drawing/2014/main" val="10002"/>
                  </a:ext>
                </a:extLst>
              </a:tr>
              <a:tr h="627017">
                <a:tc>
                  <a:txBody>
                    <a:bodyPr/>
                    <a:lstStyle/>
                    <a:p>
                      <a:r>
                        <a:rPr sz="900" b="0">
                          <a:solidFill>
                            <a:srgbClr val="0D1B3E"/>
                          </a:solidFill>
                          <a:latin typeface="Calibri"/>
                        </a:rPr>
                        <a:t>FSSI (V-003)</a:t>
                      </a:r>
                    </a:p>
                  </a:txBody>
                  <a:tcPr>
                    <a:solidFill>
                      <a:srgbClr val="FFF0CC"/>
                    </a:solidFill>
                  </a:tcPr>
                </a:tc>
                <a:tc>
                  <a:txBody>
                    <a:bodyPr/>
                    <a:lstStyle/>
                    <a:p>
                      <a:r>
                        <a:rPr sz="900" b="0">
                          <a:solidFill>
                            <a:srgbClr val="0D1B3E"/>
                          </a:solidFill>
                          <a:latin typeface="Calibri"/>
                        </a:rPr>
                        <a:t>0.70</a:t>
                      </a:r>
                    </a:p>
                  </a:txBody>
                  <a:tcPr>
                    <a:solidFill>
                      <a:srgbClr val="FFF0CC"/>
                    </a:solidFill>
                  </a:tcPr>
                </a:tc>
                <a:tc>
                  <a:txBody>
                    <a:bodyPr/>
                    <a:lstStyle/>
                    <a:p>
                      <a:r>
                        <a:rPr sz="900" b="0">
                          <a:solidFill>
                            <a:srgbClr val="0D1B3E"/>
                          </a:solidFill>
                          <a:latin typeface="Calibri"/>
                        </a:rPr>
                        <a:t>0.60</a:t>
                      </a:r>
                    </a:p>
                  </a:txBody>
                  <a:tcPr>
                    <a:solidFill>
                      <a:srgbClr val="FFF0CC"/>
                    </a:solidFill>
                  </a:tcPr>
                </a:tc>
                <a:tc>
                  <a:txBody>
                    <a:bodyPr/>
                    <a:lstStyle/>
                    <a:p>
                      <a:r>
                        <a:rPr sz="900" b="0">
                          <a:solidFill>
                            <a:srgbClr val="0D1B3E"/>
                          </a:solidFill>
                          <a:latin typeface="Calibri"/>
                        </a:rPr>
                        <a:t>0.20</a:t>
                      </a:r>
                    </a:p>
                  </a:txBody>
                  <a:tcPr>
                    <a:solidFill>
                      <a:srgbClr val="FFF0CC"/>
                    </a:solidFill>
                  </a:tcPr>
                </a:tc>
                <a:tc>
                  <a:txBody>
                    <a:bodyPr/>
                    <a:lstStyle/>
                    <a:p>
                      <a:r>
                        <a:rPr sz="900" b="0">
                          <a:solidFill>
                            <a:srgbClr val="0D1B3E"/>
                          </a:solidFill>
                          <a:latin typeface="Calibri"/>
                        </a:rPr>
                        <a:t>0.60</a:t>
                      </a:r>
                    </a:p>
                  </a:txBody>
                  <a:tcPr>
                    <a:solidFill>
                      <a:srgbClr val="FFF0CC"/>
                    </a:solidFill>
                  </a:tcPr>
                </a:tc>
                <a:tc>
                  <a:txBody>
                    <a:bodyPr/>
                    <a:lstStyle/>
                    <a:p>
                      <a:r>
                        <a:rPr sz="900" b="0">
                          <a:solidFill>
                            <a:srgbClr val="0D1B3E"/>
                          </a:solidFill>
                          <a:latin typeface="Calibri"/>
                        </a:rPr>
                        <a:t>0.60</a:t>
                      </a:r>
                    </a:p>
                  </a:txBody>
                  <a:tcPr>
                    <a:solidFill>
                      <a:srgbClr val="FFF0CC"/>
                    </a:solidFill>
                  </a:tcPr>
                </a:tc>
                <a:tc>
                  <a:txBody>
                    <a:bodyPr/>
                    <a:lstStyle/>
                    <a:p>
                      <a:r>
                        <a:rPr sz="900" b="0">
                          <a:solidFill>
                            <a:srgbClr val="0D1B3E"/>
                          </a:solidFill>
                          <a:latin typeface="Calibri"/>
                        </a:rPr>
                        <a:t>0.60</a:t>
                      </a:r>
                    </a:p>
                  </a:txBody>
                  <a:tcPr>
                    <a:solidFill>
                      <a:srgbClr val="FFF0CC"/>
                    </a:solidFill>
                  </a:tcPr>
                </a:tc>
                <a:tc>
                  <a:txBody>
                    <a:bodyPr/>
                    <a:lstStyle/>
                    <a:p>
                      <a:r>
                        <a:rPr sz="900" b="0">
                          <a:solidFill>
                            <a:srgbClr val="0D1B3E"/>
                          </a:solidFill>
                          <a:latin typeface="Calibri"/>
                        </a:rPr>
                        <a:t>HIGH</a:t>
                      </a:r>
                    </a:p>
                  </a:txBody>
                  <a:tcPr>
                    <a:solidFill>
                      <a:srgbClr val="FFF0CC"/>
                    </a:solidFill>
                  </a:tcPr>
                </a:tc>
                <a:tc>
                  <a:txBody>
                    <a:bodyPr/>
                    <a:lstStyle/>
                    <a:p>
                      <a:r>
                        <a:rPr sz="900" b="0">
                          <a:solidFill>
                            <a:srgbClr val="0D1B3E"/>
                          </a:solidFill>
                          <a:latin typeface="Calibri"/>
                        </a:rPr>
                        <a:t>No escalation
— raw meets HIGH</a:t>
                      </a:r>
                    </a:p>
                  </a:txBody>
                  <a:tcPr>
                    <a:solidFill>
                      <a:srgbClr val="FFF0CC"/>
                    </a:solidFill>
                  </a:tcPr>
                </a:tc>
                <a:extLst>
                  <a:ext uri="{0D108BD9-81ED-4DB2-BD59-A6C34878D82A}">
                    <a16:rowId xmlns:a16="http://schemas.microsoft.com/office/drawing/2014/main" val="10003"/>
                  </a:ext>
                </a:extLst>
              </a:tr>
              <a:tr h="627017">
                <a:tc>
                  <a:txBody>
                    <a:bodyPr/>
                    <a:lstStyle/>
                    <a:p>
                      <a:r>
                        <a:rPr sz="900" b="0">
                          <a:solidFill>
                            <a:srgbClr val="0D1B3E"/>
                          </a:solidFill>
                          <a:latin typeface="Calibri"/>
                        </a:rPr>
                        <a:t>Terrapin (V-004)</a:t>
                      </a:r>
                    </a:p>
                  </a:txBody>
                  <a:tcPr>
                    <a:solidFill>
                      <a:srgbClr val="E0F5E0"/>
                    </a:solidFill>
                  </a:tcPr>
                </a:tc>
                <a:tc>
                  <a:txBody>
                    <a:bodyPr/>
                    <a:lstStyle/>
                    <a:p>
                      <a:r>
                        <a:rPr sz="900" b="0">
                          <a:solidFill>
                            <a:srgbClr val="0D1B3E"/>
                          </a:solidFill>
                          <a:latin typeface="Calibri"/>
                        </a:rPr>
                        <a:t>0.40</a:t>
                      </a:r>
                    </a:p>
                  </a:txBody>
                  <a:tcPr>
                    <a:solidFill>
                      <a:srgbClr val="E0F5E0"/>
                    </a:solidFill>
                  </a:tcPr>
                </a:tc>
                <a:tc>
                  <a:txBody>
                    <a:bodyPr/>
                    <a:lstStyle/>
                    <a:p>
                      <a:r>
                        <a:rPr sz="900" b="0">
                          <a:solidFill>
                            <a:srgbClr val="0D1B3E"/>
                          </a:solidFill>
                          <a:latin typeface="Calibri"/>
                        </a:rPr>
                        <a:t>0.30</a:t>
                      </a:r>
                    </a:p>
                  </a:txBody>
                  <a:tcPr>
                    <a:solidFill>
                      <a:srgbClr val="E0F5E0"/>
                    </a:solidFill>
                  </a:tcPr>
                </a:tc>
                <a:tc>
                  <a:txBody>
                    <a:bodyPr/>
                    <a:lstStyle/>
                    <a:p>
                      <a:r>
                        <a:rPr sz="900" b="0">
                          <a:solidFill>
                            <a:srgbClr val="0D1B3E"/>
                          </a:solidFill>
                          <a:latin typeface="Calibri"/>
                        </a:rPr>
                        <a:t>0.00</a:t>
                      </a:r>
                    </a:p>
                  </a:txBody>
                  <a:tcPr>
                    <a:solidFill>
                      <a:srgbClr val="E0F5E0"/>
                    </a:solidFill>
                  </a:tcPr>
                </a:tc>
                <a:tc>
                  <a:txBody>
                    <a:bodyPr/>
                    <a:lstStyle/>
                    <a:p>
                      <a:r>
                        <a:rPr sz="900" b="0">
                          <a:solidFill>
                            <a:srgbClr val="0D1B3E"/>
                          </a:solidFill>
                          <a:latin typeface="Calibri"/>
                        </a:rPr>
                        <a:t>0.30</a:t>
                      </a:r>
                    </a:p>
                  </a:txBody>
                  <a:tcPr>
                    <a:solidFill>
                      <a:srgbClr val="E0F5E0"/>
                    </a:solidFill>
                  </a:tcPr>
                </a:tc>
                <a:tc>
                  <a:txBody>
                    <a:bodyPr/>
                    <a:lstStyle/>
                    <a:p>
                      <a:r>
                        <a:rPr sz="900" b="0">
                          <a:solidFill>
                            <a:srgbClr val="0D1B3E"/>
                          </a:solidFill>
                          <a:latin typeface="Calibri"/>
                        </a:rPr>
                        <a:t>0.30</a:t>
                      </a:r>
                    </a:p>
                  </a:txBody>
                  <a:tcPr>
                    <a:solidFill>
                      <a:srgbClr val="E0F5E0"/>
                    </a:solidFill>
                  </a:tcPr>
                </a:tc>
                <a:tc>
                  <a:txBody>
                    <a:bodyPr/>
                    <a:lstStyle/>
                    <a:p>
                      <a:r>
                        <a:rPr sz="900" b="0">
                          <a:solidFill>
                            <a:srgbClr val="0D1B3E"/>
                          </a:solidFill>
                          <a:latin typeface="Calibri"/>
                        </a:rPr>
                        <a:t>0.28</a:t>
                      </a:r>
                    </a:p>
                  </a:txBody>
                  <a:tcPr>
                    <a:solidFill>
                      <a:srgbClr val="E0F5E0"/>
                    </a:solidFill>
                  </a:tcPr>
                </a:tc>
                <a:tc>
                  <a:txBody>
                    <a:bodyPr/>
                    <a:lstStyle/>
                    <a:p>
                      <a:r>
                        <a:rPr sz="900" b="0">
                          <a:solidFill>
                            <a:srgbClr val="0D1B3E"/>
                          </a:solidFill>
                          <a:latin typeface="Calibri"/>
                        </a:rPr>
                        <a:t>MEDIUM</a:t>
                      </a:r>
                    </a:p>
                  </a:txBody>
                  <a:tcPr>
                    <a:solidFill>
                      <a:srgbClr val="E0F5E0"/>
                    </a:solidFill>
                  </a:tcPr>
                </a:tc>
                <a:tc>
                  <a:txBody>
                    <a:bodyPr/>
                    <a:lstStyle/>
                    <a:p>
                      <a:r>
                        <a:rPr sz="900" b="0">
                          <a:solidFill>
                            <a:srgbClr val="0D1B3E"/>
                          </a:solidFill>
                          <a:latin typeface="Calibri"/>
                        </a:rPr>
                        <a:t>No escalation
— advisory role</a:t>
                      </a:r>
                    </a:p>
                  </a:txBody>
                  <a:tcPr>
                    <a:solidFill>
                      <a:srgbClr val="E0F5E0"/>
                    </a:solidFill>
                  </a:tcPr>
                </a:tc>
                <a:extLst>
                  <a:ext uri="{0D108BD9-81ED-4DB2-BD59-A6C34878D82A}">
                    <a16:rowId xmlns:a16="http://schemas.microsoft.com/office/drawing/2014/main" val="10004"/>
                  </a:ext>
                </a:extLst>
              </a:tr>
              <a:tr h="627017">
                <a:tc>
                  <a:txBody>
                    <a:bodyPr/>
                    <a:lstStyle/>
                    <a:p>
                      <a:r>
                        <a:rPr sz="900" b="0">
                          <a:solidFill>
                            <a:srgbClr val="0D1B3E"/>
                          </a:solidFill>
                          <a:latin typeface="Calibri"/>
                        </a:rPr>
                        <a:t>BNY (V-005)</a:t>
                      </a:r>
                    </a:p>
                  </a:txBody>
                  <a:tcPr>
                    <a:solidFill>
                      <a:srgbClr val="FFE0E0"/>
                    </a:solidFill>
                  </a:tcPr>
                </a:tc>
                <a:tc>
                  <a:txBody>
                    <a:bodyPr/>
                    <a:lstStyle/>
                    <a:p>
                      <a:r>
                        <a:rPr sz="900" b="0">
                          <a:solidFill>
                            <a:srgbClr val="0D1B3E"/>
                          </a:solidFill>
                          <a:latin typeface="Calibri"/>
                        </a:rPr>
                        <a:t>0.90</a:t>
                      </a:r>
                    </a:p>
                  </a:txBody>
                  <a:tcPr>
                    <a:solidFill>
                      <a:srgbClr val="FFE0E0"/>
                    </a:solidFill>
                  </a:tcPr>
                </a:tc>
                <a:tc>
                  <a:txBody>
                    <a:bodyPr/>
                    <a:lstStyle/>
                    <a:p>
                      <a:r>
                        <a:rPr sz="900" b="0">
                          <a:solidFill>
                            <a:srgbClr val="0D1B3E"/>
                          </a:solidFill>
                          <a:latin typeface="Calibri"/>
                        </a:rPr>
                        <a:t>0.90</a:t>
                      </a:r>
                    </a:p>
                  </a:txBody>
                  <a:tcPr>
                    <a:solidFill>
                      <a:srgbClr val="FFE0E0"/>
                    </a:solidFill>
                  </a:tcPr>
                </a:tc>
                <a:tc>
                  <a:txBody>
                    <a:bodyPr/>
                    <a:lstStyle/>
                    <a:p>
                      <a:r>
                        <a:rPr sz="900" b="0">
                          <a:solidFill>
                            <a:srgbClr val="0D1B3E"/>
                          </a:solidFill>
                          <a:latin typeface="Calibri"/>
                        </a:rPr>
                        <a:t>0.70</a:t>
                      </a:r>
                    </a:p>
                  </a:txBody>
                  <a:tcPr>
                    <a:solidFill>
                      <a:srgbClr val="FFE0E0"/>
                    </a:solidFill>
                  </a:tcPr>
                </a:tc>
                <a:tc>
                  <a:txBody>
                    <a:bodyPr/>
                    <a:lstStyle/>
                    <a:p>
                      <a:r>
                        <a:rPr sz="900" b="0">
                          <a:solidFill>
                            <a:srgbClr val="0D1B3E"/>
                          </a:solidFill>
                          <a:latin typeface="Calibri"/>
                        </a:rPr>
                        <a:t>0.90</a:t>
                      </a:r>
                    </a:p>
                  </a:txBody>
                  <a:tcPr>
                    <a:solidFill>
                      <a:srgbClr val="FFE0E0"/>
                    </a:solidFill>
                  </a:tcPr>
                </a:tc>
                <a:tc>
                  <a:txBody>
                    <a:bodyPr/>
                    <a:lstStyle/>
                    <a:p>
                      <a:r>
                        <a:rPr sz="900" b="0">
                          <a:solidFill>
                            <a:srgbClr val="0D1B3E"/>
                          </a:solidFill>
                          <a:latin typeface="Calibri"/>
                        </a:rPr>
                        <a:t>0.80</a:t>
                      </a:r>
                    </a:p>
                  </a:txBody>
                  <a:tcPr>
                    <a:solidFill>
                      <a:srgbClr val="FFE0E0"/>
                    </a:solidFill>
                  </a:tcPr>
                </a:tc>
                <a:tc>
                  <a:txBody>
                    <a:bodyPr/>
                    <a:lstStyle/>
                    <a:p>
                      <a:r>
                        <a:rPr sz="900" b="0">
                          <a:solidFill>
                            <a:srgbClr val="0D1B3E"/>
                          </a:solidFill>
                          <a:latin typeface="Calibri"/>
                        </a:rPr>
                        <a:t>0.86</a:t>
                      </a:r>
                    </a:p>
                  </a:txBody>
                  <a:tcPr>
                    <a:solidFill>
                      <a:srgbClr val="FFE0E0"/>
                    </a:solidFill>
                  </a:tcPr>
                </a:tc>
                <a:tc>
                  <a:txBody>
                    <a:bodyPr/>
                    <a:lstStyle/>
                    <a:p>
                      <a:r>
                        <a:rPr sz="900" b="0">
                          <a:solidFill>
                            <a:srgbClr val="0D1B3E"/>
                          </a:solidFill>
                          <a:latin typeface="Calibri"/>
                        </a:rPr>
                        <a:t>CRITICAL</a:t>
                      </a:r>
                    </a:p>
                  </a:txBody>
                  <a:tcPr>
                    <a:solidFill>
                      <a:srgbClr val="FFE0E0"/>
                    </a:solidFill>
                  </a:tcPr>
                </a:tc>
                <a:tc>
                  <a:txBody>
                    <a:bodyPr/>
                    <a:lstStyle/>
                    <a:p>
                      <a:r>
                        <a:rPr sz="900" b="0">
                          <a:solidFill>
                            <a:srgbClr val="0D1B3E"/>
                          </a:solidFill>
                          <a:latin typeface="Calibri"/>
                        </a:rPr>
                        <a:t>Wealth custody critical;
confirmed_ai floor fired</a:t>
                      </a:r>
                    </a:p>
                  </a:txBody>
                  <a:tcPr>
                    <a:solidFill>
                      <a:srgbClr val="FFE0E0"/>
                    </a:solidFill>
                  </a:tcPr>
                </a:tc>
                <a:extLst>
                  <a:ext uri="{0D108BD9-81ED-4DB2-BD59-A6C34878D82A}">
                    <a16:rowId xmlns:a16="http://schemas.microsoft.com/office/drawing/2014/main" val="10005"/>
                  </a:ext>
                </a:extLst>
              </a:tr>
              <a:tr h="627018">
                <a:tc>
                  <a:txBody>
                    <a:bodyPr/>
                    <a:lstStyle/>
                    <a:p>
                      <a:r>
                        <a:rPr sz="900" b="0" dirty="0">
                          <a:solidFill>
                            <a:srgbClr val="0D1B3E"/>
                          </a:solidFill>
                          <a:latin typeface="Calibri"/>
                        </a:rPr>
                        <a:t>TCH (V-006)</a:t>
                      </a:r>
                    </a:p>
                  </a:txBody>
                  <a:tcPr>
                    <a:solidFill>
                      <a:srgbClr val="FFE0E0"/>
                    </a:solidFill>
                  </a:tcPr>
                </a:tc>
                <a:tc>
                  <a:txBody>
                    <a:bodyPr/>
                    <a:lstStyle/>
                    <a:p>
                      <a:r>
                        <a:rPr sz="900" b="0">
                          <a:solidFill>
                            <a:srgbClr val="0D1B3E"/>
                          </a:solidFill>
                          <a:latin typeface="Calibri"/>
                        </a:rPr>
                        <a:t>0.95</a:t>
                      </a:r>
                    </a:p>
                  </a:txBody>
                  <a:tcPr>
                    <a:solidFill>
                      <a:srgbClr val="FFE0E0"/>
                    </a:solidFill>
                  </a:tcPr>
                </a:tc>
                <a:tc>
                  <a:txBody>
                    <a:bodyPr/>
                    <a:lstStyle/>
                    <a:p>
                      <a:r>
                        <a:rPr sz="900" b="0" dirty="0">
                          <a:solidFill>
                            <a:srgbClr val="0D1B3E"/>
                          </a:solidFill>
                          <a:latin typeface="Calibri"/>
                        </a:rPr>
                        <a:t>0.70</a:t>
                      </a:r>
                    </a:p>
                  </a:txBody>
                  <a:tcPr>
                    <a:solidFill>
                      <a:srgbClr val="FFE0E0"/>
                    </a:solidFill>
                  </a:tcPr>
                </a:tc>
                <a:tc>
                  <a:txBody>
                    <a:bodyPr/>
                    <a:lstStyle/>
                    <a:p>
                      <a:r>
                        <a:rPr sz="900" b="0">
                          <a:solidFill>
                            <a:srgbClr val="0D1B3E"/>
                          </a:solidFill>
                          <a:latin typeface="Calibri"/>
                        </a:rPr>
                        <a:t>1.00</a:t>
                      </a:r>
                    </a:p>
                  </a:txBody>
                  <a:tcPr>
                    <a:solidFill>
                      <a:srgbClr val="FFE0E0"/>
                    </a:solidFill>
                  </a:tcPr>
                </a:tc>
                <a:tc>
                  <a:txBody>
                    <a:bodyPr/>
                    <a:lstStyle/>
                    <a:p>
                      <a:r>
                        <a:rPr sz="900" b="0">
                          <a:solidFill>
                            <a:srgbClr val="0D1B3E"/>
                          </a:solidFill>
                          <a:latin typeface="Calibri"/>
                        </a:rPr>
                        <a:t>0.90</a:t>
                      </a:r>
                    </a:p>
                  </a:txBody>
                  <a:tcPr>
                    <a:solidFill>
                      <a:srgbClr val="FFE0E0"/>
                    </a:solidFill>
                  </a:tcPr>
                </a:tc>
                <a:tc>
                  <a:txBody>
                    <a:bodyPr/>
                    <a:lstStyle/>
                    <a:p>
                      <a:r>
                        <a:rPr sz="900" b="0">
                          <a:solidFill>
                            <a:srgbClr val="0D1B3E"/>
                          </a:solidFill>
                          <a:latin typeface="Calibri"/>
                        </a:rPr>
                        <a:t>0.90</a:t>
                      </a:r>
                    </a:p>
                  </a:txBody>
                  <a:tcPr>
                    <a:solidFill>
                      <a:srgbClr val="FFE0E0"/>
                    </a:solidFill>
                  </a:tcPr>
                </a:tc>
                <a:tc>
                  <a:txBody>
                    <a:bodyPr/>
                    <a:lstStyle/>
                    <a:p>
                      <a:r>
                        <a:rPr sz="900" b="0">
                          <a:solidFill>
                            <a:srgbClr val="0D1B3E"/>
                          </a:solidFill>
                          <a:latin typeface="Calibri"/>
                        </a:rPr>
                        <a:t>0.90</a:t>
                      </a:r>
                    </a:p>
                  </a:txBody>
                  <a:tcPr>
                    <a:solidFill>
                      <a:srgbClr val="FFE0E0"/>
                    </a:solidFill>
                  </a:tcPr>
                </a:tc>
                <a:tc>
                  <a:txBody>
                    <a:bodyPr/>
                    <a:lstStyle/>
                    <a:p>
                      <a:r>
                        <a:rPr sz="900" b="0">
                          <a:solidFill>
                            <a:srgbClr val="0D1B3E"/>
                          </a:solidFill>
                          <a:latin typeface="Calibri"/>
                        </a:rPr>
                        <a:t>CRITICAL</a:t>
                      </a:r>
                    </a:p>
                  </a:txBody>
                  <a:tcPr>
                    <a:solidFill>
                      <a:srgbClr val="FFE0E0"/>
                    </a:solidFill>
                  </a:tcPr>
                </a:tc>
                <a:tc>
                  <a:txBody>
                    <a:bodyPr/>
                    <a:lstStyle/>
                    <a:p>
                      <a:r>
                        <a:rPr sz="900" b="0" dirty="0" err="1">
                          <a:solidFill>
                            <a:srgbClr val="0D1B3E"/>
                          </a:solidFill>
                          <a:latin typeface="Calibri"/>
                        </a:rPr>
                        <a:t>payment_rail_operator</a:t>
                      </a:r>
                      <a:r>
                        <a:rPr sz="900" b="0" dirty="0">
                          <a:solidFill>
                            <a:srgbClr val="0D1B3E"/>
                          </a:solidFill>
                          <a:latin typeface="Calibri"/>
                        </a:rPr>
                        <a:t>
rule fired</a:t>
                      </a:r>
                    </a:p>
                  </a:txBody>
                  <a:tcPr>
                    <a:solidFill>
                      <a:srgbClr val="FFE0E0"/>
                    </a:solidFill>
                  </a:tcPr>
                </a:tc>
                <a:extLst>
                  <a:ext uri="{0D108BD9-81ED-4DB2-BD59-A6C34878D82A}">
                    <a16:rowId xmlns:a16="http://schemas.microsoft.com/office/drawing/2014/main" val="10006"/>
                  </a:ext>
                </a:extLst>
              </a:tr>
            </a:tbl>
          </a:graphicData>
        </a:graphic>
      </p:graphicFrame>
      <p:sp>
        <p:nvSpPr>
          <p:cNvPr id="11" name="TextBox 10"/>
          <p:cNvSpPr txBox="1"/>
          <p:nvPr/>
        </p:nvSpPr>
        <p:spPr>
          <a:xfrm>
            <a:off x="274320" y="6144768"/>
            <a:ext cx="11612880" cy="457200"/>
          </a:xfrm>
          <a:prstGeom prst="rect">
            <a:avLst/>
          </a:prstGeom>
          <a:noFill/>
        </p:spPr>
        <p:txBody>
          <a:bodyPr wrap="square">
            <a:spAutoFit/>
          </a:bodyPr>
          <a:lstStyle/>
          <a:p>
            <a:pPr algn="l"/>
            <a:r>
              <a:rPr sz="950" b="0" i="1">
                <a:solidFill>
                  <a:srgbClr val="4A5A6B"/>
                </a:solidFill>
                <a:latin typeface="Calibri"/>
              </a:rPr>
              <a:t>Tier thresholds: CRITICAL ≥ 0.80  |  HIGH 0.60–0.79  |  MEDIUM 0.40–0.59  |  LOW &lt; 0.40      3 escalation rules can override raw score upward (never downward).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417320"/>
            <a:ext cx="914400" cy="54864"/>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1440"/>
            <a:ext cx="5486400" cy="365760"/>
          </a:xfrm>
          <a:prstGeom prst="rect">
            <a:avLst/>
          </a:prstGeom>
          <a:noFill/>
        </p:spPr>
        <p:txBody>
          <a:bodyPr wrap="square">
            <a:spAutoFit/>
          </a:bodyPr>
          <a:lstStyle/>
          <a:p>
            <a:pPr algn="l"/>
            <a:r>
              <a:rPr sz="900" b="0" i="0">
                <a:solidFill>
                  <a:srgbClr val="E05A0E"/>
                </a:solidFill>
                <a:latin typeface="Calibri"/>
              </a:rPr>
              <a:t>PIPELINE OUTPUT</a:t>
            </a:r>
          </a:p>
        </p:txBody>
      </p:sp>
      <p:sp>
        <p:nvSpPr>
          <p:cNvPr id="6" name="TextBox 5"/>
          <p:cNvSpPr txBox="1"/>
          <p:nvPr/>
        </p:nvSpPr>
        <p:spPr>
          <a:xfrm>
            <a:off x="457200" y="411480"/>
            <a:ext cx="8229600" cy="731520"/>
          </a:xfrm>
          <a:prstGeom prst="rect">
            <a:avLst/>
          </a:prstGeom>
          <a:noFill/>
        </p:spPr>
        <p:txBody>
          <a:bodyPr wrap="square">
            <a:spAutoFit/>
          </a:bodyPr>
          <a:lstStyle/>
          <a:p>
            <a:pPr algn="l"/>
            <a:r>
              <a:rPr sz="2800" b="1" i="0">
                <a:solidFill>
                  <a:srgbClr val="FFFFFF"/>
                </a:solidFill>
                <a:latin typeface="Calibri"/>
              </a:rPr>
              <a:t>AI Usage Verdicts — All 6 Vendors</a:t>
            </a:r>
          </a:p>
        </p:txBody>
      </p:sp>
      <p:sp>
        <p:nvSpPr>
          <p:cNvPr id="7" name="TextBox 6"/>
          <p:cNvSpPr txBox="1"/>
          <p:nvPr/>
        </p:nvSpPr>
        <p:spPr>
          <a:xfrm>
            <a:off x="457200" y="1481328"/>
            <a:ext cx="8229600" cy="365760"/>
          </a:xfrm>
          <a:prstGeom prst="rect">
            <a:avLst/>
          </a:prstGeom>
          <a:noFill/>
        </p:spPr>
        <p:txBody>
          <a:bodyPr wrap="square">
            <a:spAutoFit/>
          </a:bodyPr>
          <a:lstStyle/>
          <a:p>
            <a:pPr algn="l"/>
            <a:r>
              <a:rPr sz="1200" b="0" i="0">
                <a:solidFill>
                  <a:srgbClr val="4A5A6B"/>
                </a:solidFill>
                <a:latin typeface="Calibri"/>
              </a:rPr>
              <a:t>Deterministic rule-based classification: YES / INCONCLUSIVE / NO</a:t>
            </a:r>
          </a:p>
        </p:txBody>
      </p:sp>
      <p:sp>
        <p:nvSpPr>
          <p:cNvPr id="8" name="TextBox 7"/>
          <p:cNvSpPr txBox="1"/>
          <p:nvPr/>
        </p:nvSpPr>
        <p:spPr>
          <a:xfrm>
            <a:off x="9144000" y="137160"/>
            <a:ext cx="2743200" cy="274320"/>
          </a:xfrm>
          <a:prstGeom prst="rect">
            <a:avLst/>
          </a:prstGeom>
          <a:noFill/>
        </p:spPr>
        <p:txBody>
          <a:bodyPr wrap="square">
            <a:spAutoFit/>
          </a:bodyPr>
          <a:lstStyle/>
          <a:p>
            <a:pPr algn="r"/>
            <a:r>
              <a:rPr sz="1100" b="1" i="0">
                <a:solidFill>
                  <a:srgbClr val="FFFFFF"/>
                </a:solidFill>
                <a:latin typeface="Calibri"/>
              </a:rPr>
              <a:t>Optiv Consulting</a:t>
            </a:r>
          </a:p>
        </p:txBody>
      </p:sp>
      <p:sp>
        <p:nvSpPr>
          <p:cNvPr id="9" name="TextBox 8"/>
          <p:cNvSpPr txBox="1"/>
          <p:nvPr/>
        </p:nvSpPr>
        <p:spPr>
          <a:xfrm>
            <a:off x="9144000" y="384048"/>
            <a:ext cx="2926080" cy="274320"/>
          </a:xfrm>
          <a:prstGeom prst="rect">
            <a:avLst/>
          </a:prstGeom>
          <a:noFill/>
        </p:spPr>
        <p:txBody>
          <a:bodyPr wrap="square">
            <a:spAutoFit/>
          </a:bodyPr>
          <a:lstStyle/>
          <a:p>
            <a:pPr algn="r"/>
            <a:r>
              <a:rPr sz="800" b="0" i="0">
                <a:solidFill>
                  <a:srgbClr val="F2F4F8"/>
                </a:solidFill>
                <a:latin typeface="Calibri"/>
              </a:rPr>
              <a:t>[formerly part of Optiv Security]</a:t>
            </a:r>
          </a:p>
        </p:txBody>
      </p:sp>
      <p:graphicFrame>
        <p:nvGraphicFramePr>
          <p:cNvPr id="10" name="Table 9"/>
          <p:cNvGraphicFramePr>
            <a:graphicFrameLocks noGrp="1"/>
          </p:cNvGraphicFramePr>
          <p:nvPr>
            <p:extLst>
              <p:ext uri="{D42A27DB-BD31-4B8C-83A1-F6EECF244321}">
                <p14:modId xmlns:p14="http://schemas.microsoft.com/office/powerpoint/2010/main" val="2913095268"/>
              </p:ext>
            </p:extLst>
          </p:nvPr>
        </p:nvGraphicFramePr>
        <p:xfrm>
          <a:off x="274320" y="1783080"/>
          <a:ext cx="11612880" cy="448056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5349240">
                  <a:extLst>
                    <a:ext uri="{9D8B030D-6E8A-4147-A177-3AD203B41FA5}">
                      <a16:colId xmlns:a16="http://schemas.microsoft.com/office/drawing/2014/main" val="20004"/>
                    </a:ext>
                  </a:extLst>
                </a:gridCol>
              </a:tblGrid>
              <a:tr h="640080">
                <a:tc>
                  <a:txBody>
                    <a:bodyPr/>
                    <a:lstStyle/>
                    <a:p>
                      <a:r>
                        <a:rPr sz="1000" b="1" dirty="0">
                          <a:solidFill>
                            <a:srgbClr val="FFFFFF"/>
                          </a:solidFill>
                          <a:latin typeface="Calibri"/>
                        </a:rPr>
                        <a:t>Vendor</a:t>
                      </a:r>
                    </a:p>
                  </a:txBody>
                  <a:tcPr>
                    <a:solidFill>
                      <a:srgbClr val="0D1B3E"/>
                    </a:solidFill>
                  </a:tcPr>
                </a:tc>
                <a:tc>
                  <a:txBody>
                    <a:bodyPr/>
                    <a:lstStyle/>
                    <a:p>
                      <a:r>
                        <a:rPr sz="1000" b="1">
                          <a:solidFill>
                            <a:srgbClr val="FFFFFF"/>
                          </a:solidFill>
                          <a:latin typeface="Calibri"/>
                        </a:rPr>
                        <a:t>Verdict</a:t>
                      </a:r>
                    </a:p>
                  </a:txBody>
                  <a:tcPr>
                    <a:solidFill>
                      <a:srgbClr val="0D1B3E"/>
                    </a:solidFill>
                  </a:tcPr>
                </a:tc>
                <a:tc>
                  <a:txBody>
                    <a:bodyPr/>
                    <a:lstStyle/>
                    <a:p>
                      <a:r>
                        <a:rPr sz="1000" b="1">
                          <a:solidFill>
                            <a:srgbClr val="FFFFFF"/>
                          </a:solidFill>
                          <a:latin typeface="Calibri"/>
                        </a:rPr>
                        <a:t>Best Evidence Strength</a:t>
                      </a:r>
                    </a:p>
                  </a:txBody>
                  <a:tcPr>
                    <a:solidFill>
                      <a:srgbClr val="0D1B3E"/>
                    </a:solidFill>
                  </a:tcPr>
                </a:tc>
                <a:tc>
                  <a:txBody>
                    <a:bodyPr/>
                    <a:lstStyle/>
                    <a:p>
                      <a:r>
                        <a:rPr sz="1000" b="1">
                          <a:solidFill>
                            <a:srgbClr val="FFFFFF"/>
                          </a:solidFill>
                          <a:latin typeface="Calibri"/>
                        </a:rPr>
                        <a:t>Nature</a:t>
                      </a:r>
                    </a:p>
                  </a:txBody>
                  <a:tcPr>
                    <a:solidFill>
                      <a:srgbClr val="0D1B3E"/>
                    </a:solidFill>
                  </a:tcPr>
                </a:tc>
                <a:tc>
                  <a:txBody>
                    <a:bodyPr/>
                    <a:lstStyle/>
                    <a:p>
                      <a:r>
                        <a:rPr sz="1000" b="1">
                          <a:solidFill>
                            <a:srgbClr val="FFFFFF"/>
                          </a:solidFill>
                          <a:latin typeface="Calibri"/>
                        </a:rPr>
                        <a:t>Key Finding</a:t>
                      </a:r>
                    </a:p>
                  </a:txBody>
                  <a:tcPr>
                    <a:solidFill>
                      <a:srgbClr val="0D1B3E"/>
                    </a:solidFill>
                  </a:tcPr>
                </a:tc>
                <a:extLst>
                  <a:ext uri="{0D108BD9-81ED-4DB2-BD59-A6C34878D82A}">
                    <a16:rowId xmlns:a16="http://schemas.microsoft.com/office/drawing/2014/main" val="10000"/>
                  </a:ext>
                </a:extLst>
              </a:tr>
              <a:tr h="640080">
                <a:tc>
                  <a:txBody>
                    <a:bodyPr/>
                    <a:lstStyle/>
                    <a:p>
                      <a:r>
                        <a:rPr sz="900" b="0">
                          <a:solidFill>
                            <a:srgbClr val="0D1B3E"/>
                          </a:solidFill>
                          <a:latin typeface="Calibri"/>
                        </a:rPr>
                        <a:t>AutomWorx
(V-001)</a:t>
                      </a:r>
                    </a:p>
                  </a:txBody>
                  <a:tcPr>
                    <a:solidFill>
                      <a:srgbClr val="FFFFFF"/>
                    </a:solidFill>
                  </a:tcPr>
                </a:tc>
                <a:tc>
                  <a:txBody>
                    <a:bodyPr/>
                    <a:lstStyle/>
                    <a:p>
                      <a:r>
                        <a:rPr sz="900" b="0">
                          <a:solidFill>
                            <a:srgbClr val="0D1B3E"/>
                          </a:solidFill>
                          <a:latin typeface="Calibri"/>
                        </a:rPr>
                        <a:t>INCONCLUSIVE</a:t>
                      </a:r>
                    </a:p>
                  </a:txBody>
                  <a:tcPr>
                    <a:solidFill>
                      <a:srgbClr val="FFFFFF"/>
                    </a:solidFill>
                  </a:tcPr>
                </a:tc>
                <a:tc>
                  <a:txBody>
                    <a:bodyPr/>
                    <a:lstStyle/>
                    <a:p>
                      <a:r>
                        <a:rPr sz="900" b="0">
                          <a:solidFill>
                            <a:srgbClr val="0D1B3E"/>
                          </a:solidFill>
                          <a:latin typeface="Calibri"/>
                        </a:rPr>
                        <a:t>42 / 100</a:t>
                      </a:r>
                    </a:p>
                  </a:txBody>
                  <a:tcPr>
                    <a:solidFill>
                      <a:srgbClr val="FFFFFF"/>
                    </a:solidFill>
                  </a:tcPr>
                </a:tc>
                <a:tc>
                  <a:txBody>
                    <a:bodyPr/>
                    <a:lstStyle/>
                    <a:p>
                      <a:r>
                        <a:rPr sz="900" b="0">
                          <a:solidFill>
                            <a:srgbClr val="0D1B3E"/>
                          </a:solidFill>
                          <a:latin typeface="Calibri"/>
                        </a:rPr>
                        <a:t>PARTNER_DEPENDENCY</a:t>
                      </a:r>
                    </a:p>
                  </a:txBody>
                  <a:tcPr>
                    <a:solidFill>
                      <a:srgbClr val="FFFFFF"/>
                    </a:solidFill>
                  </a:tcPr>
                </a:tc>
                <a:tc>
                  <a:txBody>
                    <a:bodyPr/>
                    <a:lstStyle/>
                    <a:p>
                      <a:r>
                        <a:rPr sz="900" b="0">
                          <a:solidFill>
                            <a:srgbClr val="0D1B3E"/>
                          </a:solidFill>
                          <a:latin typeface="Calibri"/>
                        </a:rPr>
                        <a:t>Automic Automation (Broadcom) has AI features; no direct evidence AutomWorx deploys them in Meridian service</a:t>
                      </a:r>
                    </a:p>
                  </a:txBody>
                  <a:tcPr>
                    <a:solidFill>
                      <a:srgbClr val="FFFFFF"/>
                    </a:solidFill>
                  </a:tcPr>
                </a:tc>
                <a:extLst>
                  <a:ext uri="{0D108BD9-81ED-4DB2-BD59-A6C34878D82A}">
                    <a16:rowId xmlns:a16="http://schemas.microsoft.com/office/drawing/2014/main" val="10001"/>
                  </a:ext>
                </a:extLst>
              </a:tr>
              <a:tr h="640080">
                <a:tc>
                  <a:txBody>
                    <a:bodyPr/>
                    <a:lstStyle/>
                    <a:p>
                      <a:r>
                        <a:rPr sz="900" b="0">
                          <a:solidFill>
                            <a:srgbClr val="0D1B3E"/>
                          </a:solidFill>
                          <a:latin typeface="Calibri"/>
                        </a:rPr>
                        <a:t>Fiserv
(V-002)</a:t>
                      </a:r>
                    </a:p>
                  </a:txBody>
                  <a:tcPr>
                    <a:solidFill>
                      <a:srgbClr val="F2F4F8"/>
                    </a:solidFill>
                  </a:tcPr>
                </a:tc>
                <a:tc>
                  <a:txBody>
                    <a:bodyPr/>
                    <a:lstStyle/>
                    <a:p>
                      <a:r>
                        <a:rPr sz="900" b="0">
                          <a:solidFill>
                            <a:srgbClr val="0D1B3E"/>
                          </a:solidFill>
                          <a:latin typeface="Calibri"/>
                        </a:rPr>
                        <a:t>YES</a:t>
                      </a:r>
                    </a:p>
                  </a:txBody>
                  <a:tcPr>
                    <a:solidFill>
                      <a:srgbClr val="F2F4F8"/>
                    </a:solidFill>
                  </a:tcPr>
                </a:tc>
                <a:tc>
                  <a:txBody>
                    <a:bodyPr/>
                    <a:lstStyle/>
                    <a:p>
                      <a:r>
                        <a:rPr sz="900" b="0">
                          <a:solidFill>
                            <a:srgbClr val="0D1B3E"/>
                          </a:solidFill>
                          <a:latin typeface="Calibri"/>
                        </a:rPr>
                        <a:t>88.5 / 100  (≥65 ✓)</a:t>
                      </a:r>
                    </a:p>
                  </a:txBody>
                  <a:tcPr>
                    <a:solidFill>
                      <a:srgbClr val="F2F4F8"/>
                    </a:solidFill>
                  </a:tcPr>
                </a:tc>
                <a:tc>
                  <a:txBody>
                    <a:bodyPr/>
                    <a:lstStyle/>
                    <a:p>
                      <a:r>
                        <a:rPr sz="900" b="0">
                          <a:solidFill>
                            <a:srgbClr val="0D1B3E"/>
                          </a:solidFill>
                          <a:latin typeface="Calibri"/>
                        </a:rPr>
                        <a:t>SERVICE_INTEGRATED</a:t>
                      </a:r>
                    </a:p>
                  </a:txBody>
                  <a:tcPr>
                    <a:solidFill>
                      <a:srgbClr val="F2F4F8"/>
                    </a:solidFill>
                  </a:tcPr>
                </a:tc>
                <a:tc>
                  <a:txBody>
                    <a:bodyPr/>
                    <a:lstStyle/>
                    <a:p>
                      <a:r>
                        <a:rPr sz="900" b="0">
                          <a:solidFill>
                            <a:srgbClr val="0D1B3E"/>
                          </a:solidFill>
                          <a:latin typeface="Calibri"/>
                        </a:rPr>
                        <a:t>fiserv.com/IR: 'Foundry AI powered by Azure OpenAI processed 100bn tokens across FI client base in 2025'</a:t>
                      </a:r>
                    </a:p>
                  </a:txBody>
                  <a:tcPr>
                    <a:solidFill>
                      <a:srgbClr val="F2F4F8"/>
                    </a:solidFill>
                  </a:tcPr>
                </a:tc>
                <a:extLst>
                  <a:ext uri="{0D108BD9-81ED-4DB2-BD59-A6C34878D82A}">
                    <a16:rowId xmlns:a16="http://schemas.microsoft.com/office/drawing/2014/main" val="10002"/>
                  </a:ext>
                </a:extLst>
              </a:tr>
              <a:tr h="640080">
                <a:tc>
                  <a:txBody>
                    <a:bodyPr/>
                    <a:lstStyle/>
                    <a:p>
                      <a:r>
                        <a:rPr sz="900" b="0">
                          <a:solidFill>
                            <a:srgbClr val="0D1B3E"/>
                          </a:solidFill>
                          <a:latin typeface="Calibri"/>
                        </a:rPr>
                        <a:t>FSSI
(V-003)</a:t>
                      </a:r>
                    </a:p>
                  </a:txBody>
                  <a:tcPr>
                    <a:solidFill>
                      <a:srgbClr val="FFFFFF"/>
                    </a:solidFill>
                  </a:tcPr>
                </a:tc>
                <a:tc>
                  <a:txBody>
                    <a:bodyPr/>
                    <a:lstStyle/>
                    <a:p>
                      <a:r>
                        <a:rPr sz="900" b="0">
                          <a:solidFill>
                            <a:srgbClr val="0D1B3E"/>
                          </a:solidFill>
                          <a:latin typeface="Calibri"/>
                        </a:rPr>
                        <a:t>INCONCLUSIVE</a:t>
                      </a:r>
                    </a:p>
                  </a:txBody>
                  <a:tcPr>
                    <a:solidFill>
                      <a:srgbClr val="FFFFFF"/>
                    </a:solidFill>
                  </a:tcPr>
                </a:tc>
                <a:tc>
                  <a:txBody>
                    <a:bodyPr/>
                    <a:lstStyle/>
                    <a:p>
                      <a:r>
                        <a:rPr sz="900" b="0">
                          <a:solidFill>
                            <a:srgbClr val="0D1B3E"/>
                          </a:solidFill>
                          <a:latin typeface="Calibri"/>
                        </a:rPr>
                        <a:t>28 / 100</a:t>
                      </a:r>
                    </a:p>
                  </a:txBody>
                  <a:tcPr>
                    <a:solidFill>
                      <a:srgbClr val="FFFFFF"/>
                    </a:solidFill>
                  </a:tcPr>
                </a:tc>
                <a:tc>
                  <a:txBody>
                    <a:bodyPr/>
                    <a:lstStyle/>
                    <a:p>
                      <a:r>
                        <a:rPr sz="900" b="0">
                          <a:solidFill>
                            <a:srgbClr val="0D1B3E"/>
                          </a:solidFill>
                          <a:latin typeface="Calibri"/>
                        </a:rPr>
                        <a:t>INDUSTRY_COMMENTARY</a:t>
                      </a:r>
                    </a:p>
                  </a:txBody>
                  <a:tcPr>
                    <a:solidFill>
                      <a:srgbClr val="FFFFFF"/>
                    </a:solidFill>
                  </a:tcPr>
                </a:tc>
                <a:tc>
                  <a:txBody>
                    <a:bodyPr/>
                    <a:lstStyle/>
                    <a:p>
                      <a:r>
                        <a:rPr sz="900" b="0">
                          <a:solidFill>
                            <a:srgbClr val="0D1B3E"/>
                          </a:solidFill>
                          <a:latin typeface="Calibri"/>
                        </a:rPr>
                        <a:t>13 sources reviewed. 2017 analytics article. No DIRECT evidence of AI in document/print services</a:t>
                      </a:r>
                    </a:p>
                  </a:txBody>
                  <a:tcPr>
                    <a:solidFill>
                      <a:srgbClr val="FFFFFF"/>
                    </a:solidFill>
                  </a:tcPr>
                </a:tc>
                <a:extLst>
                  <a:ext uri="{0D108BD9-81ED-4DB2-BD59-A6C34878D82A}">
                    <a16:rowId xmlns:a16="http://schemas.microsoft.com/office/drawing/2014/main" val="10003"/>
                  </a:ext>
                </a:extLst>
              </a:tr>
              <a:tr h="640080">
                <a:tc>
                  <a:txBody>
                    <a:bodyPr/>
                    <a:lstStyle/>
                    <a:p>
                      <a:r>
                        <a:rPr sz="900" b="0">
                          <a:solidFill>
                            <a:srgbClr val="0D1B3E"/>
                          </a:solidFill>
                          <a:latin typeface="Calibri"/>
                        </a:rPr>
                        <a:t>Terrapin
(V-004)</a:t>
                      </a:r>
                    </a:p>
                  </a:txBody>
                  <a:tcPr>
                    <a:solidFill>
                      <a:srgbClr val="F2F4F8"/>
                    </a:solidFill>
                  </a:tcPr>
                </a:tc>
                <a:tc>
                  <a:txBody>
                    <a:bodyPr/>
                    <a:lstStyle/>
                    <a:p>
                      <a:r>
                        <a:rPr sz="900" b="0">
                          <a:solidFill>
                            <a:srgbClr val="0D1B3E"/>
                          </a:solidFill>
                          <a:latin typeface="Calibri"/>
                        </a:rPr>
                        <a:t>INCONCLUSIVE</a:t>
                      </a:r>
                    </a:p>
                  </a:txBody>
                  <a:tcPr>
                    <a:solidFill>
                      <a:srgbClr val="F2F4F8"/>
                    </a:solidFill>
                  </a:tcPr>
                </a:tc>
                <a:tc>
                  <a:txBody>
                    <a:bodyPr/>
                    <a:lstStyle/>
                    <a:p>
                      <a:r>
                        <a:rPr sz="900" b="0">
                          <a:solidFill>
                            <a:srgbClr val="0D1B3E"/>
                          </a:solidFill>
                          <a:latin typeface="Calibri"/>
                        </a:rPr>
                        <a:t>—  (disqualified)</a:t>
                      </a:r>
                    </a:p>
                  </a:txBody>
                  <a:tcPr>
                    <a:solidFill>
                      <a:srgbClr val="F2F4F8"/>
                    </a:solidFill>
                  </a:tcPr>
                </a:tc>
                <a:tc>
                  <a:txBody>
                    <a:bodyPr/>
                    <a:lstStyle/>
                    <a:p>
                      <a:r>
                        <a:rPr sz="900" b="0">
                          <a:solidFill>
                            <a:srgbClr val="0D1B3E"/>
                          </a:solidFill>
                          <a:latin typeface="Calibri"/>
                        </a:rPr>
                        <a:t>MARKETING_ONLY</a:t>
                      </a:r>
                    </a:p>
                  </a:txBody>
                  <a:tcPr>
                    <a:solidFill>
                      <a:srgbClr val="F2F4F8"/>
                    </a:solidFill>
                  </a:tcPr>
                </a:tc>
                <a:tc>
                  <a:txBody>
                    <a:bodyPr/>
                    <a:lstStyle/>
                    <a:p>
                      <a:r>
                        <a:rPr sz="900" b="0">
                          <a:solidFill>
                            <a:srgbClr val="0D1B3E"/>
                          </a:solidFill>
                          <a:latin typeface="Calibri"/>
                        </a:rPr>
                        <a:t>'AI-powered consulting' appears in marketing copy only; no deployment specifics found in 8 sources</a:t>
                      </a:r>
                    </a:p>
                  </a:txBody>
                  <a:tcPr>
                    <a:solidFill>
                      <a:srgbClr val="F2F4F8"/>
                    </a:solidFill>
                  </a:tcPr>
                </a:tc>
                <a:extLst>
                  <a:ext uri="{0D108BD9-81ED-4DB2-BD59-A6C34878D82A}">
                    <a16:rowId xmlns:a16="http://schemas.microsoft.com/office/drawing/2014/main" val="10004"/>
                  </a:ext>
                </a:extLst>
              </a:tr>
              <a:tr h="640080">
                <a:tc>
                  <a:txBody>
                    <a:bodyPr/>
                    <a:lstStyle/>
                    <a:p>
                      <a:r>
                        <a:rPr sz="900" b="0">
                          <a:solidFill>
                            <a:srgbClr val="0D1B3E"/>
                          </a:solidFill>
                          <a:latin typeface="Calibri"/>
                        </a:rPr>
                        <a:t>BNY
(V-005)</a:t>
                      </a:r>
                    </a:p>
                  </a:txBody>
                  <a:tcPr>
                    <a:solidFill>
                      <a:srgbClr val="FFFFFF"/>
                    </a:solidFill>
                  </a:tcPr>
                </a:tc>
                <a:tc>
                  <a:txBody>
                    <a:bodyPr/>
                    <a:lstStyle/>
                    <a:p>
                      <a:r>
                        <a:rPr sz="900" b="0">
                          <a:solidFill>
                            <a:srgbClr val="0D1B3E"/>
                          </a:solidFill>
                          <a:latin typeface="Calibri"/>
                        </a:rPr>
                        <a:t>YES</a:t>
                      </a:r>
                    </a:p>
                  </a:txBody>
                  <a:tcPr>
                    <a:solidFill>
                      <a:srgbClr val="FFFFFF"/>
                    </a:solidFill>
                  </a:tcPr>
                </a:tc>
                <a:tc>
                  <a:txBody>
                    <a:bodyPr/>
                    <a:lstStyle/>
                    <a:p>
                      <a:r>
                        <a:rPr sz="900" b="0">
                          <a:solidFill>
                            <a:srgbClr val="0D1B3E"/>
                          </a:solidFill>
                          <a:latin typeface="Calibri"/>
                        </a:rPr>
                        <a:t>78 / 100  (≥65 ✓)</a:t>
                      </a:r>
                    </a:p>
                  </a:txBody>
                  <a:tcPr>
                    <a:solidFill>
                      <a:srgbClr val="FFFFFF"/>
                    </a:solidFill>
                  </a:tcPr>
                </a:tc>
                <a:tc>
                  <a:txBody>
                    <a:bodyPr/>
                    <a:lstStyle/>
                    <a:p>
                      <a:r>
                        <a:rPr sz="900" b="0">
                          <a:solidFill>
                            <a:srgbClr val="0D1B3E"/>
                          </a:solidFill>
                          <a:latin typeface="Calibri"/>
                        </a:rPr>
                        <a:t>SERVICE_INTEGRATED</a:t>
                      </a:r>
                    </a:p>
                  </a:txBody>
                  <a:tcPr>
                    <a:solidFill>
                      <a:srgbClr val="FFFFFF"/>
                    </a:solidFill>
                  </a:tcPr>
                </a:tc>
                <a:tc>
                  <a:txBody>
                    <a:bodyPr/>
                    <a:lstStyle/>
                    <a:p>
                      <a:r>
                        <a:rPr sz="900" b="0">
                          <a:solidFill>
                            <a:srgbClr val="0D1B3E"/>
                          </a:solidFill>
                          <a:latin typeface="Calibri"/>
                        </a:rPr>
                        <a:t>bny.com: Eliza AI platform; 2025 Annual Report: AI anomaly detection in Payment Validation pipeline</a:t>
                      </a:r>
                    </a:p>
                  </a:txBody>
                  <a:tcPr>
                    <a:solidFill>
                      <a:srgbClr val="FFFFFF"/>
                    </a:solidFill>
                  </a:tcPr>
                </a:tc>
                <a:extLst>
                  <a:ext uri="{0D108BD9-81ED-4DB2-BD59-A6C34878D82A}">
                    <a16:rowId xmlns:a16="http://schemas.microsoft.com/office/drawing/2014/main" val="10005"/>
                  </a:ext>
                </a:extLst>
              </a:tr>
              <a:tr h="640080">
                <a:tc>
                  <a:txBody>
                    <a:bodyPr/>
                    <a:lstStyle/>
                    <a:p>
                      <a:r>
                        <a:rPr sz="900" b="0" dirty="0">
                          <a:solidFill>
                            <a:srgbClr val="0D1B3E"/>
                          </a:solidFill>
                          <a:latin typeface="Calibri"/>
                        </a:rPr>
                        <a:t>TCH
(V-006)</a:t>
                      </a:r>
                    </a:p>
                  </a:txBody>
                  <a:tcPr>
                    <a:solidFill>
                      <a:srgbClr val="F2F4F8"/>
                    </a:solidFill>
                  </a:tcPr>
                </a:tc>
                <a:tc>
                  <a:txBody>
                    <a:bodyPr/>
                    <a:lstStyle/>
                    <a:p>
                      <a:r>
                        <a:rPr sz="900" b="0">
                          <a:solidFill>
                            <a:srgbClr val="0D1B3E"/>
                          </a:solidFill>
                          <a:latin typeface="Calibri"/>
                        </a:rPr>
                        <a:t>INCONCLUSIVE</a:t>
                      </a:r>
                    </a:p>
                  </a:txBody>
                  <a:tcPr>
                    <a:solidFill>
                      <a:srgbClr val="F2F4F8"/>
                    </a:solidFill>
                  </a:tcPr>
                </a:tc>
                <a:tc>
                  <a:txBody>
                    <a:bodyPr/>
                    <a:lstStyle/>
                    <a:p>
                      <a:r>
                        <a:rPr sz="900" b="0">
                          <a:solidFill>
                            <a:srgbClr val="0D1B3E"/>
                          </a:solidFill>
                          <a:latin typeface="Calibri"/>
                        </a:rPr>
                        <a:t>35 / 100</a:t>
                      </a:r>
                    </a:p>
                  </a:txBody>
                  <a:tcPr>
                    <a:solidFill>
                      <a:srgbClr val="F2F4F8"/>
                    </a:solidFill>
                  </a:tcPr>
                </a:tc>
                <a:tc>
                  <a:txBody>
                    <a:bodyPr/>
                    <a:lstStyle/>
                    <a:p>
                      <a:r>
                        <a:rPr sz="900" b="0">
                          <a:solidFill>
                            <a:srgbClr val="0D1B3E"/>
                          </a:solidFill>
                          <a:latin typeface="Calibri"/>
                        </a:rPr>
                        <a:t>INDUSTRY_COMMENTARY</a:t>
                      </a:r>
                    </a:p>
                  </a:txBody>
                  <a:tcPr>
                    <a:solidFill>
                      <a:srgbClr val="F2F4F8"/>
                    </a:solidFill>
                  </a:tcPr>
                </a:tc>
                <a:tc>
                  <a:txBody>
                    <a:bodyPr/>
                    <a:lstStyle/>
                    <a:p>
                      <a:r>
                        <a:rPr sz="900" b="0" dirty="0">
                          <a:solidFill>
                            <a:srgbClr val="0D1B3E"/>
                          </a:solidFill>
                          <a:latin typeface="Calibri"/>
                        </a:rPr>
                        <a:t>14 sources reviewed. No DIRECT evidence AI is used in RTP/ACH clearing operations</a:t>
                      </a:r>
                    </a:p>
                  </a:txBody>
                  <a:tcPr>
                    <a:solidFill>
                      <a:srgbClr val="F2F4F8"/>
                    </a:solidFill>
                  </a:tcPr>
                </a:tc>
                <a:extLst>
                  <a:ext uri="{0D108BD9-81ED-4DB2-BD59-A6C34878D82A}">
                    <a16:rowId xmlns:a16="http://schemas.microsoft.com/office/drawing/2014/main" val="10006"/>
                  </a:ext>
                </a:extLst>
              </a:tr>
            </a:tbl>
          </a:graphicData>
        </a:graphic>
      </p:graphicFrame>
      <p:sp>
        <p:nvSpPr>
          <p:cNvPr id="11" name="TextBox 10"/>
          <p:cNvSpPr txBox="1"/>
          <p:nvPr/>
        </p:nvSpPr>
        <p:spPr>
          <a:xfrm>
            <a:off x="274320" y="6199632"/>
            <a:ext cx="11612880" cy="502920"/>
          </a:xfrm>
          <a:prstGeom prst="rect">
            <a:avLst/>
          </a:prstGeom>
          <a:noFill/>
        </p:spPr>
        <p:txBody>
          <a:bodyPr wrap="square">
            <a:spAutoFit/>
          </a:bodyPr>
          <a:lstStyle/>
          <a:p>
            <a:pPr algn="l"/>
            <a:r>
              <a:rPr sz="950" b="0" i="1">
                <a:solidFill>
                  <a:srgbClr val="4A5A6B"/>
                </a:solidFill>
                <a:latin typeface="Calibri"/>
              </a:rPr>
              <a:t>Rule: YES requires either (a) one DIRECT source ≥ 65, or (b) two independent sources from different domains both ≥ 45.  MARKETING_ONLY and INDUSTRY_COMMENTARY natures are disqualified and never count toward YES.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417320"/>
            <a:ext cx="914400" cy="54864"/>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1440"/>
            <a:ext cx="5486400" cy="365760"/>
          </a:xfrm>
          <a:prstGeom prst="rect">
            <a:avLst/>
          </a:prstGeom>
          <a:noFill/>
        </p:spPr>
        <p:txBody>
          <a:bodyPr wrap="square">
            <a:spAutoFit/>
          </a:bodyPr>
          <a:lstStyle/>
          <a:p>
            <a:pPr algn="l"/>
            <a:r>
              <a:rPr sz="900" b="0" i="0">
                <a:solidFill>
                  <a:srgbClr val="E05A0E"/>
                </a:solidFill>
                <a:latin typeface="Calibri"/>
              </a:rPr>
              <a:t>PIPELINE OUTPUT</a:t>
            </a:r>
          </a:p>
        </p:txBody>
      </p:sp>
      <p:sp>
        <p:nvSpPr>
          <p:cNvPr id="6" name="TextBox 5"/>
          <p:cNvSpPr txBox="1"/>
          <p:nvPr/>
        </p:nvSpPr>
        <p:spPr>
          <a:xfrm>
            <a:off x="457200" y="411480"/>
            <a:ext cx="8229600" cy="731520"/>
          </a:xfrm>
          <a:prstGeom prst="rect">
            <a:avLst/>
          </a:prstGeom>
          <a:noFill/>
        </p:spPr>
        <p:txBody>
          <a:bodyPr wrap="square">
            <a:spAutoFit/>
          </a:bodyPr>
          <a:lstStyle/>
          <a:p>
            <a:pPr algn="l"/>
            <a:r>
              <a:rPr sz="2800" b="1" i="0">
                <a:solidFill>
                  <a:srgbClr val="FFFFFF"/>
                </a:solidFill>
                <a:latin typeface="Calibri"/>
              </a:rPr>
              <a:t>Risk Classification — All 6 Vendors</a:t>
            </a:r>
          </a:p>
        </p:txBody>
      </p:sp>
      <p:sp>
        <p:nvSpPr>
          <p:cNvPr id="7" name="TextBox 6"/>
          <p:cNvSpPr txBox="1"/>
          <p:nvPr/>
        </p:nvSpPr>
        <p:spPr>
          <a:xfrm>
            <a:off x="1463040" y="1298448"/>
            <a:ext cx="8229600" cy="365760"/>
          </a:xfrm>
          <a:prstGeom prst="rect">
            <a:avLst/>
          </a:prstGeom>
          <a:noFill/>
        </p:spPr>
        <p:txBody>
          <a:bodyPr wrap="square">
            <a:spAutoFit/>
          </a:bodyPr>
          <a:lstStyle/>
          <a:p>
            <a:pPr algn="l"/>
            <a:r>
              <a:rPr sz="1200" b="0" i="0" dirty="0">
                <a:solidFill>
                  <a:srgbClr val="4A5A6B"/>
                </a:solidFill>
                <a:latin typeface="Calibri"/>
              </a:rPr>
              <a:t>9-category risk engine + AI Presence Index + floor rules</a:t>
            </a:r>
          </a:p>
        </p:txBody>
      </p:sp>
      <p:sp>
        <p:nvSpPr>
          <p:cNvPr id="8" name="TextBox 7"/>
          <p:cNvSpPr txBox="1"/>
          <p:nvPr/>
        </p:nvSpPr>
        <p:spPr>
          <a:xfrm>
            <a:off x="9144000" y="137160"/>
            <a:ext cx="2743200" cy="274320"/>
          </a:xfrm>
          <a:prstGeom prst="rect">
            <a:avLst/>
          </a:prstGeom>
          <a:noFill/>
        </p:spPr>
        <p:txBody>
          <a:bodyPr wrap="square">
            <a:spAutoFit/>
          </a:bodyPr>
          <a:lstStyle/>
          <a:p>
            <a:pPr algn="r"/>
            <a:r>
              <a:rPr sz="1100" b="1" i="0">
                <a:solidFill>
                  <a:srgbClr val="FFFFFF"/>
                </a:solidFill>
                <a:latin typeface="Calibri"/>
              </a:rPr>
              <a:t>Optiv Consulting</a:t>
            </a:r>
          </a:p>
        </p:txBody>
      </p:sp>
      <p:sp>
        <p:nvSpPr>
          <p:cNvPr id="9" name="TextBox 8"/>
          <p:cNvSpPr txBox="1"/>
          <p:nvPr/>
        </p:nvSpPr>
        <p:spPr>
          <a:xfrm>
            <a:off x="9144000" y="384048"/>
            <a:ext cx="2926080" cy="274320"/>
          </a:xfrm>
          <a:prstGeom prst="rect">
            <a:avLst/>
          </a:prstGeom>
          <a:noFill/>
        </p:spPr>
        <p:txBody>
          <a:bodyPr wrap="square">
            <a:spAutoFit/>
          </a:bodyPr>
          <a:lstStyle/>
          <a:p>
            <a:pPr algn="r"/>
            <a:r>
              <a:rPr sz="800" b="0" i="0">
                <a:solidFill>
                  <a:srgbClr val="F2F4F8"/>
                </a:solidFill>
                <a:latin typeface="Calibri"/>
              </a:rPr>
              <a:t>[formerly part of Optiv Security]</a:t>
            </a:r>
          </a:p>
        </p:txBody>
      </p:sp>
      <p:sp>
        <p:nvSpPr>
          <p:cNvPr id="10" name="Rectangle 9"/>
          <p:cNvSpPr/>
          <p:nvPr/>
        </p:nvSpPr>
        <p:spPr>
          <a:xfrm>
            <a:off x="274320" y="1645920"/>
            <a:ext cx="5486400"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1691640"/>
            <a:ext cx="4572000" cy="320040"/>
          </a:xfrm>
          <a:prstGeom prst="rect">
            <a:avLst/>
          </a:prstGeom>
          <a:noFill/>
        </p:spPr>
        <p:txBody>
          <a:bodyPr wrap="square">
            <a:spAutoFit/>
          </a:bodyPr>
          <a:lstStyle/>
          <a:p>
            <a:pPr algn="l"/>
            <a:r>
              <a:rPr sz="1000" b="1" i="0">
                <a:solidFill>
                  <a:srgbClr val="E05A0E"/>
                </a:solidFill>
                <a:latin typeface="Calibri"/>
              </a:rPr>
              <a:t>AI Presence Index (multiplier)</a:t>
            </a:r>
          </a:p>
        </p:txBody>
      </p:sp>
      <p:sp>
        <p:nvSpPr>
          <p:cNvPr id="12" name="TextBox 11"/>
          <p:cNvSpPr txBox="1"/>
          <p:nvPr/>
        </p:nvSpPr>
        <p:spPr>
          <a:xfrm>
            <a:off x="457200" y="2011680"/>
            <a:ext cx="5120640" cy="777240"/>
          </a:xfrm>
          <a:prstGeom prst="rect">
            <a:avLst/>
          </a:prstGeom>
          <a:noFill/>
        </p:spPr>
        <p:txBody>
          <a:bodyPr wrap="square">
            <a:spAutoFit/>
          </a:bodyPr>
          <a:lstStyle/>
          <a:p>
            <a:pPr algn="l"/>
            <a:r>
              <a:rPr sz="950" b="0" i="0">
                <a:solidFill>
                  <a:srgbClr val="FFFFFF"/>
                </a:solidFill>
                <a:latin typeface="Calibri"/>
              </a:rPr>
              <a:t>YES → 1.0  |  INCONCLUSIVE → 0.4  |  NO → 0.0
All 9 risk category scores are multiplied by this index. With NO verdict, risk = 0 and classification = NONE IDENTIFIED.</a:t>
            </a:r>
          </a:p>
        </p:txBody>
      </p:sp>
      <p:sp>
        <p:nvSpPr>
          <p:cNvPr id="13" name="Rectangle 12"/>
          <p:cNvSpPr/>
          <p:nvPr/>
        </p:nvSpPr>
        <p:spPr>
          <a:xfrm>
            <a:off x="6126480" y="1645920"/>
            <a:ext cx="5486400" cy="1234440"/>
          </a:xfrm>
          <a:prstGeom prst="rect">
            <a:avLst/>
          </a:prstGeom>
          <a:solidFill>
            <a:srgbClr val="2D1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09360" y="1691640"/>
            <a:ext cx="5120640" cy="320040"/>
          </a:xfrm>
          <a:prstGeom prst="rect">
            <a:avLst/>
          </a:prstGeom>
          <a:noFill/>
        </p:spPr>
        <p:txBody>
          <a:bodyPr wrap="square">
            <a:spAutoFit/>
          </a:bodyPr>
          <a:lstStyle/>
          <a:p>
            <a:pPr algn="l"/>
            <a:r>
              <a:rPr sz="1000" b="1" i="0">
                <a:solidFill>
                  <a:srgbClr val="E05A0E"/>
                </a:solidFill>
                <a:latin typeface="Calibri"/>
              </a:rPr>
              <a:t>Floor Rules (override everything)</a:t>
            </a:r>
          </a:p>
        </p:txBody>
      </p:sp>
      <p:sp>
        <p:nvSpPr>
          <p:cNvPr id="15" name="TextBox 14"/>
          <p:cNvSpPr txBox="1"/>
          <p:nvPr/>
        </p:nvSpPr>
        <p:spPr>
          <a:xfrm>
            <a:off x="6309360" y="2011680"/>
            <a:ext cx="5212080" cy="822960"/>
          </a:xfrm>
          <a:prstGeom prst="rect">
            <a:avLst/>
          </a:prstGeom>
          <a:noFill/>
        </p:spPr>
        <p:txBody>
          <a:bodyPr wrap="square">
            <a:spAutoFit/>
          </a:bodyPr>
          <a:lstStyle/>
          <a:p>
            <a:pPr algn="l"/>
            <a:r>
              <a:rPr sz="950" b="0" i="0">
                <a:solidFill>
                  <a:srgbClr val="FFFFFF"/>
                </a:solidFill>
                <a:latin typeface="Calibri"/>
              </a:rPr>
              <a:t>confirmed_ai_critical_high_data_sensitivity: YES + CRITICAL tier + DS &gt; 0.7 → force CRITICAL
confirmed_ai_critical_agentic: YES + autonomous AI financial decisions → force CRITICAL</a:t>
            </a:r>
          </a:p>
        </p:txBody>
      </p:sp>
      <p:graphicFrame>
        <p:nvGraphicFramePr>
          <p:cNvPr id="16" name="Table 15"/>
          <p:cNvGraphicFramePr>
            <a:graphicFrameLocks noGrp="1"/>
          </p:cNvGraphicFramePr>
          <p:nvPr/>
        </p:nvGraphicFramePr>
        <p:xfrm>
          <a:off x="274320" y="3017520"/>
          <a:ext cx="11612880" cy="36576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gridCol w="4114800">
                  <a:extLst>
                    <a:ext uri="{9D8B030D-6E8A-4147-A177-3AD203B41FA5}">
                      <a16:colId xmlns:a16="http://schemas.microsoft.com/office/drawing/2014/main" val="20006"/>
                    </a:ext>
                  </a:extLst>
                </a:gridCol>
              </a:tblGrid>
              <a:tr h="522514">
                <a:tc>
                  <a:txBody>
                    <a:bodyPr/>
                    <a:lstStyle/>
                    <a:p>
                      <a:r>
                        <a:rPr sz="1000" b="1">
                          <a:solidFill>
                            <a:srgbClr val="FFFFFF"/>
                          </a:solidFill>
                          <a:latin typeface="Calibri"/>
                        </a:rPr>
                        <a:t>Vendor</a:t>
                      </a:r>
                    </a:p>
                  </a:txBody>
                  <a:tcPr>
                    <a:solidFill>
                      <a:srgbClr val="0D1B3E"/>
                    </a:solidFill>
                  </a:tcPr>
                </a:tc>
                <a:tc>
                  <a:txBody>
                    <a:bodyPr/>
                    <a:lstStyle/>
                    <a:p>
                      <a:r>
                        <a:rPr sz="1000" b="1">
                          <a:solidFill>
                            <a:srgbClr val="FFFFFF"/>
                          </a:solidFill>
                          <a:latin typeface="Calibri"/>
                        </a:rPr>
                        <a:t>Criticality</a:t>
                      </a:r>
                    </a:p>
                  </a:txBody>
                  <a:tcPr>
                    <a:solidFill>
                      <a:srgbClr val="0D1B3E"/>
                    </a:solidFill>
                  </a:tcPr>
                </a:tc>
                <a:tc>
                  <a:txBody>
                    <a:bodyPr/>
                    <a:lstStyle/>
                    <a:p>
                      <a:r>
                        <a:rPr sz="1000" b="1">
                          <a:solidFill>
                            <a:srgbClr val="FFFFFF"/>
                          </a:solidFill>
                          <a:latin typeface="Calibri"/>
                        </a:rPr>
                        <a:t>AI Verdict</a:t>
                      </a:r>
                    </a:p>
                  </a:txBody>
                  <a:tcPr>
                    <a:solidFill>
                      <a:srgbClr val="0D1B3E"/>
                    </a:solidFill>
                  </a:tcPr>
                </a:tc>
                <a:tc>
                  <a:txBody>
                    <a:bodyPr/>
                    <a:lstStyle/>
                    <a:p>
                      <a:r>
                        <a:rPr sz="1000" b="1">
                          <a:solidFill>
                            <a:srgbClr val="FFFFFF"/>
                          </a:solidFill>
                          <a:latin typeface="Calibri"/>
                        </a:rPr>
                        <a:t>AI Presence
Index</a:t>
                      </a:r>
                    </a:p>
                  </a:txBody>
                  <a:tcPr>
                    <a:solidFill>
                      <a:srgbClr val="0D1B3E"/>
                    </a:solidFill>
                  </a:tcPr>
                </a:tc>
                <a:tc>
                  <a:txBody>
                    <a:bodyPr/>
                    <a:lstStyle/>
                    <a:p>
                      <a:r>
                        <a:rPr sz="1000" b="1">
                          <a:solidFill>
                            <a:srgbClr val="FFFFFF"/>
                          </a:solidFill>
                          <a:latin typeface="Calibri"/>
                        </a:rPr>
                        <a:t>Risk
Classification</a:t>
                      </a:r>
                    </a:p>
                  </a:txBody>
                  <a:tcPr>
                    <a:solidFill>
                      <a:srgbClr val="0D1B3E"/>
                    </a:solidFill>
                  </a:tcPr>
                </a:tc>
                <a:tc>
                  <a:txBody>
                    <a:bodyPr/>
                    <a:lstStyle/>
                    <a:p>
                      <a:r>
                        <a:rPr sz="1000" b="1">
                          <a:solidFill>
                            <a:srgbClr val="FFFFFF"/>
                          </a:solidFill>
                          <a:latin typeface="Calibri"/>
                        </a:rPr>
                        <a:t>Floor Fired?</a:t>
                      </a:r>
                    </a:p>
                  </a:txBody>
                  <a:tcPr>
                    <a:solidFill>
                      <a:srgbClr val="0D1B3E"/>
                    </a:solidFill>
                  </a:tcPr>
                </a:tc>
                <a:tc>
                  <a:txBody>
                    <a:bodyPr/>
                    <a:lstStyle/>
                    <a:p>
                      <a:r>
                        <a:rPr sz="1000" b="1">
                          <a:solidFill>
                            <a:srgbClr val="FFFFFF"/>
                          </a:solidFill>
                          <a:latin typeface="Calibri"/>
                        </a:rPr>
                        <a:t>Primary Recommendation</a:t>
                      </a:r>
                    </a:p>
                  </a:txBody>
                  <a:tcPr>
                    <a:solidFill>
                      <a:srgbClr val="0D1B3E"/>
                    </a:solidFill>
                  </a:tcPr>
                </a:tc>
                <a:extLst>
                  <a:ext uri="{0D108BD9-81ED-4DB2-BD59-A6C34878D82A}">
                    <a16:rowId xmlns:a16="http://schemas.microsoft.com/office/drawing/2014/main" val="10000"/>
                  </a:ext>
                </a:extLst>
              </a:tr>
              <a:tr h="522514">
                <a:tc>
                  <a:txBody>
                    <a:bodyPr/>
                    <a:lstStyle/>
                    <a:p>
                      <a:r>
                        <a:rPr sz="900" b="0">
                          <a:solidFill>
                            <a:srgbClr val="0D1B3E"/>
                          </a:solidFill>
                          <a:latin typeface="Calibri"/>
                        </a:rPr>
                        <a:t>AutomWorx</a:t>
                      </a:r>
                    </a:p>
                  </a:txBody>
                  <a:tcPr>
                    <a:solidFill>
                      <a:srgbClr val="FFFFFF"/>
                    </a:solidFill>
                  </a:tcPr>
                </a:tc>
                <a:tc>
                  <a:txBody>
                    <a:bodyPr/>
                    <a:lstStyle/>
                    <a:p>
                      <a:r>
                        <a:rPr sz="900" b="0">
                          <a:solidFill>
                            <a:srgbClr val="0D1B3E"/>
                          </a:solidFill>
                          <a:latin typeface="Calibri"/>
                        </a:rPr>
                        <a:t>HIGH</a:t>
                      </a:r>
                    </a:p>
                  </a:txBody>
                  <a:tcPr>
                    <a:solidFill>
                      <a:srgbClr val="FFFFFF"/>
                    </a:solidFill>
                  </a:tcPr>
                </a:tc>
                <a:tc>
                  <a:txBody>
                    <a:bodyPr/>
                    <a:lstStyle/>
                    <a:p>
                      <a:r>
                        <a:rPr sz="900" b="0">
                          <a:solidFill>
                            <a:srgbClr val="0D1B3E"/>
                          </a:solidFill>
                          <a:latin typeface="Calibri"/>
                        </a:rPr>
                        <a:t>INCONCLUSIVE</a:t>
                      </a:r>
                    </a:p>
                  </a:txBody>
                  <a:tcPr>
                    <a:solidFill>
                      <a:srgbClr val="FFFFFF"/>
                    </a:solidFill>
                  </a:tcPr>
                </a:tc>
                <a:tc>
                  <a:txBody>
                    <a:bodyPr/>
                    <a:lstStyle/>
                    <a:p>
                      <a:r>
                        <a:rPr sz="900" b="0">
                          <a:solidFill>
                            <a:srgbClr val="0D1B3E"/>
                          </a:solidFill>
                          <a:latin typeface="Calibri"/>
                        </a:rPr>
                        <a:t>0.40</a:t>
                      </a:r>
                    </a:p>
                  </a:txBody>
                  <a:tcPr>
                    <a:solidFill>
                      <a:srgbClr val="FFFFFF"/>
                    </a:solidFill>
                  </a:tcPr>
                </a:tc>
                <a:tc>
                  <a:txBody>
                    <a:bodyPr/>
                    <a:lstStyle/>
                    <a:p>
                      <a:r>
                        <a:rPr sz="900" b="0">
                          <a:solidFill>
                            <a:srgbClr val="0D1B3E"/>
                          </a:solidFill>
                          <a:latin typeface="Calibri"/>
                        </a:rPr>
                        <a:t>MEDIUM</a:t>
                      </a:r>
                    </a:p>
                  </a:txBody>
                  <a:tcPr>
                    <a:solidFill>
                      <a:srgbClr val="FFFFFF"/>
                    </a:solidFill>
                  </a:tcPr>
                </a:tc>
                <a:tc>
                  <a:txBody>
                    <a:bodyPr/>
                    <a:lstStyle/>
                    <a:p>
                      <a:r>
                        <a:rPr sz="900" b="0">
                          <a:solidFill>
                            <a:srgbClr val="0D1B3E"/>
                          </a:solidFill>
                          <a:latin typeface="Calibri"/>
                        </a:rPr>
                        <a:t>No</a:t>
                      </a:r>
                    </a:p>
                  </a:txBody>
                  <a:tcPr>
                    <a:solidFill>
                      <a:srgbClr val="FFFFFF"/>
                    </a:solidFill>
                  </a:tcPr>
                </a:tc>
                <a:tc>
                  <a:txBody>
                    <a:bodyPr/>
                    <a:lstStyle/>
                    <a:p>
                      <a:r>
                        <a:rPr sz="900" b="0">
                          <a:solidFill>
                            <a:srgbClr val="0D1B3E"/>
                          </a:solidFill>
                          <a:latin typeface="Calibri"/>
                        </a:rPr>
                        <a:t>P2: AI questionnaire on Broadcom/Automic features</a:t>
                      </a:r>
                    </a:p>
                  </a:txBody>
                  <a:tcPr>
                    <a:solidFill>
                      <a:srgbClr val="FFFFFF"/>
                    </a:solidFill>
                  </a:tcPr>
                </a:tc>
                <a:extLst>
                  <a:ext uri="{0D108BD9-81ED-4DB2-BD59-A6C34878D82A}">
                    <a16:rowId xmlns:a16="http://schemas.microsoft.com/office/drawing/2014/main" val="10001"/>
                  </a:ext>
                </a:extLst>
              </a:tr>
              <a:tr h="522514">
                <a:tc>
                  <a:txBody>
                    <a:bodyPr/>
                    <a:lstStyle/>
                    <a:p>
                      <a:r>
                        <a:rPr sz="900" b="0">
                          <a:solidFill>
                            <a:srgbClr val="0D1B3E"/>
                          </a:solidFill>
                          <a:latin typeface="Calibri"/>
                        </a:rPr>
                        <a:t>Fiserv</a:t>
                      </a:r>
                    </a:p>
                  </a:txBody>
                  <a:tcPr>
                    <a:solidFill>
                      <a:srgbClr val="F2F4F8"/>
                    </a:solidFill>
                  </a:tcPr>
                </a:tc>
                <a:tc>
                  <a:txBody>
                    <a:bodyPr/>
                    <a:lstStyle/>
                    <a:p>
                      <a:r>
                        <a:rPr sz="900" b="0">
                          <a:solidFill>
                            <a:srgbClr val="0D1B3E"/>
                          </a:solidFill>
                          <a:latin typeface="Calibri"/>
                        </a:rPr>
                        <a:t>CRITICAL</a:t>
                      </a:r>
                    </a:p>
                  </a:txBody>
                  <a:tcPr>
                    <a:solidFill>
                      <a:srgbClr val="F2F4F8"/>
                    </a:solidFill>
                  </a:tcPr>
                </a:tc>
                <a:tc>
                  <a:txBody>
                    <a:bodyPr/>
                    <a:lstStyle/>
                    <a:p>
                      <a:r>
                        <a:rPr sz="900" b="0">
                          <a:solidFill>
                            <a:srgbClr val="0D1B3E"/>
                          </a:solidFill>
                          <a:latin typeface="Calibri"/>
                        </a:rPr>
                        <a:t>YES</a:t>
                      </a:r>
                    </a:p>
                  </a:txBody>
                  <a:tcPr>
                    <a:solidFill>
                      <a:srgbClr val="F2F4F8"/>
                    </a:solidFill>
                  </a:tcPr>
                </a:tc>
                <a:tc>
                  <a:txBody>
                    <a:bodyPr/>
                    <a:lstStyle/>
                    <a:p>
                      <a:r>
                        <a:rPr sz="900" b="0">
                          <a:solidFill>
                            <a:srgbClr val="0D1B3E"/>
                          </a:solidFill>
                          <a:latin typeface="Calibri"/>
                        </a:rPr>
                        <a:t>1.00</a:t>
                      </a:r>
                    </a:p>
                  </a:txBody>
                  <a:tcPr>
                    <a:solidFill>
                      <a:srgbClr val="F2F4F8"/>
                    </a:solidFill>
                  </a:tcPr>
                </a:tc>
                <a:tc>
                  <a:txBody>
                    <a:bodyPr/>
                    <a:lstStyle/>
                    <a:p>
                      <a:r>
                        <a:rPr sz="900" b="0">
                          <a:solidFill>
                            <a:srgbClr val="0D1B3E"/>
                          </a:solidFill>
                          <a:latin typeface="Calibri"/>
                        </a:rPr>
                        <a:t>CRITICAL</a:t>
                      </a:r>
                    </a:p>
                  </a:txBody>
                  <a:tcPr>
                    <a:solidFill>
                      <a:srgbClr val="F2F4F8"/>
                    </a:solidFill>
                  </a:tcPr>
                </a:tc>
                <a:tc>
                  <a:txBody>
                    <a:bodyPr/>
                    <a:lstStyle/>
                    <a:p>
                      <a:r>
                        <a:rPr sz="900" b="0">
                          <a:solidFill>
                            <a:srgbClr val="0D1B3E"/>
                          </a:solidFill>
                          <a:latin typeface="Calibri"/>
                        </a:rPr>
                        <a:t>YES — data
sensitivity floor</a:t>
                      </a:r>
                    </a:p>
                  </a:txBody>
                  <a:tcPr>
                    <a:solidFill>
                      <a:srgbClr val="F2F4F8"/>
                    </a:solidFill>
                  </a:tcPr>
                </a:tc>
                <a:tc>
                  <a:txBody>
                    <a:bodyPr/>
                    <a:lstStyle/>
                    <a:p>
                      <a:r>
                        <a:rPr sz="900" b="0">
                          <a:solidFill>
                            <a:srgbClr val="0D1B3E"/>
                          </a:solidFill>
                          <a:latin typeface="Calibri"/>
                        </a:rPr>
                        <a:t>P1: Contract amendment + Enhanced Due Diligence on Foundry AI</a:t>
                      </a:r>
                    </a:p>
                  </a:txBody>
                  <a:tcPr>
                    <a:solidFill>
                      <a:srgbClr val="F2F4F8"/>
                    </a:solidFill>
                  </a:tcPr>
                </a:tc>
                <a:extLst>
                  <a:ext uri="{0D108BD9-81ED-4DB2-BD59-A6C34878D82A}">
                    <a16:rowId xmlns:a16="http://schemas.microsoft.com/office/drawing/2014/main" val="10002"/>
                  </a:ext>
                </a:extLst>
              </a:tr>
              <a:tr h="522514">
                <a:tc>
                  <a:txBody>
                    <a:bodyPr/>
                    <a:lstStyle/>
                    <a:p>
                      <a:r>
                        <a:rPr sz="900" b="0">
                          <a:solidFill>
                            <a:srgbClr val="0D1B3E"/>
                          </a:solidFill>
                          <a:latin typeface="Calibri"/>
                        </a:rPr>
                        <a:t>FSSI</a:t>
                      </a:r>
                    </a:p>
                  </a:txBody>
                  <a:tcPr>
                    <a:solidFill>
                      <a:srgbClr val="FFFFFF"/>
                    </a:solidFill>
                  </a:tcPr>
                </a:tc>
                <a:tc>
                  <a:txBody>
                    <a:bodyPr/>
                    <a:lstStyle/>
                    <a:p>
                      <a:r>
                        <a:rPr sz="900" b="0">
                          <a:solidFill>
                            <a:srgbClr val="0D1B3E"/>
                          </a:solidFill>
                          <a:latin typeface="Calibri"/>
                        </a:rPr>
                        <a:t>HIGH</a:t>
                      </a:r>
                    </a:p>
                  </a:txBody>
                  <a:tcPr>
                    <a:solidFill>
                      <a:srgbClr val="FFFFFF"/>
                    </a:solidFill>
                  </a:tcPr>
                </a:tc>
                <a:tc>
                  <a:txBody>
                    <a:bodyPr/>
                    <a:lstStyle/>
                    <a:p>
                      <a:r>
                        <a:rPr sz="900" b="0">
                          <a:solidFill>
                            <a:srgbClr val="0D1B3E"/>
                          </a:solidFill>
                          <a:latin typeface="Calibri"/>
                        </a:rPr>
                        <a:t>INCONCLUSIVE</a:t>
                      </a:r>
                    </a:p>
                  </a:txBody>
                  <a:tcPr>
                    <a:solidFill>
                      <a:srgbClr val="FFFFFF"/>
                    </a:solidFill>
                  </a:tcPr>
                </a:tc>
                <a:tc>
                  <a:txBody>
                    <a:bodyPr/>
                    <a:lstStyle/>
                    <a:p>
                      <a:r>
                        <a:rPr sz="900" b="0">
                          <a:solidFill>
                            <a:srgbClr val="0D1B3E"/>
                          </a:solidFill>
                          <a:latin typeface="Calibri"/>
                        </a:rPr>
                        <a:t>0.40</a:t>
                      </a:r>
                    </a:p>
                  </a:txBody>
                  <a:tcPr>
                    <a:solidFill>
                      <a:srgbClr val="FFFFFF"/>
                    </a:solidFill>
                  </a:tcPr>
                </a:tc>
                <a:tc>
                  <a:txBody>
                    <a:bodyPr/>
                    <a:lstStyle/>
                    <a:p>
                      <a:r>
                        <a:rPr sz="900" b="0">
                          <a:solidFill>
                            <a:srgbClr val="0D1B3E"/>
                          </a:solidFill>
                          <a:latin typeface="Calibri"/>
                        </a:rPr>
                        <a:t>LOW</a:t>
                      </a:r>
                    </a:p>
                  </a:txBody>
                  <a:tcPr>
                    <a:solidFill>
                      <a:srgbClr val="FFFFFF"/>
                    </a:solidFill>
                  </a:tcPr>
                </a:tc>
                <a:tc>
                  <a:txBody>
                    <a:bodyPr/>
                    <a:lstStyle/>
                    <a:p>
                      <a:r>
                        <a:rPr sz="900" b="0">
                          <a:solidFill>
                            <a:srgbClr val="0D1B3E"/>
                          </a:solidFill>
                          <a:latin typeface="Calibri"/>
                        </a:rPr>
                        <a:t>No</a:t>
                      </a:r>
                    </a:p>
                  </a:txBody>
                  <a:tcPr>
                    <a:solidFill>
                      <a:srgbClr val="FFFFFF"/>
                    </a:solidFill>
                  </a:tcPr>
                </a:tc>
                <a:tc>
                  <a:txBody>
                    <a:bodyPr/>
                    <a:lstStyle/>
                    <a:p>
                      <a:r>
                        <a:rPr sz="900" b="0">
                          <a:solidFill>
                            <a:srgbClr val="0D1B3E"/>
                          </a:solidFill>
                          <a:latin typeface="Calibri"/>
                        </a:rPr>
                        <a:t>P3: Annual monitoring; questionnaire if signals increase</a:t>
                      </a:r>
                    </a:p>
                  </a:txBody>
                  <a:tcPr>
                    <a:solidFill>
                      <a:srgbClr val="FFFFFF"/>
                    </a:solidFill>
                  </a:tcPr>
                </a:tc>
                <a:extLst>
                  <a:ext uri="{0D108BD9-81ED-4DB2-BD59-A6C34878D82A}">
                    <a16:rowId xmlns:a16="http://schemas.microsoft.com/office/drawing/2014/main" val="10003"/>
                  </a:ext>
                </a:extLst>
              </a:tr>
              <a:tr h="522514">
                <a:tc>
                  <a:txBody>
                    <a:bodyPr/>
                    <a:lstStyle/>
                    <a:p>
                      <a:r>
                        <a:rPr sz="900" b="0">
                          <a:solidFill>
                            <a:srgbClr val="0D1B3E"/>
                          </a:solidFill>
                          <a:latin typeface="Calibri"/>
                        </a:rPr>
                        <a:t>Terrapin</a:t>
                      </a:r>
                    </a:p>
                  </a:txBody>
                  <a:tcPr>
                    <a:solidFill>
                      <a:srgbClr val="F2F4F8"/>
                    </a:solidFill>
                  </a:tcPr>
                </a:tc>
                <a:tc>
                  <a:txBody>
                    <a:bodyPr/>
                    <a:lstStyle/>
                    <a:p>
                      <a:r>
                        <a:rPr sz="900" b="0">
                          <a:solidFill>
                            <a:srgbClr val="0D1B3E"/>
                          </a:solidFill>
                          <a:latin typeface="Calibri"/>
                        </a:rPr>
                        <a:t>MEDIUM</a:t>
                      </a:r>
                    </a:p>
                  </a:txBody>
                  <a:tcPr>
                    <a:solidFill>
                      <a:srgbClr val="F2F4F8"/>
                    </a:solidFill>
                  </a:tcPr>
                </a:tc>
                <a:tc>
                  <a:txBody>
                    <a:bodyPr/>
                    <a:lstStyle/>
                    <a:p>
                      <a:r>
                        <a:rPr sz="900" b="0">
                          <a:solidFill>
                            <a:srgbClr val="0D1B3E"/>
                          </a:solidFill>
                          <a:latin typeface="Calibri"/>
                        </a:rPr>
                        <a:t>INCONCLUSIVE</a:t>
                      </a:r>
                    </a:p>
                  </a:txBody>
                  <a:tcPr>
                    <a:solidFill>
                      <a:srgbClr val="F2F4F8"/>
                    </a:solidFill>
                  </a:tcPr>
                </a:tc>
                <a:tc>
                  <a:txBody>
                    <a:bodyPr/>
                    <a:lstStyle/>
                    <a:p>
                      <a:r>
                        <a:rPr sz="900" b="0">
                          <a:solidFill>
                            <a:srgbClr val="0D1B3E"/>
                          </a:solidFill>
                          <a:latin typeface="Calibri"/>
                        </a:rPr>
                        <a:t>0.40</a:t>
                      </a:r>
                    </a:p>
                  </a:txBody>
                  <a:tcPr>
                    <a:solidFill>
                      <a:srgbClr val="F2F4F8"/>
                    </a:solidFill>
                  </a:tcPr>
                </a:tc>
                <a:tc>
                  <a:txBody>
                    <a:bodyPr/>
                    <a:lstStyle/>
                    <a:p>
                      <a:r>
                        <a:rPr sz="900" b="0">
                          <a:solidFill>
                            <a:srgbClr val="0D1B3E"/>
                          </a:solidFill>
                          <a:latin typeface="Calibri"/>
                        </a:rPr>
                        <a:t>NONE
IDENTIFIED</a:t>
                      </a:r>
                    </a:p>
                  </a:txBody>
                  <a:tcPr>
                    <a:solidFill>
                      <a:srgbClr val="F2F4F8"/>
                    </a:solidFill>
                  </a:tcPr>
                </a:tc>
                <a:tc>
                  <a:txBody>
                    <a:bodyPr/>
                    <a:lstStyle/>
                    <a:p>
                      <a:r>
                        <a:rPr sz="900" b="0">
                          <a:solidFill>
                            <a:srgbClr val="0D1B3E"/>
                          </a:solidFill>
                          <a:latin typeface="Calibri"/>
                        </a:rPr>
                        <a:t>No</a:t>
                      </a:r>
                    </a:p>
                  </a:txBody>
                  <a:tcPr>
                    <a:solidFill>
                      <a:srgbClr val="F2F4F8"/>
                    </a:solidFill>
                  </a:tcPr>
                </a:tc>
                <a:tc>
                  <a:txBody>
                    <a:bodyPr/>
                    <a:lstStyle/>
                    <a:p>
                      <a:r>
                        <a:rPr sz="900" b="0">
                          <a:solidFill>
                            <a:srgbClr val="0D1B3E"/>
                          </a:solidFill>
                          <a:latin typeface="Calibri"/>
                        </a:rPr>
                        <a:t>P3: Monitor for AI service expansion</a:t>
                      </a:r>
                    </a:p>
                  </a:txBody>
                  <a:tcPr>
                    <a:solidFill>
                      <a:srgbClr val="F2F4F8"/>
                    </a:solidFill>
                  </a:tcPr>
                </a:tc>
                <a:extLst>
                  <a:ext uri="{0D108BD9-81ED-4DB2-BD59-A6C34878D82A}">
                    <a16:rowId xmlns:a16="http://schemas.microsoft.com/office/drawing/2014/main" val="10004"/>
                  </a:ext>
                </a:extLst>
              </a:tr>
              <a:tr h="522514">
                <a:tc>
                  <a:txBody>
                    <a:bodyPr/>
                    <a:lstStyle/>
                    <a:p>
                      <a:r>
                        <a:rPr sz="900" b="0">
                          <a:solidFill>
                            <a:srgbClr val="0D1B3E"/>
                          </a:solidFill>
                          <a:latin typeface="Calibri"/>
                        </a:rPr>
                        <a:t>BNY</a:t>
                      </a:r>
                    </a:p>
                  </a:txBody>
                  <a:tcPr>
                    <a:solidFill>
                      <a:srgbClr val="FFFFFF"/>
                    </a:solidFill>
                  </a:tcPr>
                </a:tc>
                <a:tc>
                  <a:txBody>
                    <a:bodyPr/>
                    <a:lstStyle/>
                    <a:p>
                      <a:r>
                        <a:rPr sz="900" b="0">
                          <a:solidFill>
                            <a:srgbClr val="0D1B3E"/>
                          </a:solidFill>
                          <a:latin typeface="Calibri"/>
                        </a:rPr>
                        <a:t>CRITICAL</a:t>
                      </a:r>
                    </a:p>
                  </a:txBody>
                  <a:tcPr>
                    <a:solidFill>
                      <a:srgbClr val="FFFFFF"/>
                    </a:solidFill>
                  </a:tcPr>
                </a:tc>
                <a:tc>
                  <a:txBody>
                    <a:bodyPr/>
                    <a:lstStyle/>
                    <a:p>
                      <a:r>
                        <a:rPr sz="900" b="0">
                          <a:solidFill>
                            <a:srgbClr val="0D1B3E"/>
                          </a:solidFill>
                          <a:latin typeface="Calibri"/>
                        </a:rPr>
                        <a:t>YES</a:t>
                      </a:r>
                    </a:p>
                  </a:txBody>
                  <a:tcPr>
                    <a:solidFill>
                      <a:srgbClr val="FFFFFF"/>
                    </a:solidFill>
                  </a:tcPr>
                </a:tc>
                <a:tc>
                  <a:txBody>
                    <a:bodyPr/>
                    <a:lstStyle/>
                    <a:p>
                      <a:r>
                        <a:rPr sz="900" b="0">
                          <a:solidFill>
                            <a:srgbClr val="0D1B3E"/>
                          </a:solidFill>
                          <a:latin typeface="Calibri"/>
                        </a:rPr>
                        <a:t>1.00</a:t>
                      </a:r>
                    </a:p>
                  </a:txBody>
                  <a:tcPr>
                    <a:solidFill>
                      <a:srgbClr val="FFFFFF"/>
                    </a:solidFill>
                  </a:tcPr>
                </a:tc>
                <a:tc>
                  <a:txBody>
                    <a:bodyPr/>
                    <a:lstStyle/>
                    <a:p>
                      <a:r>
                        <a:rPr sz="900" b="0">
                          <a:solidFill>
                            <a:srgbClr val="0D1B3E"/>
                          </a:solidFill>
                          <a:latin typeface="Calibri"/>
                        </a:rPr>
                        <a:t>CRITICAL</a:t>
                      </a:r>
                    </a:p>
                  </a:txBody>
                  <a:tcPr>
                    <a:solidFill>
                      <a:srgbClr val="FFFFFF"/>
                    </a:solidFill>
                  </a:tcPr>
                </a:tc>
                <a:tc>
                  <a:txBody>
                    <a:bodyPr/>
                    <a:lstStyle/>
                    <a:p>
                      <a:r>
                        <a:rPr sz="900" b="0">
                          <a:solidFill>
                            <a:srgbClr val="0D1B3E"/>
                          </a:solidFill>
                          <a:latin typeface="Calibri"/>
                        </a:rPr>
                        <a:t>YES — data
sensitivity floor</a:t>
                      </a:r>
                    </a:p>
                  </a:txBody>
                  <a:tcPr>
                    <a:solidFill>
                      <a:srgbClr val="FFFFFF"/>
                    </a:solidFill>
                  </a:tcPr>
                </a:tc>
                <a:tc>
                  <a:txBody>
                    <a:bodyPr/>
                    <a:lstStyle/>
                    <a:p>
                      <a:r>
                        <a:rPr sz="900" b="0">
                          <a:solidFill>
                            <a:srgbClr val="0D1B3E"/>
                          </a:solidFill>
                          <a:latin typeface="Calibri"/>
                        </a:rPr>
                        <a:t>P1: Eliza AI Due Diligence + disclose AI provider + training data clause</a:t>
                      </a:r>
                    </a:p>
                  </a:txBody>
                  <a:tcPr>
                    <a:solidFill>
                      <a:srgbClr val="FFFFFF"/>
                    </a:solidFill>
                  </a:tcPr>
                </a:tc>
                <a:extLst>
                  <a:ext uri="{0D108BD9-81ED-4DB2-BD59-A6C34878D82A}">
                    <a16:rowId xmlns:a16="http://schemas.microsoft.com/office/drawing/2014/main" val="10005"/>
                  </a:ext>
                </a:extLst>
              </a:tr>
              <a:tr h="522516">
                <a:tc>
                  <a:txBody>
                    <a:bodyPr/>
                    <a:lstStyle/>
                    <a:p>
                      <a:r>
                        <a:rPr sz="900" b="0">
                          <a:solidFill>
                            <a:srgbClr val="0D1B3E"/>
                          </a:solidFill>
                          <a:latin typeface="Calibri"/>
                        </a:rPr>
                        <a:t>TCH</a:t>
                      </a:r>
                    </a:p>
                  </a:txBody>
                  <a:tcPr>
                    <a:solidFill>
                      <a:srgbClr val="F2F4F8"/>
                    </a:solidFill>
                  </a:tcPr>
                </a:tc>
                <a:tc>
                  <a:txBody>
                    <a:bodyPr/>
                    <a:lstStyle/>
                    <a:p>
                      <a:r>
                        <a:rPr sz="900" b="0">
                          <a:solidFill>
                            <a:srgbClr val="0D1B3E"/>
                          </a:solidFill>
                          <a:latin typeface="Calibri"/>
                        </a:rPr>
                        <a:t>CRITICAL</a:t>
                      </a:r>
                    </a:p>
                  </a:txBody>
                  <a:tcPr>
                    <a:solidFill>
                      <a:srgbClr val="F2F4F8"/>
                    </a:solidFill>
                  </a:tcPr>
                </a:tc>
                <a:tc>
                  <a:txBody>
                    <a:bodyPr/>
                    <a:lstStyle/>
                    <a:p>
                      <a:r>
                        <a:rPr sz="900" b="0">
                          <a:solidFill>
                            <a:srgbClr val="0D1B3E"/>
                          </a:solidFill>
                          <a:latin typeface="Calibri"/>
                        </a:rPr>
                        <a:t>INCONCLUSIVE</a:t>
                      </a:r>
                    </a:p>
                  </a:txBody>
                  <a:tcPr>
                    <a:solidFill>
                      <a:srgbClr val="F2F4F8"/>
                    </a:solidFill>
                  </a:tcPr>
                </a:tc>
                <a:tc>
                  <a:txBody>
                    <a:bodyPr/>
                    <a:lstStyle/>
                    <a:p>
                      <a:r>
                        <a:rPr sz="900" b="0">
                          <a:solidFill>
                            <a:srgbClr val="0D1B3E"/>
                          </a:solidFill>
                          <a:latin typeface="Calibri"/>
                        </a:rPr>
                        <a:t>0.40</a:t>
                      </a:r>
                    </a:p>
                  </a:txBody>
                  <a:tcPr>
                    <a:solidFill>
                      <a:srgbClr val="F2F4F8"/>
                    </a:solidFill>
                  </a:tcPr>
                </a:tc>
                <a:tc>
                  <a:txBody>
                    <a:bodyPr/>
                    <a:lstStyle/>
                    <a:p>
                      <a:r>
                        <a:rPr sz="900" b="0">
                          <a:solidFill>
                            <a:srgbClr val="0D1B3E"/>
                          </a:solidFill>
                          <a:latin typeface="Calibri"/>
                        </a:rPr>
                        <a:t>LOW</a:t>
                      </a:r>
                    </a:p>
                  </a:txBody>
                  <a:tcPr>
                    <a:solidFill>
                      <a:srgbClr val="F2F4F8"/>
                    </a:solidFill>
                  </a:tcPr>
                </a:tc>
                <a:tc>
                  <a:txBody>
                    <a:bodyPr/>
                    <a:lstStyle/>
                    <a:p>
                      <a:r>
                        <a:rPr sz="900" b="0">
                          <a:solidFill>
                            <a:srgbClr val="0D1B3E"/>
                          </a:solidFill>
                          <a:latin typeface="Calibri"/>
                        </a:rPr>
                        <a:t>No</a:t>
                      </a:r>
                    </a:p>
                  </a:txBody>
                  <a:tcPr>
                    <a:solidFill>
                      <a:srgbClr val="F2F4F8"/>
                    </a:solidFill>
                  </a:tcPr>
                </a:tc>
                <a:tc>
                  <a:txBody>
                    <a:bodyPr/>
                    <a:lstStyle/>
                    <a:p>
                      <a:r>
                        <a:rPr sz="900" b="0">
                          <a:solidFill>
                            <a:srgbClr val="0D1B3E"/>
                          </a:solidFill>
                          <a:latin typeface="Calibri"/>
                        </a:rPr>
                        <a:t>P2: Formal questionnaire — does RTP use AI decision-making?</a:t>
                      </a:r>
                    </a:p>
                  </a:txBody>
                  <a:tcPr>
                    <a:solidFill>
                      <a:srgbClr val="F2F4F8"/>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417320"/>
            <a:ext cx="914400" cy="54864"/>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1440"/>
            <a:ext cx="5486400" cy="365760"/>
          </a:xfrm>
          <a:prstGeom prst="rect">
            <a:avLst/>
          </a:prstGeom>
          <a:noFill/>
        </p:spPr>
        <p:txBody>
          <a:bodyPr wrap="square">
            <a:spAutoFit/>
          </a:bodyPr>
          <a:lstStyle/>
          <a:p>
            <a:pPr algn="l"/>
            <a:r>
              <a:rPr sz="900" b="0" i="0">
                <a:solidFill>
                  <a:srgbClr val="E05A0E"/>
                </a:solidFill>
                <a:latin typeface="Calibri"/>
              </a:rPr>
              <a:t>EXPECTED OUTCOME 05</a:t>
            </a:r>
          </a:p>
        </p:txBody>
      </p:sp>
      <p:sp>
        <p:nvSpPr>
          <p:cNvPr id="6" name="TextBox 5"/>
          <p:cNvSpPr txBox="1"/>
          <p:nvPr/>
        </p:nvSpPr>
        <p:spPr>
          <a:xfrm>
            <a:off x="457200" y="411480"/>
            <a:ext cx="8229600" cy="731520"/>
          </a:xfrm>
          <a:prstGeom prst="rect">
            <a:avLst/>
          </a:prstGeom>
          <a:noFill/>
        </p:spPr>
        <p:txBody>
          <a:bodyPr wrap="square">
            <a:spAutoFit/>
          </a:bodyPr>
          <a:lstStyle/>
          <a:p>
            <a:pPr algn="l"/>
            <a:r>
              <a:rPr sz="2800" b="1" i="0">
                <a:solidFill>
                  <a:srgbClr val="FFFFFF"/>
                </a:solidFill>
                <a:latin typeface="Calibri"/>
              </a:rPr>
              <a:t>Working Demonstration</a:t>
            </a:r>
          </a:p>
        </p:txBody>
      </p:sp>
      <p:sp>
        <p:nvSpPr>
          <p:cNvPr id="7" name="TextBox 6"/>
          <p:cNvSpPr txBox="1"/>
          <p:nvPr/>
        </p:nvSpPr>
        <p:spPr>
          <a:xfrm>
            <a:off x="1463040" y="1325880"/>
            <a:ext cx="8229600" cy="365760"/>
          </a:xfrm>
          <a:prstGeom prst="rect">
            <a:avLst/>
          </a:prstGeom>
          <a:noFill/>
        </p:spPr>
        <p:txBody>
          <a:bodyPr wrap="square">
            <a:spAutoFit/>
          </a:bodyPr>
          <a:lstStyle/>
          <a:p>
            <a:pPr algn="l"/>
            <a:r>
              <a:rPr sz="1200" b="0" i="0" dirty="0">
                <a:solidFill>
                  <a:srgbClr val="4A5A6B"/>
                </a:solidFill>
                <a:latin typeface="Calibri"/>
              </a:rPr>
              <a:t>MAVIRA platform — live walkthrough in 5 steps</a:t>
            </a:r>
          </a:p>
        </p:txBody>
      </p:sp>
      <p:sp>
        <p:nvSpPr>
          <p:cNvPr id="8" name="TextBox 7"/>
          <p:cNvSpPr txBox="1"/>
          <p:nvPr/>
        </p:nvSpPr>
        <p:spPr>
          <a:xfrm>
            <a:off x="9144000" y="137160"/>
            <a:ext cx="2743200" cy="274320"/>
          </a:xfrm>
          <a:prstGeom prst="rect">
            <a:avLst/>
          </a:prstGeom>
          <a:noFill/>
        </p:spPr>
        <p:txBody>
          <a:bodyPr wrap="square">
            <a:spAutoFit/>
          </a:bodyPr>
          <a:lstStyle/>
          <a:p>
            <a:pPr algn="r"/>
            <a:r>
              <a:rPr sz="1100" b="1" i="0">
                <a:solidFill>
                  <a:srgbClr val="FFFFFF"/>
                </a:solidFill>
                <a:latin typeface="Calibri"/>
              </a:rPr>
              <a:t>Optiv Consulting</a:t>
            </a:r>
          </a:p>
        </p:txBody>
      </p:sp>
      <p:sp>
        <p:nvSpPr>
          <p:cNvPr id="9" name="TextBox 8"/>
          <p:cNvSpPr txBox="1"/>
          <p:nvPr/>
        </p:nvSpPr>
        <p:spPr>
          <a:xfrm>
            <a:off x="9144000" y="384048"/>
            <a:ext cx="2926080" cy="274320"/>
          </a:xfrm>
          <a:prstGeom prst="rect">
            <a:avLst/>
          </a:prstGeom>
          <a:noFill/>
        </p:spPr>
        <p:txBody>
          <a:bodyPr wrap="square">
            <a:spAutoFit/>
          </a:bodyPr>
          <a:lstStyle/>
          <a:p>
            <a:pPr algn="r"/>
            <a:r>
              <a:rPr sz="800" b="0" i="0">
                <a:solidFill>
                  <a:srgbClr val="F2F4F8"/>
                </a:solidFill>
                <a:latin typeface="Calibri"/>
              </a:rPr>
              <a:t>[formerly part of Optiv Security]</a:t>
            </a:r>
          </a:p>
        </p:txBody>
      </p:sp>
      <p:sp>
        <p:nvSpPr>
          <p:cNvPr id="10" name="Rectangle 9"/>
          <p:cNvSpPr/>
          <p:nvPr/>
        </p:nvSpPr>
        <p:spPr>
          <a:xfrm>
            <a:off x="274320" y="1691640"/>
            <a:ext cx="822960" cy="7772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 y="1856232"/>
            <a:ext cx="822960" cy="457200"/>
          </a:xfrm>
          <a:prstGeom prst="rect">
            <a:avLst/>
          </a:prstGeom>
          <a:noFill/>
        </p:spPr>
        <p:txBody>
          <a:bodyPr wrap="square">
            <a:spAutoFit/>
          </a:bodyPr>
          <a:lstStyle/>
          <a:p>
            <a:pPr algn="ctr"/>
            <a:r>
              <a:rPr sz="1800" b="1" i="0">
                <a:solidFill>
                  <a:srgbClr val="FFFFFF"/>
                </a:solidFill>
                <a:latin typeface="Calibri"/>
              </a:rPr>
              <a:t>01</a:t>
            </a:r>
          </a:p>
        </p:txBody>
      </p:sp>
      <p:sp>
        <p:nvSpPr>
          <p:cNvPr id="12" name="Rectangle 11"/>
          <p:cNvSpPr/>
          <p:nvPr/>
        </p:nvSpPr>
        <p:spPr>
          <a:xfrm>
            <a:off x="1188720" y="1691640"/>
            <a:ext cx="10607040" cy="77724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25880" y="1737360"/>
            <a:ext cx="2286000" cy="320040"/>
          </a:xfrm>
          <a:prstGeom prst="rect">
            <a:avLst/>
          </a:prstGeom>
          <a:noFill/>
        </p:spPr>
        <p:txBody>
          <a:bodyPr wrap="square">
            <a:spAutoFit/>
          </a:bodyPr>
          <a:lstStyle/>
          <a:p>
            <a:pPr algn="l"/>
            <a:r>
              <a:rPr sz="1100" b="1" i="0">
                <a:solidFill>
                  <a:srgbClr val="0D1B3E"/>
                </a:solidFill>
                <a:latin typeface="Calibri"/>
              </a:rPr>
              <a:t>Step 1: Import</a:t>
            </a:r>
          </a:p>
        </p:txBody>
      </p:sp>
      <p:sp>
        <p:nvSpPr>
          <p:cNvPr id="14" name="TextBox 13"/>
          <p:cNvSpPr txBox="1"/>
          <p:nvPr/>
        </p:nvSpPr>
        <p:spPr>
          <a:xfrm>
            <a:off x="1325880" y="2057400"/>
            <a:ext cx="10332720" cy="365760"/>
          </a:xfrm>
          <a:prstGeom prst="rect">
            <a:avLst/>
          </a:prstGeom>
          <a:noFill/>
        </p:spPr>
        <p:txBody>
          <a:bodyPr wrap="square">
            <a:spAutoFit/>
          </a:bodyPr>
          <a:lstStyle/>
          <a:p>
            <a:pPr algn="l"/>
            <a:r>
              <a:rPr sz="950" b="0" i="0">
                <a:solidFill>
                  <a:srgbClr val="4A5A6B"/>
                </a:solidFill>
                <a:latin typeface="Calibri"/>
              </a:rPr>
              <a:t>Upload Meridian_Vendor_Input.xlsx via the Import Workbook screen. MAVIRA parses vendor name, ID, service category, service description, and data classification from the Excel file. No configuration required — column matching is header-based.</a:t>
            </a:r>
          </a:p>
        </p:txBody>
      </p:sp>
      <p:sp>
        <p:nvSpPr>
          <p:cNvPr id="15" name="Rectangle 14"/>
          <p:cNvSpPr/>
          <p:nvPr/>
        </p:nvSpPr>
        <p:spPr>
          <a:xfrm>
            <a:off x="274320" y="2697480"/>
            <a:ext cx="822960" cy="777240"/>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4320" y="2862072"/>
            <a:ext cx="822960" cy="457200"/>
          </a:xfrm>
          <a:prstGeom prst="rect">
            <a:avLst/>
          </a:prstGeom>
          <a:noFill/>
        </p:spPr>
        <p:txBody>
          <a:bodyPr wrap="square">
            <a:spAutoFit/>
          </a:bodyPr>
          <a:lstStyle/>
          <a:p>
            <a:pPr algn="ctr"/>
            <a:r>
              <a:rPr sz="1800" b="1" i="0">
                <a:solidFill>
                  <a:srgbClr val="FFFFFF"/>
                </a:solidFill>
                <a:latin typeface="Calibri"/>
              </a:rPr>
              <a:t>02</a:t>
            </a:r>
          </a:p>
        </p:txBody>
      </p:sp>
      <p:sp>
        <p:nvSpPr>
          <p:cNvPr id="17" name="Rectangle 16"/>
          <p:cNvSpPr/>
          <p:nvPr/>
        </p:nvSpPr>
        <p:spPr>
          <a:xfrm>
            <a:off x="1188720" y="2697480"/>
            <a:ext cx="1060704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25880" y="2743200"/>
            <a:ext cx="2286000" cy="320040"/>
          </a:xfrm>
          <a:prstGeom prst="rect">
            <a:avLst/>
          </a:prstGeom>
          <a:noFill/>
        </p:spPr>
        <p:txBody>
          <a:bodyPr wrap="square">
            <a:spAutoFit/>
          </a:bodyPr>
          <a:lstStyle/>
          <a:p>
            <a:pPr algn="l"/>
            <a:r>
              <a:rPr sz="1100" b="1" i="0">
                <a:solidFill>
                  <a:srgbClr val="0D1B3E"/>
                </a:solidFill>
                <a:latin typeface="Calibri"/>
              </a:rPr>
              <a:t>Step 2: Run Assessment</a:t>
            </a:r>
          </a:p>
        </p:txBody>
      </p:sp>
      <p:sp>
        <p:nvSpPr>
          <p:cNvPr id="19" name="TextBox 18"/>
          <p:cNvSpPr txBox="1"/>
          <p:nvPr/>
        </p:nvSpPr>
        <p:spPr>
          <a:xfrm>
            <a:off x="1325880" y="3063240"/>
            <a:ext cx="10332720" cy="365760"/>
          </a:xfrm>
          <a:prstGeom prst="rect">
            <a:avLst/>
          </a:prstGeom>
          <a:noFill/>
        </p:spPr>
        <p:txBody>
          <a:bodyPr wrap="square">
            <a:spAutoFit/>
          </a:bodyPr>
          <a:lstStyle/>
          <a:p>
            <a:pPr algn="l"/>
            <a:r>
              <a:rPr sz="950" b="0" i="0">
                <a:solidFill>
                  <a:srgbClr val="4A5A6B"/>
                </a:solidFill>
                <a:latin typeface="Calibri"/>
              </a:rPr>
              <a:t>Click 'Start Assessment'. LIVE mode calls Serper API (Google) in real time. DEMO mode replays the Oct 2026 cached snapshot. Progress bar shows per-vendor pipeline stage completion. 6 vendors complete in approximately 3 minutes on LIVE mode.</a:t>
            </a:r>
          </a:p>
        </p:txBody>
      </p:sp>
      <p:sp>
        <p:nvSpPr>
          <p:cNvPr id="20" name="Rectangle 19"/>
          <p:cNvSpPr/>
          <p:nvPr/>
        </p:nvSpPr>
        <p:spPr>
          <a:xfrm>
            <a:off x="274320" y="3703320"/>
            <a:ext cx="822960" cy="7772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4320" y="3867912"/>
            <a:ext cx="822960" cy="457200"/>
          </a:xfrm>
          <a:prstGeom prst="rect">
            <a:avLst/>
          </a:prstGeom>
          <a:noFill/>
        </p:spPr>
        <p:txBody>
          <a:bodyPr wrap="square">
            <a:spAutoFit/>
          </a:bodyPr>
          <a:lstStyle/>
          <a:p>
            <a:pPr algn="ctr"/>
            <a:r>
              <a:rPr sz="1800" b="1" i="0">
                <a:solidFill>
                  <a:srgbClr val="FFFFFF"/>
                </a:solidFill>
                <a:latin typeface="Calibri"/>
              </a:rPr>
              <a:t>03</a:t>
            </a:r>
          </a:p>
        </p:txBody>
      </p:sp>
      <p:sp>
        <p:nvSpPr>
          <p:cNvPr id="22" name="Rectangle 21"/>
          <p:cNvSpPr/>
          <p:nvPr/>
        </p:nvSpPr>
        <p:spPr>
          <a:xfrm>
            <a:off x="1188720" y="3703320"/>
            <a:ext cx="10607040" cy="77724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325880" y="3749040"/>
            <a:ext cx="2286000" cy="320040"/>
          </a:xfrm>
          <a:prstGeom prst="rect">
            <a:avLst/>
          </a:prstGeom>
          <a:noFill/>
        </p:spPr>
        <p:txBody>
          <a:bodyPr wrap="square">
            <a:spAutoFit/>
          </a:bodyPr>
          <a:lstStyle/>
          <a:p>
            <a:pPr algn="l"/>
            <a:r>
              <a:rPr sz="1100" b="1" i="0">
                <a:solidFill>
                  <a:srgbClr val="0D1B3E"/>
                </a:solidFill>
                <a:latin typeface="Calibri"/>
              </a:rPr>
              <a:t>Step 3: Vendor Register</a:t>
            </a:r>
          </a:p>
        </p:txBody>
      </p:sp>
      <p:sp>
        <p:nvSpPr>
          <p:cNvPr id="24" name="TextBox 23"/>
          <p:cNvSpPr txBox="1"/>
          <p:nvPr/>
        </p:nvSpPr>
        <p:spPr>
          <a:xfrm>
            <a:off x="1325880" y="4069080"/>
            <a:ext cx="10332720" cy="365760"/>
          </a:xfrm>
          <a:prstGeom prst="rect">
            <a:avLst/>
          </a:prstGeom>
          <a:noFill/>
        </p:spPr>
        <p:txBody>
          <a:bodyPr wrap="square">
            <a:spAutoFit/>
          </a:bodyPr>
          <a:lstStyle/>
          <a:p>
            <a:pPr algn="l"/>
            <a:r>
              <a:rPr sz="950" b="0" i="0">
                <a:solidFill>
                  <a:srgbClr val="4A5A6B"/>
                </a:solidFill>
                <a:latin typeface="Calibri"/>
              </a:rPr>
              <a:t>Dashboard shows all 6 vendors with Criticality tier, AI Usage verdict, Confidence %, AI Security Risk classification, Evidence Strength score, and Review status. Fiserv and BNY show CRITICAL/YES. TCH shows CRITICAL/INCONCLUSIVE.</a:t>
            </a:r>
          </a:p>
        </p:txBody>
      </p:sp>
      <p:sp>
        <p:nvSpPr>
          <p:cNvPr id="25" name="Rectangle 24"/>
          <p:cNvSpPr/>
          <p:nvPr/>
        </p:nvSpPr>
        <p:spPr>
          <a:xfrm>
            <a:off x="274320" y="4709160"/>
            <a:ext cx="822960" cy="777240"/>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74320" y="4873752"/>
            <a:ext cx="822960" cy="457200"/>
          </a:xfrm>
          <a:prstGeom prst="rect">
            <a:avLst/>
          </a:prstGeom>
          <a:noFill/>
        </p:spPr>
        <p:txBody>
          <a:bodyPr wrap="square">
            <a:spAutoFit/>
          </a:bodyPr>
          <a:lstStyle/>
          <a:p>
            <a:pPr algn="ctr"/>
            <a:r>
              <a:rPr sz="1800" b="1" i="0">
                <a:solidFill>
                  <a:srgbClr val="FFFFFF"/>
                </a:solidFill>
                <a:latin typeface="Calibri"/>
              </a:rPr>
              <a:t>04</a:t>
            </a:r>
          </a:p>
        </p:txBody>
      </p:sp>
      <p:sp>
        <p:nvSpPr>
          <p:cNvPr id="27" name="Rectangle 26"/>
          <p:cNvSpPr/>
          <p:nvPr/>
        </p:nvSpPr>
        <p:spPr>
          <a:xfrm>
            <a:off x="1188720" y="4709160"/>
            <a:ext cx="1060704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325880" y="4754880"/>
            <a:ext cx="2286000" cy="320040"/>
          </a:xfrm>
          <a:prstGeom prst="rect">
            <a:avLst/>
          </a:prstGeom>
          <a:noFill/>
        </p:spPr>
        <p:txBody>
          <a:bodyPr wrap="square">
            <a:spAutoFit/>
          </a:bodyPr>
          <a:lstStyle/>
          <a:p>
            <a:pPr algn="l"/>
            <a:r>
              <a:rPr sz="1100" b="1" i="0">
                <a:solidFill>
                  <a:srgbClr val="0D1B3E"/>
                </a:solidFill>
                <a:latin typeface="Calibri"/>
              </a:rPr>
              <a:t>Step 4: Evidence Explorer</a:t>
            </a:r>
          </a:p>
        </p:txBody>
      </p:sp>
      <p:sp>
        <p:nvSpPr>
          <p:cNvPr id="29" name="TextBox 28"/>
          <p:cNvSpPr txBox="1"/>
          <p:nvPr/>
        </p:nvSpPr>
        <p:spPr>
          <a:xfrm>
            <a:off x="1325880" y="5074920"/>
            <a:ext cx="10332720" cy="365760"/>
          </a:xfrm>
          <a:prstGeom prst="rect">
            <a:avLst/>
          </a:prstGeom>
          <a:noFill/>
        </p:spPr>
        <p:txBody>
          <a:bodyPr wrap="square">
            <a:spAutoFit/>
          </a:bodyPr>
          <a:lstStyle/>
          <a:p>
            <a:pPr algn="l"/>
            <a:r>
              <a:rPr sz="950" b="0" i="0">
                <a:solidFill>
                  <a:srgbClr val="4A5A6B"/>
                </a:solidFill>
                <a:latin typeface="Calibri"/>
              </a:rPr>
              <a:t>Click any vendor to see every evidence item: source URL, title, excerpt, strength score (0–100), evidence nature (SERVICE_INTEGRATED etc.), and the exact scoring breakdown across all 6 components.</a:t>
            </a:r>
          </a:p>
        </p:txBody>
      </p:sp>
      <p:sp>
        <p:nvSpPr>
          <p:cNvPr id="30" name="Rectangle 29"/>
          <p:cNvSpPr/>
          <p:nvPr/>
        </p:nvSpPr>
        <p:spPr>
          <a:xfrm>
            <a:off x="274320" y="5715000"/>
            <a:ext cx="822960" cy="7772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4320" y="5879592"/>
            <a:ext cx="822960" cy="457200"/>
          </a:xfrm>
          <a:prstGeom prst="rect">
            <a:avLst/>
          </a:prstGeom>
          <a:noFill/>
        </p:spPr>
        <p:txBody>
          <a:bodyPr wrap="square">
            <a:spAutoFit/>
          </a:bodyPr>
          <a:lstStyle/>
          <a:p>
            <a:pPr algn="ctr"/>
            <a:r>
              <a:rPr sz="1800" b="1" i="0">
                <a:solidFill>
                  <a:srgbClr val="FFFFFF"/>
                </a:solidFill>
                <a:latin typeface="Calibri"/>
              </a:rPr>
              <a:t>05</a:t>
            </a:r>
          </a:p>
        </p:txBody>
      </p:sp>
      <p:sp>
        <p:nvSpPr>
          <p:cNvPr id="32" name="Rectangle 31"/>
          <p:cNvSpPr/>
          <p:nvPr/>
        </p:nvSpPr>
        <p:spPr>
          <a:xfrm>
            <a:off x="1188720" y="5715000"/>
            <a:ext cx="10607040" cy="77724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325880" y="5760720"/>
            <a:ext cx="2286000" cy="320040"/>
          </a:xfrm>
          <a:prstGeom prst="rect">
            <a:avLst/>
          </a:prstGeom>
          <a:noFill/>
        </p:spPr>
        <p:txBody>
          <a:bodyPr wrap="square">
            <a:spAutoFit/>
          </a:bodyPr>
          <a:lstStyle/>
          <a:p>
            <a:pPr algn="l"/>
            <a:r>
              <a:rPr sz="1100" b="1" i="0">
                <a:solidFill>
                  <a:srgbClr val="0D1B3E"/>
                </a:solidFill>
                <a:latin typeface="Calibri"/>
              </a:rPr>
              <a:t>Step 5: Export</a:t>
            </a:r>
          </a:p>
        </p:txBody>
      </p:sp>
      <p:sp>
        <p:nvSpPr>
          <p:cNvPr id="34" name="TextBox 33"/>
          <p:cNvSpPr txBox="1"/>
          <p:nvPr/>
        </p:nvSpPr>
        <p:spPr>
          <a:xfrm>
            <a:off x="1325880" y="6080760"/>
            <a:ext cx="10332720" cy="365760"/>
          </a:xfrm>
          <a:prstGeom prst="rect">
            <a:avLst/>
          </a:prstGeom>
          <a:noFill/>
        </p:spPr>
        <p:txBody>
          <a:bodyPr wrap="square">
            <a:spAutoFit/>
          </a:bodyPr>
          <a:lstStyle/>
          <a:p>
            <a:pPr algn="l"/>
            <a:r>
              <a:rPr sz="950" b="0" i="0">
                <a:solidFill>
                  <a:srgbClr val="4A5A6B"/>
                </a:solidFill>
                <a:latin typeface="Calibri"/>
              </a:rPr>
              <a:t>'Export Completed Workbook' downloads the original Excel file with 5 new result columns added: criticality tier, AI usage verdict, confidence %, AI security risk, and primary recommendation. Findings stay inside the provided offline file — no external upload.</a:t>
            </a:r>
          </a:p>
        </p:txBody>
      </p:sp>
      <p:sp>
        <p:nvSpPr>
          <p:cNvPr id="35" name="TextBox 34"/>
          <p:cNvSpPr txBox="1"/>
          <p:nvPr/>
        </p:nvSpPr>
        <p:spPr>
          <a:xfrm>
            <a:off x="274320" y="6492240"/>
            <a:ext cx="11612880" cy="320040"/>
          </a:xfrm>
          <a:prstGeom prst="rect">
            <a:avLst/>
          </a:prstGeom>
          <a:noFill/>
        </p:spPr>
        <p:txBody>
          <a:bodyPr wrap="square">
            <a:spAutoFit/>
          </a:bodyPr>
          <a:lstStyle/>
          <a:p>
            <a:pPr algn="l"/>
            <a:r>
              <a:rPr sz="950" b="1" i="0">
                <a:solidFill>
                  <a:srgbClr val="0D1B3E"/>
                </a:solidFill>
                <a:latin typeface="Calibri"/>
              </a:rPr>
              <a:t>Tech stack: FastAPI (Python) backend  ·  Next.js 16 + React frontend  ·  SQLite database  ·  Serper API (Google Search)  ·  SSRF-protected HTTP fetcher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417320"/>
            <a:ext cx="914400" cy="54864"/>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91440"/>
            <a:ext cx="5486400" cy="365760"/>
          </a:xfrm>
          <a:prstGeom prst="rect">
            <a:avLst/>
          </a:prstGeom>
          <a:noFill/>
        </p:spPr>
        <p:txBody>
          <a:bodyPr wrap="square">
            <a:spAutoFit/>
          </a:bodyPr>
          <a:lstStyle/>
          <a:p>
            <a:pPr algn="l"/>
            <a:r>
              <a:rPr sz="900" b="0" i="0">
                <a:solidFill>
                  <a:srgbClr val="E05A0E"/>
                </a:solidFill>
                <a:latin typeface="Calibri"/>
              </a:rPr>
              <a:t>OUTPUT</a:t>
            </a:r>
          </a:p>
        </p:txBody>
      </p:sp>
      <p:sp>
        <p:nvSpPr>
          <p:cNvPr id="6" name="TextBox 5"/>
          <p:cNvSpPr txBox="1"/>
          <p:nvPr/>
        </p:nvSpPr>
        <p:spPr>
          <a:xfrm>
            <a:off x="457200" y="411480"/>
            <a:ext cx="8229600" cy="731520"/>
          </a:xfrm>
          <a:prstGeom prst="rect">
            <a:avLst/>
          </a:prstGeom>
          <a:noFill/>
        </p:spPr>
        <p:txBody>
          <a:bodyPr wrap="square">
            <a:spAutoFit/>
          </a:bodyPr>
          <a:lstStyle/>
          <a:p>
            <a:pPr algn="l"/>
            <a:r>
              <a:rPr sz="2800" b="1" i="0">
                <a:solidFill>
                  <a:srgbClr val="FFFFFF"/>
                </a:solidFill>
                <a:latin typeface="Calibri"/>
              </a:rPr>
              <a:t>Recommendations — What Meridian Should Do Next</a:t>
            </a:r>
          </a:p>
        </p:txBody>
      </p:sp>
      <p:sp>
        <p:nvSpPr>
          <p:cNvPr id="7" name="TextBox 6"/>
          <p:cNvSpPr txBox="1"/>
          <p:nvPr/>
        </p:nvSpPr>
        <p:spPr>
          <a:xfrm>
            <a:off x="1463040" y="1337310"/>
            <a:ext cx="8229600" cy="365760"/>
          </a:xfrm>
          <a:prstGeom prst="rect">
            <a:avLst/>
          </a:prstGeom>
          <a:noFill/>
        </p:spPr>
        <p:txBody>
          <a:bodyPr wrap="square">
            <a:spAutoFit/>
          </a:bodyPr>
          <a:lstStyle/>
          <a:p>
            <a:pPr algn="l"/>
            <a:r>
              <a:rPr sz="1200" b="0" i="0" dirty="0">
                <a:solidFill>
                  <a:srgbClr val="4A5A6B"/>
                </a:solidFill>
                <a:latin typeface="Calibri"/>
              </a:rPr>
              <a:t>Priority-tiered actions for each vendor, grounded in evidence</a:t>
            </a:r>
          </a:p>
        </p:txBody>
      </p:sp>
      <p:sp>
        <p:nvSpPr>
          <p:cNvPr id="8" name="TextBox 7"/>
          <p:cNvSpPr txBox="1"/>
          <p:nvPr/>
        </p:nvSpPr>
        <p:spPr>
          <a:xfrm>
            <a:off x="9144000" y="137160"/>
            <a:ext cx="2743200" cy="274320"/>
          </a:xfrm>
          <a:prstGeom prst="rect">
            <a:avLst/>
          </a:prstGeom>
          <a:noFill/>
        </p:spPr>
        <p:txBody>
          <a:bodyPr wrap="square">
            <a:spAutoFit/>
          </a:bodyPr>
          <a:lstStyle/>
          <a:p>
            <a:pPr algn="r"/>
            <a:r>
              <a:rPr sz="1100" b="1" i="0">
                <a:solidFill>
                  <a:srgbClr val="FFFFFF"/>
                </a:solidFill>
                <a:latin typeface="Calibri"/>
              </a:rPr>
              <a:t>Optiv Consulting</a:t>
            </a:r>
          </a:p>
        </p:txBody>
      </p:sp>
      <p:sp>
        <p:nvSpPr>
          <p:cNvPr id="9" name="TextBox 8"/>
          <p:cNvSpPr txBox="1"/>
          <p:nvPr/>
        </p:nvSpPr>
        <p:spPr>
          <a:xfrm>
            <a:off x="9144000" y="384048"/>
            <a:ext cx="2926080" cy="274320"/>
          </a:xfrm>
          <a:prstGeom prst="rect">
            <a:avLst/>
          </a:prstGeom>
          <a:noFill/>
        </p:spPr>
        <p:txBody>
          <a:bodyPr wrap="square">
            <a:spAutoFit/>
          </a:bodyPr>
          <a:lstStyle/>
          <a:p>
            <a:pPr algn="r"/>
            <a:r>
              <a:rPr sz="800" b="0" i="0">
                <a:solidFill>
                  <a:srgbClr val="F2F4F8"/>
                </a:solidFill>
                <a:latin typeface="Calibri"/>
              </a:rPr>
              <a:t>[formerly part of Optiv Security]</a:t>
            </a:r>
          </a:p>
        </p:txBody>
      </p:sp>
      <p:graphicFrame>
        <p:nvGraphicFramePr>
          <p:cNvPr id="10" name="Table 9"/>
          <p:cNvGraphicFramePr>
            <a:graphicFrameLocks noGrp="1"/>
          </p:cNvGraphicFramePr>
          <p:nvPr>
            <p:extLst>
              <p:ext uri="{D42A27DB-BD31-4B8C-83A1-F6EECF244321}">
                <p14:modId xmlns:p14="http://schemas.microsoft.com/office/powerpoint/2010/main" val="436629832"/>
              </p:ext>
            </p:extLst>
          </p:nvPr>
        </p:nvGraphicFramePr>
        <p:xfrm>
          <a:off x="274320" y="1805940"/>
          <a:ext cx="11612880" cy="470916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8138160">
                  <a:extLst>
                    <a:ext uri="{9D8B030D-6E8A-4147-A177-3AD203B41FA5}">
                      <a16:colId xmlns:a16="http://schemas.microsoft.com/office/drawing/2014/main" val="20003"/>
                    </a:ext>
                  </a:extLst>
                </a:gridCol>
              </a:tblGrid>
              <a:tr h="784860">
                <a:tc>
                  <a:txBody>
                    <a:bodyPr/>
                    <a:lstStyle/>
                    <a:p>
                      <a:r>
                        <a:rPr sz="1000" b="1">
                          <a:solidFill>
                            <a:srgbClr val="FFFFFF"/>
                          </a:solidFill>
                          <a:latin typeface="Calibri"/>
                        </a:rPr>
                        <a:t>Vendor</a:t>
                      </a:r>
                    </a:p>
                  </a:txBody>
                  <a:tcPr>
                    <a:solidFill>
                      <a:srgbClr val="0D1B3E"/>
                    </a:solidFill>
                  </a:tcPr>
                </a:tc>
                <a:tc>
                  <a:txBody>
                    <a:bodyPr/>
                    <a:lstStyle/>
                    <a:p>
                      <a:r>
                        <a:rPr sz="1000" b="1">
                          <a:solidFill>
                            <a:srgbClr val="FFFFFF"/>
                          </a:solidFill>
                          <a:latin typeface="Calibri"/>
                        </a:rPr>
                        <a:t>Risk</a:t>
                      </a:r>
                    </a:p>
                  </a:txBody>
                  <a:tcPr>
                    <a:solidFill>
                      <a:srgbClr val="0D1B3E"/>
                    </a:solidFill>
                  </a:tcPr>
                </a:tc>
                <a:tc>
                  <a:txBody>
                    <a:bodyPr/>
                    <a:lstStyle/>
                    <a:p>
                      <a:r>
                        <a:rPr sz="1000" b="1">
                          <a:solidFill>
                            <a:srgbClr val="FFFFFF"/>
                          </a:solidFill>
                          <a:latin typeface="Calibri"/>
                        </a:rPr>
                        <a:t>Priority</a:t>
                      </a:r>
                    </a:p>
                  </a:txBody>
                  <a:tcPr>
                    <a:solidFill>
                      <a:srgbClr val="0D1B3E"/>
                    </a:solidFill>
                  </a:tcPr>
                </a:tc>
                <a:tc>
                  <a:txBody>
                    <a:bodyPr/>
                    <a:lstStyle/>
                    <a:p>
                      <a:r>
                        <a:rPr sz="1000" b="1">
                          <a:solidFill>
                            <a:srgbClr val="FFFFFF"/>
                          </a:solidFill>
                          <a:latin typeface="Calibri"/>
                        </a:rPr>
                        <a:t>Recommended Actions</a:t>
                      </a:r>
                    </a:p>
                  </a:txBody>
                  <a:tcPr>
                    <a:solidFill>
                      <a:srgbClr val="0D1B3E"/>
                    </a:solidFill>
                  </a:tcPr>
                </a:tc>
                <a:extLst>
                  <a:ext uri="{0D108BD9-81ED-4DB2-BD59-A6C34878D82A}">
                    <a16:rowId xmlns:a16="http://schemas.microsoft.com/office/drawing/2014/main" val="10000"/>
                  </a:ext>
                </a:extLst>
              </a:tr>
              <a:tr h="784860">
                <a:tc>
                  <a:txBody>
                    <a:bodyPr/>
                    <a:lstStyle/>
                    <a:p>
                      <a:r>
                        <a:rPr sz="900" b="0">
                          <a:solidFill>
                            <a:srgbClr val="0D1B3E"/>
                          </a:solidFill>
                          <a:latin typeface="Calibri"/>
                        </a:rPr>
                        <a:t>Fiserv
(V-002)</a:t>
                      </a:r>
                    </a:p>
                  </a:txBody>
                  <a:tcPr>
                    <a:solidFill>
                      <a:srgbClr val="FFE0E0"/>
                    </a:solidFill>
                  </a:tcPr>
                </a:tc>
                <a:tc>
                  <a:txBody>
                    <a:bodyPr/>
                    <a:lstStyle/>
                    <a:p>
                      <a:r>
                        <a:rPr sz="900" b="0">
                          <a:solidFill>
                            <a:srgbClr val="0D1B3E"/>
                          </a:solidFill>
                          <a:latin typeface="Calibri"/>
                        </a:rPr>
                        <a:t>CRITICAL</a:t>
                      </a:r>
                    </a:p>
                  </a:txBody>
                  <a:tcPr>
                    <a:solidFill>
                      <a:srgbClr val="FFE0E0"/>
                    </a:solidFill>
                  </a:tcPr>
                </a:tc>
                <a:tc>
                  <a:txBody>
                    <a:bodyPr/>
                    <a:lstStyle/>
                    <a:p>
                      <a:r>
                        <a:rPr sz="900" b="0">
                          <a:solidFill>
                            <a:srgbClr val="0D1B3E"/>
                          </a:solidFill>
                          <a:latin typeface="Calibri"/>
                        </a:rPr>
                        <a:t>P1
Immediate</a:t>
                      </a:r>
                    </a:p>
                  </a:txBody>
                  <a:tcPr>
                    <a:solidFill>
                      <a:srgbClr val="FFE0E0"/>
                    </a:solidFill>
                  </a:tcPr>
                </a:tc>
                <a:tc>
                  <a:txBody>
                    <a:bodyPr/>
                    <a:lstStyle/>
                    <a:p>
                      <a:r>
                        <a:rPr sz="900" b="0">
                          <a:solidFill>
                            <a:srgbClr val="0D1B3E"/>
                          </a:solidFill>
                          <a:latin typeface="Calibri"/>
                        </a:rPr>
                        <a:t>1. Contract amendment: add AI governance clause referencing Foundry AI
2. Enhanced Due Diligence on Azure OpenAI data processing
3. Request Fiserv Responsible AI documentation
4. Verify no Meridian customer data used in Foundry model training</a:t>
                      </a:r>
                    </a:p>
                  </a:txBody>
                  <a:tcPr>
                    <a:solidFill>
                      <a:srgbClr val="FFE0E0"/>
                    </a:solidFill>
                  </a:tcPr>
                </a:tc>
                <a:extLst>
                  <a:ext uri="{0D108BD9-81ED-4DB2-BD59-A6C34878D82A}">
                    <a16:rowId xmlns:a16="http://schemas.microsoft.com/office/drawing/2014/main" val="10001"/>
                  </a:ext>
                </a:extLst>
              </a:tr>
              <a:tr h="784860">
                <a:tc>
                  <a:txBody>
                    <a:bodyPr/>
                    <a:lstStyle/>
                    <a:p>
                      <a:r>
                        <a:rPr sz="900" b="0">
                          <a:solidFill>
                            <a:srgbClr val="0D1B3E"/>
                          </a:solidFill>
                          <a:latin typeface="Calibri"/>
                        </a:rPr>
                        <a:t>BNY
(V-005)</a:t>
                      </a:r>
                    </a:p>
                  </a:txBody>
                  <a:tcPr>
                    <a:solidFill>
                      <a:srgbClr val="FFE0E0"/>
                    </a:solidFill>
                  </a:tcPr>
                </a:tc>
                <a:tc>
                  <a:txBody>
                    <a:bodyPr/>
                    <a:lstStyle/>
                    <a:p>
                      <a:r>
                        <a:rPr sz="900" b="0">
                          <a:solidFill>
                            <a:srgbClr val="0D1B3E"/>
                          </a:solidFill>
                          <a:latin typeface="Calibri"/>
                        </a:rPr>
                        <a:t>CRITICAL</a:t>
                      </a:r>
                    </a:p>
                  </a:txBody>
                  <a:tcPr>
                    <a:solidFill>
                      <a:srgbClr val="FFE0E0"/>
                    </a:solidFill>
                  </a:tcPr>
                </a:tc>
                <a:tc>
                  <a:txBody>
                    <a:bodyPr/>
                    <a:lstStyle/>
                    <a:p>
                      <a:r>
                        <a:rPr sz="900" b="0">
                          <a:solidFill>
                            <a:srgbClr val="0D1B3E"/>
                          </a:solidFill>
                          <a:latin typeface="Calibri"/>
                        </a:rPr>
                        <a:t>P1
Immediate</a:t>
                      </a:r>
                    </a:p>
                  </a:txBody>
                  <a:tcPr>
                    <a:solidFill>
                      <a:srgbClr val="FFE0E0"/>
                    </a:solidFill>
                  </a:tcPr>
                </a:tc>
                <a:tc>
                  <a:txBody>
                    <a:bodyPr/>
                    <a:lstStyle/>
                    <a:p>
                      <a:r>
                        <a:rPr sz="900" b="0">
                          <a:solidFill>
                            <a:srgbClr val="0D1B3E"/>
                          </a:solidFill>
                          <a:latin typeface="Calibri"/>
                        </a:rPr>
                        <a:t>1. Contract amendment: add AI governance clause referencing Eliza platform
2. Require BNY to disclose AI sub-processor (currently undisclosed)
3. Obtain AI incident response SLA
4. Verify customer data exclusion from Eliza training corpus</a:t>
                      </a:r>
                    </a:p>
                  </a:txBody>
                  <a:tcPr>
                    <a:solidFill>
                      <a:srgbClr val="FFE0E0"/>
                    </a:solidFill>
                  </a:tcPr>
                </a:tc>
                <a:extLst>
                  <a:ext uri="{0D108BD9-81ED-4DB2-BD59-A6C34878D82A}">
                    <a16:rowId xmlns:a16="http://schemas.microsoft.com/office/drawing/2014/main" val="10002"/>
                  </a:ext>
                </a:extLst>
              </a:tr>
              <a:tr h="784860">
                <a:tc>
                  <a:txBody>
                    <a:bodyPr/>
                    <a:lstStyle/>
                    <a:p>
                      <a:r>
                        <a:rPr sz="900" b="0">
                          <a:solidFill>
                            <a:srgbClr val="0D1B3E"/>
                          </a:solidFill>
                          <a:latin typeface="Calibri"/>
                        </a:rPr>
                        <a:t>AutomWorx
(V-001)</a:t>
                      </a:r>
                    </a:p>
                  </a:txBody>
                  <a:tcPr>
                    <a:solidFill>
                      <a:srgbClr val="FFF0CC"/>
                    </a:solidFill>
                  </a:tcPr>
                </a:tc>
                <a:tc>
                  <a:txBody>
                    <a:bodyPr/>
                    <a:lstStyle/>
                    <a:p>
                      <a:r>
                        <a:rPr sz="900" b="0">
                          <a:solidFill>
                            <a:srgbClr val="0D1B3E"/>
                          </a:solidFill>
                          <a:latin typeface="Calibri"/>
                        </a:rPr>
                        <a:t>MEDIUM</a:t>
                      </a:r>
                    </a:p>
                  </a:txBody>
                  <a:tcPr>
                    <a:solidFill>
                      <a:srgbClr val="FFF0CC"/>
                    </a:solidFill>
                  </a:tcPr>
                </a:tc>
                <a:tc>
                  <a:txBody>
                    <a:bodyPr/>
                    <a:lstStyle/>
                    <a:p>
                      <a:r>
                        <a:rPr sz="900" b="0">
                          <a:solidFill>
                            <a:srgbClr val="0D1B3E"/>
                          </a:solidFill>
                          <a:latin typeface="Calibri"/>
                        </a:rPr>
                        <a:t>P2
30 days</a:t>
                      </a:r>
                    </a:p>
                  </a:txBody>
                  <a:tcPr>
                    <a:solidFill>
                      <a:srgbClr val="FFF0CC"/>
                    </a:solidFill>
                  </a:tcPr>
                </a:tc>
                <a:tc>
                  <a:txBody>
                    <a:bodyPr/>
                    <a:lstStyle/>
                    <a:p>
                      <a:r>
                        <a:rPr sz="900" b="0">
                          <a:solidFill>
                            <a:srgbClr val="0D1B3E"/>
                          </a:solidFill>
                          <a:latin typeface="Calibri"/>
                        </a:rPr>
                        <a:t>1. Send AI usage questionnaire: does Meridian service use Broadcom/Automic AI features?
2. Upgrade to P1 if questionnaire confirms SERVICE_INTEGRATED AI</a:t>
                      </a:r>
                    </a:p>
                  </a:txBody>
                  <a:tcPr>
                    <a:solidFill>
                      <a:srgbClr val="FFF0CC"/>
                    </a:solidFill>
                  </a:tcPr>
                </a:tc>
                <a:extLst>
                  <a:ext uri="{0D108BD9-81ED-4DB2-BD59-A6C34878D82A}">
                    <a16:rowId xmlns:a16="http://schemas.microsoft.com/office/drawing/2014/main" val="10003"/>
                  </a:ext>
                </a:extLst>
              </a:tr>
              <a:tr h="784860">
                <a:tc>
                  <a:txBody>
                    <a:bodyPr/>
                    <a:lstStyle/>
                    <a:p>
                      <a:r>
                        <a:rPr sz="900" b="0">
                          <a:solidFill>
                            <a:srgbClr val="0D1B3E"/>
                          </a:solidFill>
                          <a:latin typeface="Calibri"/>
                        </a:rPr>
                        <a:t>TCH
(V-006)</a:t>
                      </a:r>
                    </a:p>
                  </a:txBody>
                  <a:tcPr>
                    <a:solidFill>
                      <a:srgbClr val="FFF0CC"/>
                    </a:solidFill>
                  </a:tcPr>
                </a:tc>
                <a:tc>
                  <a:txBody>
                    <a:bodyPr/>
                    <a:lstStyle/>
                    <a:p>
                      <a:r>
                        <a:rPr sz="900" b="0">
                          <a:solidFill>
                            <a:srgbClr val="0D1B3E"/>
                          </a:solidFill>
                          <a:latin typeface="Calibri"/>
                        </a:rPr>
                        <a:t>LOW*</a:t>
                      </a:r>
                    </a:p>
                  </a:txBody>
                  <a:tcPr>
                    <a:solidFill>
                      <a:srgbClr val="FFF0CC"/>
                    </a:solidFill>
                  </a:tcPr>
                </a:tc>
                <a:tc>
                  <a:txBody>
                    <a:bodyPr/>
                    <a:lstStyle/>
                    <a:p>
                      <a:r>
                        <a:rPr sz="900" b="0">
                          <a:solidFill>
                            <a:srgbClr val="0D1B3E"/>
                          </a:solidFill>
                          <a:latin typeface="Calibri"/>
                        </a:rPr>
                        <a:t>P2
60 days</a:t>
                      </a:r>
                    </a:p>
                  </a:txBody>
                  <a:tcPr>
                    <a:solidFill>
                      <a:srgbClr val="FFF0CC"/>
                    </a:solidFill>
                  </a:tcPr>
                </a:tc>
                <a:tc>
                  <a:txBody>
                    <a:bodyPr/>
                    <a:lstStyle/>
                    <a:p>
                      <a:r>
                        <a:rPr sz="900" b="0">
                          <a:solidFill>
                            <a:srgbClr val="0D1B3E"/>
                          </a:solidFill>
                          <a:latin typeface="Calibri"/>
                        </a:rPr>
                        <a:t>1. Formal written questionnaire: does RTP clearance engine use AI for routing/fraud decisions?
2. Monitor TCH publications — any AI disclosure triggers reassessment at FULL depth</a:t>
                      </a:r>
                    </a:p>
                  </a:txBody>
                  <a:tcPr>
                    <a:solidFill>
                      <a:srgbClr val="FFF0CC"/>
                    </a:solidFill>
                  </a:tcPr>
                </a:tc>
                <a:extLst>
                  <a:ext uri="{0D108BD9-81ED-4DB2-BD59-A6C34878D82A}">
                    <a16:rowId xmlns:a16="http://schemas.microsoft.com/office/drawing/2014/main" val="10004"/>
                  </a:ext>
                </a:extLst>
              </a:tr>
              <a:tr h="784860">
                <a:tc>
                  <a:txBody>
                    <a:bodyPr/>
                    <a:lstStyle/>
                    <a:p>
                      <a:r>
                        <a:rPr sz="900" b="0">
                          <a:solidFill>
                            <a:srgbClr val="0D1B3E"/>
                          </a:solidFill>
                          <a:latin typeface="Calibri"/>
                        </a:rPr>
                        <a:t>FSSI (V-003)
Terrapin (V-004)</a:t>
                      </a:r>
                    </a:p>
                  </a:txBody>
                  <a:tcPr>
                    <a:solidFill>
                      <a:srgbClr val="F2F4F8"/>
                    </a:solidFill>
                  </a:tcPr>
                </a:tc>
                <a:tc>
                  <a:txBody>
                    <a:bodyPr/>
                    <a:lstStyle/>
                    <a:p>
                      <a:r>
                        <a:rPr sz="900" b="0" dirty="0">
                          <a:solidFill>
                            <a:srgbClr val="0D1B3E"/>
                          </a:solidFill>
                          <a:latin typeface="Calibri"/>
                        </a:rPr>
                        <a:t>LOW</a:t>
                      </a:r>
                    </a:p>
                  </a:txBody>
                  <a:tcPr>
                    <a:solidFill>
                      <a:srgbClr val="F2F4F8"/>
                    </a:solidFill>
                  </a:tcPr>
                </a:tc>
                <a:tc>
                  <a:txBody>
                    <a:bodyPr/>
                    <a:lstStyle/>
                    <a:p>
                      <a:r>
                        <a:rPr sz="900" b="0">
                          <a:solidFill>
                            <a:srgbClr val="0D1B3E"/>
                          </a:solidFill>
                          <a:latin typeface="Calibri"/>
                        </a:rPr>
                        <a:t>P3
Annual</a:t>
                      </a:r>
                    </a:p>
                  </a:txBody>
                  <a:tcPr>
                    <a:solidFill>
                      <a:srgbClr val="F2F4F8"/>
                    </a:solidFill>
                  </a:tcPr>
                </a:tc>
                <a:tc>
                  <a:txBody>
                    <a:bodyPr/>
                    <a:lstStyle/>
                    <a:p>
                      <a:r>
                        <a:rPr sz="900" b="0" dirty="0">
                          <a:solidFill>
                            <a:srgbClr val="0D1B3E"/>
                          </a:solidFill>
                          <a:latin typeface="Calibri"/>
                        </a:rPr>
                        <a:t>1. Annual OSINT re-scan — FSSI LinkedIn signals may indicate AI adoption trajectory
2. Terrapin: monitor for AI service expansion beyond consulting deliverables</a:t>
                      </a:r>
                    </a:p>
                  </a:txBody>
                  <a:tcPr>
                    <a:solidFill>
                      <a:srgbClr val="F2F4F8"/>
                    </a:solid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274320" y="6473952"/>
            <a:ext cx="11612880" cy="347472"/>
          </a:xfrm>
          <a:prstGeom prst="rect">
            <a:avLst/>
          </a:prstGeom>
          <a:noFill/>
        </p:spPr>
        <p:txBody>
          <a:bodyPr wrap="square">
            <a:spAutoFit/>
          </a:bodyPr>
          <a:lstStyle/>
          <a:p>
            <a:pPr algn="l"/>
            <a:r>
              <a:rPr sz="900" b="0" i="1">
                <a:solidFill>
                  <a:srgbClr val="4A5A6B"/>
                </a:solidFill>
                <a:latin typeface="Calibri"/>
              </a:rPr>
              <a:t>* TCH carries LOW risk score despite CRITICAL tier because AI verdict is INCONCLUSIVE — AI Presence Index = 0.40 suppresses risk categories. If TCH confirms AI usage, floor rules would immediately escalate to CRITICAL risk.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4754880"/>
            <a:ext cx="2743200" cy="54864"/>
          </a:xfrm>
          <a:prstGeom prst="rect">
            <a:avLst/>
          </a:prstGeom>
          <a:solidFill>
            <a:srgbClr val="E05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0972800" cy="2011680"/>
          </a:xfrm>
          <a:prstGeom prst="rect">
            <a:avLst/>
          </a:prstGeom>
          <a:noFill/>
        </p:spPr>
        <p:txBody>
          <a:bodyPr wrap="square">
            <a:spAutoFit/>
          </a:bodyPr>
          <a:lstStyle/>
          <a:p>
            <a:pPr algn="l"/>
            <a:r>
              <a:rPr sz="7200" b="1" i="0">
                <a:solidFill>
                  <a:srgbClr val="FFFFFF"/>
                </a:solidFill>
                <a:latin typeface="Calibri"/>
              </a:rPr>
              <a:t>Thank you.</a:t>
            </a:r>
          </a:p>
        </p:txBody>
      </p:sp>
      <p:sp>
        <p:nvSpPr>
          <p:cNvPr id="5" name="TextBox 4"/>
          <p:cNvSpPr txBox="1"/>
          <p:nvPr/>
        </p:nvSpPr>
        <p:spPr>
          <a:xfrm>
            <a:off x="548640" y="2834640"/>
            <a:ext cx="10058400" cy="457200"/>
          </a:xfrm>
          <a:prstGeom prst="rect">
            <a:avLst/>
          </a:prstGeom>
          <a:noFill/>
        </p:spPr>
        <p:txBody>
          <a:bodyPr wrap="square">
            <a:spAutoFit/>
          </a:bodyPr>
          <a:lstStyle/>
          <a:p>
            <a:pPr algn="l"/>
            <a:r>
              <a:rPr sz="1600" b="0" i="1">
                <a:solidFill>
                  <a:srgbClr val="F2F4F8"/>
                </a:solidFill>
                <a:latin typeface="Calibri"/>
              </a:rPr>
              <a:t>MAVIRA — Meridian AI Vendor Intelligence &amp; Risk Assessment</a:t>
            </a:r>
          </a:p>
        </p:txBody>
      </p:sp>
      <p:sp>
        <p:nvSpPr>
          <p:cNvPr id="6" name="TextBox 5"/>
          <p:cNvSpPr txBox="1"/>
          <p:nvPr/>
        </p:nvSpPr>
        <p:spPr>
          <a:xfrm>
            <a:off x="548640" y="3383280"/>
            <a:ext cx="7315200" cy="411480"/>
          </a:xfrm>
          <a:prstGeom prst="rect">
            <a:avLst/>
          </a:prstGeom>
          <a:noFill/>
        </p:spPr>
        <p:txBody>
          <a:bodyPr wrap="square">
            <a:spAutoFit/>
          </a:bodyPr>
          <a:lstStyle/>
          <a:p>
            <a:pPr algn="l"/>
            <a:r>
              <a:rPr sz="1300" b="0" i="0">
                <a:solidFill>
                  <a:srgbClr val="CBD5E0"/>
                </a:solidFill>
                <a:latin typeface="Calibri"/>
              </a:rPr>
              <a:t>Evidence-driven. Repeatable. Explainable.</a:t>
            </a:r>
          </a:p>
        </p:txBody>
      </p:sp>
      <p:sp>
        <p:nvSpPr>
          <p:cNvPr id="7" name="Rectangle 6"/>
          <p:cNvSpPr/>
          <p:nvPr/>
        </p:nvSpPr>
        <p:spPr>
          <a:xfrm>
            <a:off x="548640" y="3977639"/>
            <a:ext cx="10515600" cy="2377440"/>
          </a:xfrm>
          <a:prstGeom prst="rect">
            <a:avLst/>
          </a:prstGeom>
          <a:solidFill>
            <a:srgbClr val="1A2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4069080"/>
            <a:ext cx="4572000" cy="365760"/>
          </a:xfrm>
          <a:prstGeom prst="rect">
            <a:avLst/>
          </a:prstGeom>
          <a:noFill/>
        </p:spPr>
        <p:txBody>
          <a:bodyPr wrap="square">
            <a:spAutoFit/>
          </a:bodyPr>
          <a:lstStyle/>
          <a:p>
            <a:pPr algn="l"/>
            <a:r>
              <a:rPr sz="1100" b="1" i="0">
                <a:solidFill>
                  <a:srgbClr val="E05A0E"/>
                </a:solidFill>
                <a:latin typeface="Calibri"/>
              </a:rPr>
              <a:t>What we built:</a:t>
            </a:r>
          </a:p>
        </p:txBody>
      </p:sp>
      <p:sp>
        <p:nvSpPr>
          <p:cNvPr id="9" name="TextBox 8"/>
          <p:cNvSpPr txBox="1"/>
          <p:nvPr/>
        </p:nvSpPr>
        <p:spPr>
          <a:xfrm>
            <a:off x="777240" y="4480560"/>
            <a:ext cx="10058400" cy="329184"/>
          </a:xfrm>
          <a:prstGeom prst="rect">
            <a:avLst/>
          </a:prstGeom>
          <a:noFill/>
        </p:spPr>
        <p:txBody>
          <a:bodyPr wrap="square">
            <a:spAutoFit/>
          </a:bodyPr>
          <a:lstStyle/>
          <a:p>
            <a:pPr algn="l"/>
            <a:r>
              <a:rPr sz="950" b="0" i="0">
                <a:solidFill>
                  <a:srgbClr val="FFFFFF"/>
                </a:solidFill>
                <a:latin typeface="Calibri"/>
              </a:rPr>
              <a:t>  01  Functional Design: 8-stage automated pipeline from OSINT collection to risk output</a:t>
            </a:r>
          </a:p>
        </p:txBody>
      </p:sp>
      <p:sp>
        <p:nvSpPr>
          <p:cNvPr id="10" name="TextBox 9"/>
          <p:cNvSpPr txBox="1"/>
          <p:nvPr/>
        </p:nvSpPr>
        <p:spPr>
          <a:xfrm>
            <a:off x="777240" y="4828032"/>
            <a:ext cx="10058400" cy="329184"/>
          </a:xfrm>
          <a:prstGeom prst="rect">
            <a:avLst/>
          </a:prstGeom>
          <a:noFill/>
        </p:spPr>
        <p:txBody>
          <a:bodyPr wrap="square">
            <a:spAutoFit/>
          </a:bodyPr>
          <a:lstStyle/>
          <a:p>
            <a:pPr algn="l"/>
            <a:r>
              <a:rPr sz="950" b="0" i="0">
                <a:solidFill>
                  <a:srgbClr val="FFFFFF"/>
                </a:solidFill>
                <a:latin typeface="Calibri"/>
              </a:rPr>
              <a:t>  02  Architecture: FastAPI backend + Next.js frontend + SQLite + Serper API (LIVE mode)</a:t>
            </a:r>
          </a:p>
        </p:txBody>
      </p:sp>
      <p:sp>
        <p:nvSpPr>
          <p:cNvPr id="11" name="TextBox 10"/>
          <p:cNvSpPr txBox="1"/>
          <p:nvPr/>
        </p:nvSpPr>
        <p:spPr>
          <a:xfrm>
            <a:off x="777240" y="5175504"/>
            <a:ext cx="10058400" cy="329184"/>
          </a:xfrm>
          <a:prstGeom prst="rect">
            <a:avLst/>
          </a:prstGeom>
          <a:noFill/>
        </p:spPr>
        <p:txBody>
          <a:bodyPr wrap="square">
            <a:spAutoFit/>
          </a:bodyPr>
          <a:lstStyle/>
          <a:p>
            <a:pPr algn="l"/>
            <a:r>
              <a:rPr sz="950" b="0" i="0">
                <a:solidFill>
                  <a:srgbClr val="FFFFFF"/>
                </a:solidFill>
                <a:latin typeface="Calibri"/>
              </a:rPr>
              <a:t>  03  Source Strategy: 4-tier OSINT framework, 6-component evidence scoring, 7 evidence natures</a:t>
            </a:r>
          </a:p>
        </p:txBody>
      </p:sp>
      <p:sp>
        <p:nvSpPr>
          <p:cNvPr id="12" name="TextBox 11"/>
          <p:cNvSpPr txBox="1"/>
          <p:nvPr/>
        </p:nvSpPr>
        <p:spPr>
          <a:xfrm>
            <a:off x="777240" y="5522976"/>
            <a:ext cx="10058400" cy="329184"/>
          </a:xfrm>
          <a:prstGeom prst="rect">
            <a:avLst/>
          </a:prstGeom>
          <a:noFill/>
        </p:spPr>
        <p:txBody>
          <a:bodyPr wrap="square">
            <a:spAutoFit/>
          </a:bodyPr>
          <a:lstStyle/>
          <a:p>
            <a:pPr algn="l"/>
            <a:r>
              <a:rPr sz="950" b="0" i="0">
                <a:solidFill>
                  <a:srgbClr val="FFFFFF"/>
                </a:solidFill>
                <a:latin typeface="Calibri"/>
              </a:rPr>
              <a:t>  04  Criticality Ratings: 5-factor weighted model (rooted in FFIEC/OCC/SR 11-7) for all 6 vendors</a:t>
            </a:r>
          </a:p>
        </p:txBody>
      </p:sp>
      <p:sp>
        <p:nvSpPr>
          <p:cNvPr id="13" name="TextBox 12"/>
          <p:cNvSpPr txBox="1"/>
          <p:nvPr/>
        </p:nvSpPr>
        <p:spPr>
          <a:xfrm>
            <a:off x="777240" y="5870448"/>
            <a:ext cx="10058400" cy="329184"/>
          </a:xfrm>
          <a:prstGeom prst="rect">
            <a:avLst/>
          </a:prstGeom>
          <a:noFill/>
        </p:spPr>
        <p:txBody>
          <a:bodyPr wrap="square">
            <a:spAutoFit/>
          </a:bodyPr>
          <a:lstStyle/>
          <a:p>
            <a:pPr algn="l"/>
            <a:r>
              <a:rPr sz="950" b="0" i="0">
                <a:solidFill>
                  <a:srgbClr val="FFFFFF"/>
                </a:solidFill>
                <a:latin typeface="Calibri"/>
              </a:rPr>
              <a:t>  05  Working Demo: Live web platform — upload Excel, run assessment, export results</a:t>
            </a:r>
          </a:p>
        </p:txBody>
      </p:sp>
      <p:sp>
        <p:nvSpPr>
          <p:cNvPr id="14" name="TextBox 13"/>
          <p:cNvSpPr txBox="1"/>
          <p:nvPr/>
        </p:nvSpPr>
        <p:spPr>
          <a:xfrm>
            <a:off x="548640" y="6492240"/>
            <a:ext cx="10058400" cy="230832"/>
          </a:xfrm>
          <a:prstGeom prst="rect">
            <a:avLst/>
          </a:prstGeom>
          <a:noFill/>
        </p:spPr>
        <p:txBody>
          <a:bodyPr wrap="square">
            <a:spAutoFit/>
          </a:bodyPr>
          <a:lstStyle/>
          <a:p>
            <a:pPr algn="l"/>
            <a:r>
              <a:rPr sz="900" b="0" i="0" dirty="0">
                <a:solidFill>
                  <a:srgbClr val="CBD5E0"/>
                </a:solidFill>
                <a:latin typeface="Calibri"/>
              </a:rPr>
              <a:t>Team MAVIRA  ·  VIT Vellore  ·  October 2026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112</TotalTime>
  <Words>3082</Words>
  <Application>Microsoft Office PowerPoint</Application>
  <PresentationFormat>Custom</PresentationFormat>
  <Paragraphs>446</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Santhosh V</cp:lastModifiedBy>
  <cp:revision>1</cp:revision>
  <dcterms:created xsi:type="dcterms:W3CDTF">2013-01-27T09:14:16Z</dcterms:created>
  <dcterms:modified xsi:type="dcterms:W3CDTF">2026-10-14T06:38:16Z</dcterms:modified>
  <cp:category/>
</cp:coreProperties>
</file>