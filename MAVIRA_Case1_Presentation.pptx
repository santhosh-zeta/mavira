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00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5A823"/>
                </a:solidFill>
              </a:rPr>
              <a:t>OPTIV SECURITY · VIT INTERNSHIP RECRUITMENT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MAVIRA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D5E8"/>
                </a:solidFill>
              </a:rPr>
              <a:t>Meridian AI Vendor Intelligence &amp; Risk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5A823"/>
                </a:solidFill>
              </a:rPr>
              <a:t>Case Study 1 — Vendor AI Usage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AABB"/>
                </a:solidFill>
              </a:rPr>
              <a:t>Meridian Financial · Third-Party Risk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212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Team MAVIRA  ·  Presented October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5A823"/>
                </a:solidFill>
              </a:rPr>
              <a:t>CONFIDENTIAL — NOT FOR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D5E8"/>
                </a:solidFill>
              </a:rPr>
              <a:t>Why this assessment exists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BBCC"/>
                </a:solidFill>
              </a:rPr>
              <a:t>MAVIRA · Meridian AI Vendor Intelligence &amp; Risk Assessment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5624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BBCC"/>
                </a:solidFill>
              </a:rPr>
              <a:t>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188720"/>
            <a:ext cx="530352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80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F44"/>
                </a:solidFill>
              </a:rPr>
              <a:t>Meridian Financial's Mandate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373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6 vendors process Meridian customer data and transactions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Vendor AI usage is NOT captured in current contracts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Regulators (OCC, Fed, CFPB) are examining AI third-party risk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Risk of undetected model training on client data, autonomous decisions in payments, or undisclosed sub-processors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Marketing language inflated vs. real AI deployment — cannot trust self-reported answers alone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118872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128016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A87"/>
                </a:solidFill>
              </a:rPr>
              <a:t>MAVIRA's 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173736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Deterministic 5-factor criticality scoring for every vendor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Structured OSINT: source classification, strength scoring, exact-excerpt validation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Reproducible AI classification: YES / NO / INCONCLUSIVE with evidence chain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9-category AI security risk score (0-100) with transparent rationale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Standards-grounded recommendations: NIST AI RMF, FFIEC SR 11-7, OCC 2023-17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Full offline audit trail — SHA-256 hashed snapshots, no invented quotes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Output: Excel workbook (findings) + this presentation (walkthrough)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How MAVIRA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D5E8"/>
                </a:solidFill>
              </a:rPr>
              <a:t>Fully deterministic — no hallucinated evidence, no AI scores scores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BBCC"/>
                </a:solidFill>
              </a:rPr>
              <a:t>MAVIRA · Meridian AI Vendor Intelligence &amp; Risk Assessment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5624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BBCC"/>
                </a:solidFill>
              </a:rPr>
              <a:t>3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1371600"/>
            <a:ext cx="1371600" cy="12801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417320"/>
            <a:ext cx="1280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1
Vendor
Inventory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9656" y="187451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1F44"/>
                </a:solidFill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27889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</a:rPr>
              <a:t>6 vendors loaded from
the Excel workbook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65376" y="1371600"/>
            <a:ext cx="1371600" cy="128016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11095" y="1417320"/>
            <a:ext cx="1280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2
Criticality
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187451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1F44"/>
                </a:solidFill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7889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</a:rPr>
              <a:t>5-factor weighted score
OD·DS·PF·RE·DV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82696" y="1371600"/>
            <a:ext cx="1371600" cy="12801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28416" y="1417320"/>
            <a:ext cx="1280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3
OSINT
Collection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4296" y="187451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1F44"/>
                </a:solidFill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82696" y="27889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</a:rPr>
              <a:t>Depth-gated search
CACHED or LIVE mode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0016" y="1371600"/>
            <a:ext cx="1371600" cy="1280160"/>
          </a:xfrm>
          <a:prstGeom prst="rect">
            <a:avLst/>
          </a:prstGeom>
          <a:solidFill>
            <a:srgbClr val="5C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45736" y="1417320"/>
            <a:ext cx="1280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4
Evidence
Extraction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71616" y="187451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1F44"/>
                </a:solidFill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0016" y="27889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</a:rPr>
              <a:t>Rule-based + optional
LLM proposals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17336" y="1371600"/>
            <a:ext cx="1371600" cy="1280160"/>
          </a:xfrm>
          <a:prstGeom prst="rect">
            <a:avLst/>
          </a:prstGeom>
          <a:solidFill>
            <a:srgbClr val="8A4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63056" y="1417320"/>
            <a:ext cx="1280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5
Exact-Excerpt
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88936" y="187451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1F44"/>
                </a:solidFill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17336" y="27889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</a:rPr>
              <a:t>Every quote verified
against source text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34656" y="1371600"/>
            <a:ext cx="1371600" cy="12801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0376" y="1417320"/>
            <a:ext cx="1280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6
AI Usage
Determination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06256" y="187451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1F44"/>
                </a:solidFill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34656" y="27889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</a:rPr>
              <a:t>YES / NO /
INCONCLUSIVE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51976" y="1371600"/>
            <a:ext cx="1371600" cy="12801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97696" y="1417320"/>
            <a:ext cx="1280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7
Risk
Scoring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23576" y="187451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1F44"/>
                </a:solidFill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27889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</a:rPr>
              <a:t>9 categories × AI
presence index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369296" y="1371600"/>
            <a:ext cx="1371600" cy="12801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15016" y="1417320"/>
            <a:ext cx="1280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8
Recommend-
ations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9296" y="27889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</a:rPr>
              <a:t>Rules-driven, standards-
grounded actions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3749039"/>
            <a:ext cx="11612880" cy="2697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38404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1F44"/>
                </a:solidFill>
              </a:rPr>
              <a:t>Key Design Principles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2976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07A87"/>
                </a:solidFill>
              </a:rPr>
              <a:t>▪ Methodology YAML: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37360" y="429768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All weights, rules and thresholds in one auditable config file — version-stamped per run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976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07A87"/>
                </a:solidFill>
              </a:rPr>
              <a:t>▪ Exact-Excerpt Only: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9768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Every evidence record quotes verbatim text verified against the source; rejected if not found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495604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07A87"/>
                </a:solidFill>
              </a:rPr>
              <a:t>▪ Evidence Strength 0-100: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37360" y="495604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Source reliability × directness × specificity × service relevance × recency × independence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495604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07A87"/>
                </a:solidFill>
              </a:rPr>
              <a:t>▪ No AI in scoring: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23760" y="495604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LLM is optional evidence-proposal helper only; all scores are deterministic Python functions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561441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07A87"/>
                </a:solidFill>
              </a:rPr>
              <a:t>▪ DEMO / LIVE modes: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37360" y="5614416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DEMO uses SHA-256-hashed OSINT snapshots (fully offline); LIVE uses search API + SSRF-guarded fetcher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0" y="561441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07A87"/>
                </a:solidFill>
              </a:rPr>
              <a:t>▪ Audit Trail: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0" y="5614416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Every run persists stage logs, rejection reasons, strength breakdowns, and risk factor rationales in SQLite/Postgres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D5E8"/>
                </a:solidFill>
              </a:rPr>
              <a:t>Local-first · Docker Compose · Privacy-by-design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BBCC"/>
                </a:solidFill>
              </a:rPr>
              <a:t>MAVIRA · Meridian AI Vendor Intelligence &amp; Risk Assessment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5624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BBCC"/>
                </a:solidFill>
              </a:rPr>
              <a:t>4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143000"/>
            <a:ext cx="3474720" cy="4572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188720"/>
            <a:ext cx="3291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Backend (FastAPI)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600200"/>
            <a:ext cx="347472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169164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Python 3.12 · FastAPI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Criticality engine (deterministic)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Evidence strength scorer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AI usage classifier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Risk engine (9 categories)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Recommendation engine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SSRF-safe OSINT fetcher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PDF extraction (pypdf)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Playwright SPA fallback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Excel workbook export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Optional LLM analyzer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59" y="1143000"/>
            <a:ext cx="3474720" cy="4572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9" y="1188720"/>
            <a:ext cx="3291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 Layer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59" y="1600200"/>
            <a:ext cx="347472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169164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PostgreSQL (primary)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SQLite (offline / test)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Redis + RQ (async jobs)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Methodology versions stored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Full audit log per run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Evidence chain persisted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SHA-256 source hashes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OSINT snapshot cache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SQLAlchemy ORM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1143000"/>
            <a:ext cx="347472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1188720"/>
            <a:ext cx="3291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Frontend (Next.js)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1600200"/>
            <a:ext cx="347472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169164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Next.js 16 · React 19 · 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Real-time run progress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Vendor evidence explorer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Risk radar chart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Methodology editor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Analyst override panel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Excel import/export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RBAC (admin / analyst / reviewer)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Tailwind CSS · shadcn/ui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6309360"/>
            <a:ext cx="11612880" cy="41148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33679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F44"/>
                </a:solidFill>
              </a:rPr>
              <a:t>Security: SSRF protection (scheme/port allowlist, DNS validation, private IP block, redirect re-check) · RBAC · Rate-limiting · PDF safe-parse · LLM prompt injection guard · SEC EDGAR-compliant User-Agent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OSINT Source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D5E8"/>
                </a:solidFill>
              </a:rPr>
              <a:t>Depth-gated collection · source classification · evidence strength scoring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BBCC"/>
                </a:solidFill>
              </a:rPr>
              <a:t>MAVIRA · Meridian AI Vendor Intelligence &amp; Risk Assessment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5624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BBCC"/>
                </a:solidFill>
              </a:rPr>
              <a:t>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143000"/>
            <a:ext cx="11612880" cy="3657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170432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170432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39" y="1170432"/>
            <a:ext cx="6309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Source Categories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117043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Max Sources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117043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Human Review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508760"/>
            <a:ext cx="1161288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581912"/>
            <a:ext cx="914400" cy="34747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" y="1600200"/>
            <a:ext cx="8778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158191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158191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Official website, product pages, AI documentation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158191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158191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7AE60"/>
                </a:solidFill>
              </a:rPr>
              <a:t>No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011680"/>
            <a:ext cx="116128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2084832"/>
            <a:ext cx="914400" cy="34747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2103120"/>
            <a:ext cx="8778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208483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Standard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208483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Baseline + careers, engineering blog, developer docs, trust/security, partner pages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208483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208483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7AE60"/>
                </a:solidFill>
              </a:rPr>
              <a:t>No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514600"/>
            <a:ext cx="1161288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2587752"/>
            <a:ext cx="914400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2608" y="2606040"/>
            <a:ext cx="8778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25877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Enhanced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0320" y="258775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Standard + regulatory filings, investor disclosures, sub-processors, press releases, exec statements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258775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258775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7AE60"/>
                </a:solidFill>
              </a:rPr>
              <a:t>No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017520"/>
            <a:ext cx="116128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4320" y="3090672"/>
            <a:ext cx="914400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2608" y="3108960"/>
            <a:ext cx="8778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88720" y="30906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Full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60320" y="309067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Enhanced + third-party partner, industry press · provider investigation · negative-evidence review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20" y="309067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60" y="309067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C0392B"/>
                </a:solidFill>
              </a:rPr>
              <a:t>Yes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3657600"/>
            <a:ext cx="11612880" cy="2651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374903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A1F44"/>
                </a:solidFill>
              </a:rPr>
              <a:t>Evidence Strength Components (0-100)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3749039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A1F44"/>
                </a:solidFill>
              </a:rPr>
              <a:t>Source Reliability Levels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41605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Source Reliability (30%) — DIRECT=1.0 · MEDIUM=0.75 · SUPPORTING=0.55 · LOW=0.25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45079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Directness (20%) — vendor self-statement vs. third-party vs. commentary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85546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Specificity (20%) — exact AI technology named, not generic claims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5202936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Service Relevance (15%) — tied to the contracted service, not generic product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555040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Independence (5%) — corroborated across multiple domains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5897879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Recency (10%) — published date: ≤12mo=1.0 · ≤24mo=0.7 · ≤48mo=0.4 · older=0.2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0" y="4160520"/>
            <a:ext cx="1371600" cy="4114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532120" y="4215383"/>
            <a:ext cx="1280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DIRECT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49440" y="42062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Vendor's own domain · SEC EDGAR · official trust page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0" y="4663440"/>
            <a:ext cx="1371600" cy="41148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532120" y="4718303"/>
            <a:ext cx="1280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470915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Official press releases · investor disclosures · partner announcements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0" y="5166360"/>
            <a:ext cx="137160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32120" y="5221224"/>
            <a:ext cx="1280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SUPPORTING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49440" y="52120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Reuters · WSJ · Bloomberg · American Banker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86400" y="5669280"/>
            <a:ext cx="137160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532120" y="5724144"/>
            <a:ext cx="1280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LOW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49440" y="57150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LinkedIn · Medium · aggregators — never sole basis for YES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5-Factor Criticality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D5E8"/>
                </a:solidFill>
              </a:rPr>
              <a:t>Deterministic weighted score — validated against V-000 Larkspur worked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BBCC"/>
                </a:solidFill>
              </a:rPr>
              <a:t>MAVIRA · Meridian AI Vendor Intelligence &amp; Risk Assessment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5624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BBCC"/>
                </a:solidFill>
              </a:rPr>
              <a:t>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143000"/>
            <a:ext cx="11612880" cy="5943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188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Score = OD(0.30) + DS(0.25) + PF(0.15) + RE(0.15) + DV(0.15)    │  CRITICAL ≥ 0.75  │  HIGH ≥ 0.55  │  MEDIUM ≥ 0.35  │  LOW ≥ 0.0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28800"/>
            <a:ext cx="2194560" cy="50292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865376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OD  ·  weight 0.30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219456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359152"/>
            <a:ext cx="204825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Operational
Dependency
Total / Critical = 1.0
High = 0.75
Moderate = 0.50
Low = 0.25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337560"/>
            <a:ext cx="2194560" cy="594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3364992"/>
            <a:ext cx="20482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444444"/>
                </a:solidFill>
              </a:rPr>
              <a:t>How badly would Meridian be hurt if this vendor stopped working tomorrow?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1828800"/>
            <a:ext cx="2194560" cy="5029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06039" y="1865376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DS  ·  weight 0.25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0" y="2331720"/>
            <a:ext cx="219456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33472" y="2359152"/>
            <a:ext cx="204825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Data
Sensitivity
PAN / cardholder = 1.0
Tax ID / SSN = 1.0
Full customer records = 1.0
Account PII = 0.9
Privileged access = 0.75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0" y="3337560"/>
            <a:ext cx="2194560" cy="594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33472" y="3364992"/>
            <a:ext cx="20482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444444"/>
                </a:solidFill>
              </a:rPr>
              <a:t>What customer data does the vendor process? Highest-rule wins.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1828800"/>
            <a:ext cx="2194560" cy="5029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92040" y="1865376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PF  ·  weight 0.15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331720"/>
            <a:ext cx="219456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19472" y="2359152"/>
            <a:ext cx="204825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Payment
Flow
Clearing / settlement / RTP / ACH = 1.0
Core account processing = 0.9
Batch / billing = 0.4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3337560"/>
            <a:ext cx="2194560" cy="594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19472" y="3364992"/>
            <a:ext cx="20482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444444"/>
                </a:solidFill>
              </a:rPr>
              <a:t>Does the vendor touch money-in-motion?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0" y="1828800"/>
            <a:ext cx="2194560" cy="502920"/>
          </a:xfrm>
          <a:prstGeom prst="rect">
            <a:avLst/>
          </a:prstGeom>
          <a:solidFill>
            <a:srgbClr val="5C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8040" y="1865376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RE  ·  weight 0.15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0" y="2331720"/>
            <a:ext cx="219456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05472" y="2359152"/>
            <a:ext cx="204825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Regulatory
Exposure
AML / KYC / BSA = 1.0
Core banking records = 1.0
Consumer lending = 0.9
Payment system (NACHA) = 0.9
OCC / FFIEC supervision = 0.8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0" y="3337560"/>
            <a:ext cx="2194560" cy="594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05472" y="3364992"/>
            <a:ext cx="20482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444444"/>
                </a:solidFill>
              </a:rPr>
              <a:t>What regulatory frameworks govern this vendor relationship?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18320" y="1828800"/>
            <a:ext cx="2194560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64040" y="1865376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DV  ·  weight 0.15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18320" y="2331720"/>
            <a:ext cx="219456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91472" y="2359152"/>
            <a:ext cx="204825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Data
Volume
Log-scaled 1K → 100M records
Entire customer base = 1.0
Population named in data class = score
N/A or unknown = 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18320" y="3337560"/>
            <a:ext cx="2194560" cy="594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91472" y="3364992"/>
            <a:ext cx="20482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444444"/>
                </a:solidFill>
              </a:rPr>
              <a:t>How many customer records are in scope?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023360"/>
            <a:ext cx="11612880" cy="365760"/>
          </a:xfrm>
          <a:prstGeom prst="rect">
            <a:avLst/>
          </a:prstGeom>
          <a:solidFill>
            <a:srgbClr val="E5A8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050791"/>
            <a:ext cx="112471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A1F44"/>
                </a:solidFill>
              </a:rPr>
              <a:t>V-000 Larkspur Worked Example — Validation (never modified by MAVIRA)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4389120"/>
            <a:ext cx="1161288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446227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44444"/>
                </a:solidFill>
              </a:rPr>
              <a:t>• OD: Critical (1.0) × 0.30 = 0.300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97680" y="446227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44444"/>
                </a:solidFill>
              </a:rPr>
              <a:t>• DS: Full customer records (1.0) × 0.25 = 0.250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446227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44444"/>
                </a:solidFill>
              </a:rPr>
              <a:t>• PF: Core processing (0.9) × 0.15 = 0.135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12064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44444"/>
                </a:solidFill>
              </a:rPr>
              <a:t>• RE: Core banking records (1.0) × 0.15 = 0.150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97680" y="512064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44444"/>
                </a:solidFill>
              </a:rPr>
              <a:t>• DV: 125,000 records, log-scaled ≈ 0.47 × 0.15 = 0.070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8160" y="512064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7AE60"/>
                </a:solidFill>
              </a:rPr>
              <a:t>• Score: 0.905 → CRITICAL  ✓  matches provided answer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5943600"/>
            <a:ext cx="11612880" cy="749808"/>
          </a:xfrm>
          <a:prstGeom prst="rect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597103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A1F44"/>
                </a:solidFill>
              </a:rPr>
              <a:t>Escalation Rules (transparent floors applied after weighted score):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26364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① OD=Total/Critical + DS≥0.9 or PF≥0.9 → CRITICAL  ② OD≥High + DS=1.0 + DV≥50% → CRITICAL  ③ Payment rail (PF=1.0) + DS≥0.6 → CRITICAL  ④ Core banking (PF≥0.9) + OD≥High → CRITICAL  ⑤ Privileged access + OD≥High → HIGH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Per-Vendor Assessment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D5E8"/>
                </a:solidFill>
              </a:rPr>
              <a:t>6 vendors assessed · V-000 Larkspur = provided worked example (read-only)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BBCC"/>
                </a:solidFill>
              </a:rPr>
              <a:t>MAVIRA · Meridian AI Vendor Intelligence &amp; Risk Assessment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5624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BBCC"/>
                </a:solidFill>
              </a:rPr>
              <a:t>7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143000"/>
            <a:ext cx="11887200" cy="38404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" y="1188720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Ref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18872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Vendor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18872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1188720"/>
            <a:ext cx="960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Criticality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18872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AI Usage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18872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Risk Class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118872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Top Recommendation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1527048"/>
            <a:ext cx="11887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" y="1636776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A1F44"/>
                </a:solidFill>
              </a:rPr>
              <a:t>V-001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1572768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</a:rPr>
              <a:t>AutomWorx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1636776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Professional Services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1655064"/>
            <a:ext cx="868680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06824" y="1682495"/>
            <a:ext cx="8503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66360" y="1655064"/>
            <a:ext cx="777240" cy="34747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75504" y="1682495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INCONCLUSIVE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1655064"/>
            <a:ext cx="822960" cy="34747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52744" y="1682495"/>
            <a:ext cx="804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1618488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P2: AI-usage questionnaire; public material is inconclusive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" y="2185415"/>
            <a:ext cx="1188720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8600" y="2295144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A1F44"/>
                </a:solidFill>
              </a:rPr>
              <a:t>V-002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231135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</a:rPr>
              <a:t>Fiserv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229514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Core Platform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2313432"/>
            <a:ext cx="868680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06824" y="2340863"/>
            <a:ext cx="8503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66360" y="2313432"/>
            <a:ext cx="777240" cy="34747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75504" y="2340863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0" y="2313432"/>
            <a:ext cx="822960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2340863"/>
            <a:ext cx="804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2276856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P1: Disclose model providers for Frontier and bureau integrations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" y="2843784"/>
            <a:ext cx="11887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8600" y="2953512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A1F44"/>
                </a:solidFill>
              </a:rPr>
              <a:t>V-003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2889503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</a:rPr>
              <a:t>FSSI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23160" y="295351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Document &amp; Communications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0" y="2971800"/>
            <a:ext cx="868680" cy="34747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06824" y="2999232"/>
            <a:ext cx="8503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66360" y="2971800"/>
            <a:ext cx="777240" cy="34747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75504" y="2999232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INCONCLUSIVE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0" y="2971800"/>
            <a:ext cx="822960" cy="34747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52744" y="2999232"/>
            <a:ext cx="804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LOW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6560" y="2935224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P3: Include AI-usage question in next periodic review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2880" y="3502152"/>
            <a:ext cx="1188720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8600" y="3611880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A1F44"/>
                </a:solidFill>
              </a:rPr>
              <a:t>V-004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3547872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</a:rPr>
              <a:t>Terrapin Systems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3160" y="361188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Data &amp; Reporting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97680" y="3630168"/>
            <a:ext cx="868680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06824" y="3657600"/>
            <a:ext cx="8503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66360" y="3630168"/>
            <a:ext cx="777240" cy="34747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75504" y="3657600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INCONCLUSIVE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43600" y="3630168"/>
            <a:ext cx="822960" cy="34747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52744" y="3657600"/>
            <a:ext cx="804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3593592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P2: Questionnaire; marketing claims not corroborated by direct evidence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2880" y="4160520"/>
            <a:ext cx="11887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28600" y="4270248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A1F44"/>
                </a:solidFill>
              </a:rPr>
              <a:t>V-005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4206240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</a:rPr>
              <a:t>BNY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23160" y="427024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Payments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97680" y="4288536"/>
            <a:ext cx="868680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06824" y="4315968"/>
            <a:ext cx="8503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66360" y="4288536"/>
            <a:ext cx="777240" cy="34747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175504" y="4315968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943600" y="4288536"/>
            <a:ext cx="822960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52744" y="4315968"/>
            <a:ext cx="804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66560" y="4251959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P1: Disclose Eliza platform scope; confirm no Meridian data trains models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82880" y="4818888"/>
            <a:ext cx="1188720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28600" y="4928616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A1F44"/>
                </a:solidFill>
              </a:rPr>
              <a:t>V-006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1520" y="4864607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</a:rPr>
              <a:t>The Clearing House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423160" y="4928616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Payments Infrastructure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297680" y="4946903"/>
            <a:ext cx="868680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06824" y="4974336"/>
            <a:ext cx="8503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166360" y="4946903"/>
            <a:ext cx="777240" cy="34747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75504" y="4974336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INCONCLUSIVE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943600" y="4946903"/>
            <a:ext cx="822960" cy="34747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952744" y="4974336"/>
            <a:ext cx="804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66560" y="4910327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P2: Questionnaire; RTP fraud-prevention sources temporarily unavailable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Deep-Dive: BNY (V-005)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D5E8"/>
                </a:solidFill>
              </a:rPr>
              <a:t>Critical · AI Usage = YES · Risk = HIGH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BBCC"/>
                </a:solidFill>
              </a:rPr>
              <a:t>MAVIRA · Meridian AI Vendor Intelligence &amp; Risk Assessment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5624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BBCC"/>
                </a:solidFill>
              </a:rPr>
              <a:t>8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143000"/>
            <a:ext cx="548640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1615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392B"/>
                </a:solidFill>
              </a:rPr>
              <a:t>Criticality: CRITICAL (Score ~0.83)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002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OD: Critical (1.0) × 0.30 = 0.300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DS: Payment instructions (0.8) × 0.25 = 0.200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PF: Payment rail — RTP network (1.0) × 0.15 = 0.150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RE: Payment system regulation (0.9) × 0.15 = 0.135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DV: Transaction volume at scale × 0.15 = ~0.045</a:t>
            </a:r>
          </a:p>
          <a:p>
            <a:pPr lvl="1">
              <a:spcBef>
                <a:spcPts val="100"/>
              </a:spcBef>
            </a:pPr>
            <a:r>
              <a:rPr sz="1100">
                <a:solidFill>
                  <a:srgbClr val="555555"/>
                </a:solidFill>
              </a:rPr>
              <a:t>  ◦ Escalation: Payment rail (PF=1.0) + DS≥0.6 → CRITICAL floor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143000"/>
            <a:ext cx="594360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21615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7AE60"/>
                </a:solidFill>
              </a:rPr>
              <a:t>AI Usage: YES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6002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Eliza — BNY's enterprise AI platform (SERVICE_INTEGRATED)</a:t>
            </a:r>
          </a:p>
          <a:p>
            <a:pPr lvl="1">
              <a:spcBef>
                <a:spcPts val="100"/>
              </a:spcBef>
            </a:pPr>
            <a:r>
              <a:rPr sz="1100">
                <a:solidFill>
                  <a:srgbClr val="555555"/>
                </a:solidFill>
              </a:rPr>
              <a:t>  ◦ Source: bny.com/artificial-intelligence (DIRECT reliability)</a:t>
            </a:r>
          </a:p>
          <a:p>
            <a:pPr lvl="1">
              <a:spcBef>
                <a:spcPts val="100"/>
              </a:spcBef>
            </a:pPr>
            <a:r>
              <a:rPr sz="1100">
                <a:solidFill>
                  <a:srgbClr val="555555"/>
                </a:solidFill>
              </a:rPr>
              <a:t>  ◦ 'Our enterprise AI platform, Eliza, is built on the premise of foundational models'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Providers confirmed: OpenAI (ChatGPT API), Google Gemini Enterprise, NVIDIA AI Supercomputer</a:t>
            </a:r>
          </a:p>
          <a:p>
            <a:pPr lvl="1">
              <a:spcBef>
                <a:spcPts val="100"/>
              </a:spcBef>
            </a:pPr>
            <a:r>
              <a:rPr sz="1100">
                <a:solidFill>
                  <a:srgbClr val="555555"/>
                </a:solidFill>
              </a:rPr>
              <a:t>  ◦ Source: openai.com/index/bny (MEDIUM reliability)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Fraud detection AI on payment flows (PRODUCT_FEATURE)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57600"/>
            <a:ext cx="11612880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694176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Risk Classification: HIGH  (Score ~68/100)  — would reach CRITICAL under confirmed_ai_critical_high_data_sensitivity floor if DS≥0.8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005072"/>
            <a:ext cx="11612880" cy="18745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4069080"/>
            <a:ext cx="73152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" y="4087368"/>
            <a:ext cx="713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069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A1F44"/>
                </a:solidFill>
              </a:rPr>
              <a:t>DATA_EXPOSURE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0690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Payment instructions + Eliza AI — data sensitivity 0.8 × AI presence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416552"/>
            <a:ext cx="73152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4434840"/>
            <a:ext cx="713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41655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A1F44"/>
                </a:solidFill>
              </a:rPr>
              <a:t>AI_SUBPROCESSOR_RISK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4165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OpenAI &amp; Google disclosed at enterprise level — not service-linked to Meridian workflow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764024"/>
            <a:ext cx="73152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" y="4782312"/>
            <a:ext cx="713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76402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A1F44"/>
                </a:solidFill>
              </a:rPr>
              <a:t>MODEL_PROVIDER_TRANSPARENCY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476402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Providers named but linkage to Meridian's payment service not established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5111496"/>
            <a:ext cx="73152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9184" y="5129783"/>
            <a:ext cx="713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11149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A1F44"/>
                </a:solidFill>
              </a:rPr>
              <a:t>DECISION_IMPACT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51114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Fraud Detection AI (0.9) applied to payment flows — automated decisions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5458968"/>
            <a:ext cx="731520" cy="274320"/>
          </a:xfrm>
          <a:prstGeom prst="rect">
            <a:avLst/>
          </a:prstGeom>
          <a:solidFill>
            <a:srgbClr val="8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9184" y="5477256"/>
            <a:ext cx="713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UNKNOWN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54589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A1F44"/>
                </a:solidFill>
              </a:rPr>
              <a:t>CONTRACTUAL_RISK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45896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No public AI clause data in Meridian contract — scored as unknown (0.7)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43600"/>
            <a:ext cx="11612880" cy="804672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971032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A1F44"/>
                </a:solidFill>
              </a:rPr>
              <a:t>Top Recommendations: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24535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P1 · SUBPROCESSOR: Disclose which Eliza components (OpenAI / Gemini) process Meridian payment data and their hosting region  ·  P1 · DATA_FLOW: Obtain data-flow diagram for AI components touching Meridian transactions  ·  P2 · TRAINING: Confirm Meridian payment data does not train or fine-tune Eliza or its LLM providers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Deep-Dive: AutomWorx (V-001)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D5E8"/>
                </a:solidFill>
              </a:rPr>
              <a:t>HIGH Criticality · AI Usage = INCONCLUSIVE — Marketing claims without service-level confirmation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BBCC"/>
                </a:solidFill>
              </a:rPr>
              <a:t>MAVIRA · Meridian AI Vendor Intelligence &amp; Risk Assessment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5624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BBCC"/>
                </a:solidFill>
              </a:rPr>
              <a:t>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143000"/>
            <a:ext cx="1161288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1615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7E22"/>
                </a:solidFill>
              </a:rPr>
              <a:t>Why INCONCLUSIVE — not YES?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4592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AutomWorx markets 'AI-powered automation' — but this alone is insufficient for a YES determination</a:t>
            </a:r>
          </a:p>
          <a:p>
            <a:pPr lvl="1">
              <a:spcBef>
                <a:spcPts val="100"/>
              </a:spcBef>
            </a:pPr>
            <a:r>
              <a:rPr sz="1100">
                <a:solidFill>
                  <a:srgbClr val="555555"/>
                </a:solidFill>
              </a:rPr>
              <a:t>  ◦ YES requires: single confirming signal ≥ 65 strength, OR two confirming signals ≥ 45 each from distinct sources</a:t>
            </a:r>
          </a:p>
          <a:p>
            <a:pPr lvl="1">
              <a:spcBef>
                <a:spcPts val="100"/>
              </a:spcBef>
            </a:pPr>
            <a:r>
              <a:rPr sz="1100">
                <a:solidFill>
                  <a:srgbClr val="555555"/>
                </a:solidFill>
              </a:rPr>
              <a:t>  ◦ A confirming nature is SERVICE_INTEGRATED (AI in the contracted service) or PRODUCT_FEATURE (AI in the product Meridian uses)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Evidence found classifies as MARKETING_ONLY or INDUSTRY_COMMENTARY:</a:t>
            </a:r>
          </a:p>
          <a:p>
            <a:pPr lvl="1">
              <a:spcBef>
                <a:spcPts val="100"/>
              </a:spcBef>
            </a:pPr>
            <a:r>
              <a:rPr sz="1100">
                <a:solidFill>
                  <a:srgbClr val="555555"/>
                </a:solidFill>
              </a:rPr>
              <a:t>  ◦ Generic AI claims without naming which workload automation features use AI</a:t>
            </a:r>
          </a:p>
          <a:p>
            <a:pPr lvl="1">
              <a:spcBef>
                <a:spcPts val="100"/>
              </a:spcBef>
            </a:pPr>
            <a:r>
              <a:rPr sz="1100">
                <a:solidFill>
                  <a:srgbClr val="555555"/>
                </a:solidFill>
              </a:rPr>
              <a:t>  ◦ No technical documentation or trust-center page confirming AI in the batch-processing or job-scheduling features Meridian uses</a:t>
            </a:r>
          </a:p>
          <a:p>
            <a:pPr lvl="1">
              <a:spcBef>
                <a:spcPts val="100"/>
              </a:spcBef>
            </a:pPr>
            <a:r>
              <a:rPr sz="1100">
                <a:solidFill>
                  <a:srgbClr val="555555"/>
                </a:solidFill>
              </a:rPr>
              <a:t>  ◦ Hiring signals for ML engineers exist, but HIRING_SIGNAL (weight 0.35) cannot alone reach the YES threshold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What a YES would require:</a:t>
            </a:r>
          </a:p>
          <a:p>
            <a:pPr lvl="1">
              <a:spcBef>
                <a:spcPts val="100"/>
              </a:spcBef>
            </a:pPr>
            <a:r>
              <a:rPr sz="1100">
                <a:solidFill>
                  <a:srgbClr val="555555"/>
                </a:solidFill>
              </a:rPr>
              <a:t>  ◦ A vendor self-statement (DIRECT source) naming AI in the specific workload orchestration or Automic features Meridian subscribes to, OR</a:t>
            </a:r>
          </a:p>
          <a:p>
            <a:pPr lvl="1">
              <a:spcBef>
                <a:spcPts val="100"/>
              </a:spcBef>
            </a:pPr>
            <a:r>
              <a:rPr sz="1100">
                <a:solidFill>
                  <a:srgbClr val="555555"/>
                </a:solidFill>
              </a:rPr>
              <a:t>  ◦ Two MEDIUM-strength confirmations from independent domains (e.g., partner page + investor disclosure)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Correct classification is: INCONCLUSIVE — absence of public evidence ≠ absence of AI</a:t>
            </a:r>
          </a:p>
          <a:p>
            <a:pPr lvl="1">
              <a:spcBef>
                <a:spcPts val="100"/>
              </a:spcBef>
            </a:pPr>
            <a:r>
              <a:rPr sz="1100">
                <a:solidFill>
                  <a:srgbClr val="555555"/>
                </a:solidFill>
              </a:rPr>
              <a:t>  ◦ MAVIRA's INCONCLUSIVE verdict triggers a P2 questionnaire, not a dismissal</a:t>
            </a:r>
          </a:p>
          <a:p>
            <a:pPr lvl="1">
              <a:spcBef>
                <a:spcPts val="100"/>
              </a:spcBef>
            </a:pPr>
            <a:r>
              <a:rPr sz="1100">
                <a:solidFill>
                  <a:srgbClr val="555555"/>
                </a:solidFill>
              </a:rPr>
              <a:t>  ◦ This is more conservative and more defensible than a YES based on marketing language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5897880"/>
            <a:ext cx="11612880" cy="822960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A1F44"/>
                </a:solidFill>
              </a:rPr>
              <a:t>Contrast with Friend's Approach: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A hard-coded YES label based solely on a vendor website mention would be incorrect under our methodology. MAVIRA's AI classification is evidence-gated: every YES is traceable to a validated exact excerpt from a classified source with a computed strength score ≥ 45 or ≥ 65.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Distinguishing Marketing AI from Real AI: Terrapin (V-004)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D5E8"/>
                </a:solidFill>
              </a:rPr>
              <a:t>INCONCLUSIVE — AI signals exist but do not tie to the contracted service at sufficient strength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BBCC"/>
                </a:solidFill>
              </a:rPr>
              <a:t>MAVIRA · Meridian AI Vendor Intelligence &amp; Risk Assessment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5624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BBCC"/>
                </a:solidFill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143000"/>
            <a:ext cx="54864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1615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39C12"/>
                </a:solidFill>
              </a:rPr>
              <a:t>What Terrapin's Marketing Says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4592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'AI-powered analytics platform'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'Leverages machine learning to surface insights'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'Intelligent compensation reporting'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'Predictive analytics for advisor performance'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566160"/>
            <a:ext cx="5486400" cy="3657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593592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Classification: MARKETING_ONLY (weight 0.1)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77639"/>
            <a:ext cx="5212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44444"/>
                </a:solidFill>
              </a:rPr>
              <a:t>Why marketing? These claims use MODAL language: 'leverages', 'surfaces', 'intelligent' — without concrete production evidence.
No technical documentation, no trust-center page, no investor disclosure confirms AI is deployed and actively processing Meridian advisor data.
Strength score: &lt; 45 (MODERATE threshold). Cannot support YES.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1143000"/>
            <a:ext cx="59436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121615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7AE60"/>
                </a:solidFill>
              </a:rPr>
              <a:t>What MAVIRA Requires for YES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645920"/>
            <a:ext cx="5669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CONCRETE language: 'is deployed', 'processes', 'already', 'in production', 'uses'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FIRST-PERSON statement from the vendor itself (DIRECT source)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SERVICE-SPECIFIC: the claim ties to the compensation/reporting service Meridian uses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STRENGTH ≥ 65 (STRONG) for a single signal, or ≥ 45 for two signals from distinct domains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Nature classification: SERVICE_INTEGRATED or PRODUCT_FEATURE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What WOULD upgrade Terrapin to YES:</a:t>
            </a:r>
          </a:p>
          <a:p>
            <a:pPr lvl="1">
              <a:spcBef>
                <a:spcPts val="100"/>
              </a:spcBef>
            </a:pPr>
            <a:r>
              <a:rPr sz="1100">
                <a:solidFill>
                  <a:srgbClr val="555555"/>
                </a:solidFill>
              </a:rPr>
              <a:t>  ◦ A trust-center or technical doc page stating: 'Terrapin's compensation engine uses ML model X to generate advisor payout calculations'</a:t>
            </a:r>
          </a:p>
          <a:p>
            <a:pPr lvl="1">
              <a:spcBef>
                <a:spcPts val="100"/>
              </a:spcBef>
            </a:pPr>
            <a:r>
              <a:rPr sz="1100">
                <a:solidFill>
                  <a:srgbClr val="555555"/>
                </a:solidFill>
              </a:rPr>
              <a:t>  ◦ OR: SEC 10-K stating AI is live in advisor analytics + a corroborating partner page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309360"/>
            <a:ext cx="11612880" cy="411480"/>
          </a:xfrm>
          <a:prstGeom prst="rect">
            <a:avLst/>
          </a:prstGeom>
          <a:solidFill>
            <a:srgbClr val="E8F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33679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A1F44"/>
                </a:solidFill>
              </a:rPr>
              <a:t>MAVIRA protects Meridian from over-disclosure (labelling a non-AI vendor as AI) and under-disclosure (missing genuine AI deployment). Both errors have regulatory and contractual consequences.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AI Security Risk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D5E8"/>
                </a:solidFill>
              </a:rPr>
              <a:t>9-category risk model · standards-grounded floors · transparent rationale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BBCC"/>
                </a:solidFill>
              </a:rPr>
              <a:t>MAVIRA · Meridian AI Vendor Intelligence &amp; Risk Assessment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5624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BBCC"/>
                </a:solidFill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143000"/>
            <a:ext cx="731520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16152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A1F44"/>
                </a:solidFill>
              </a:rPr>
              <a:t>Risk Model: 9 Categories × AI Presence Index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00200"/>
            <a:ext cx="6949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07A87"/>
                </a:solidFill>
              </a:rPr>
              <a:t>Risk Score = 100 × Σ(weight × base × AI_presence)  where  AI_presence = min(1, exposure / 0.6)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65960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DATA_EXPOSURE (16%) · AI_SUBPROCESSOR_RISK (10%) · MODEL_PROVIDER_TRANSPARENCY (8%)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286000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DATA_RETENTION_RISK (8%) · MODEL_TRAINING_RISK (8%) · DECISION_IMPACT (14%)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06039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OPERATIONAL_DEPENDENCY (14%) · REGULATORY_RISK (12%) · CONTRACTUAL_RISK (10%)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0" y="1143000"/>
            <a:ext cx="411480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1216152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392B"/>
                </a:solidFill>
              </a:rPr>
              <a:t>Risk Floor Rules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1600200"/>
            <a:ext cx="411480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162763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Confirmed AI + Critical vendor + not service-linked provider → HIGH minimum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2057400"/>
            <a:ext cx="411480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208483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Confirmed AI + Critical vendor + data sensitivity ≥ 0.8 → CRITICAL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2514600"/>
            <a:ext cx="411480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254203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Confirmed AI + Critical vendor + Agentic AI detected → CRITICAL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154680"/>
            <a:ext cx="11612880" cy="3657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182112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Vendor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3182112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AI Usage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3182112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0520" y="3182112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Classification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9240" y="318211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Floor Applied?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3182112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Key Risk Driver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520440"/>
            <a:ext cx="116128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3611880"/>
            <a:ext cx="2240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A1F44"/>
                </a:solidFill>
              </a:rPr>
              <a:t>AutomWorx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06040" y="3611880"/>
            <a:ext cx="914400" cy="274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15184" y="3639312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INCON.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0440" y="3611880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~18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0" y="3611880"/>
            <a:ext cx="1143000" cy="274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23944" y="3639312"/>
            <a:ext cx="11247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800" y="361188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7AE60"/>
                </a:solidFill>
              </a:rPr>
              <a:t>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359359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HIRING_SIGNAL only; presence too low for HIGH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995928"/>
            <a:ext cx="11612880" cy="4754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4087368"/>
            <a:ext cx="2240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A1F44"/>
                </a:solidFill>
              </a:rPr>
              <a:t>Fiserv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06040" y="4087368"/>
            <a:ext cx="914400" cy="274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15184" y="4114800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0440" y="4087368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~62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0" y="4087368"/>
            <a:ext cx="114300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23944" y="4114800"/>
            <a:ext cx="11247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57800" y="408736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C0392B"/>
                </a:solidFill>
              </a:rPr>
              <a:t>Yes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40690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Confirmed AI + Critical + undisclosed provider → HIGH floor; near CRITICAL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4471416"/>
            <a:ext cx="116128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4562856"/>
            <a:ext cx="2240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A1F44"/>
                </a:solidFill>
              </a:rPr>
              <a:t>FSSI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06040" y="4562856"/>
            <a:ext cx="914400" cy="274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15184" y="4590288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INCON.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0440" y="4562856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~10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0" y="4562856"/>
            <a:ext cx="1143000" cy="274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23944" y="4590288"/>
            <a:ext cx="11247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LOW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57800" y="4562856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7AE60"/>
                </a:solidFill>
              </a:rPr>
              <a:t>No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0" y="454456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Weak signal; Medium criticality; low AI presence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4946904"/>
            <a:ext cx="11612880" cy="4754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0040" y="5038344"/>
            <a:ext cx="2240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A1F44"/>
                </a:solidFill>
              </a:rPr>
              <a:t>Terrapin Systems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606040" y="5038344"/>
            <a:ext cx="914400" cy="274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615184" y="5065776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INCON.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20440" y="5038344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~22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0" y="5038344"/>
            <a:ext cx="1143000" cy="274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23944" y="5065776"/>
            <a:ext cx="11247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57800" y="50383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7AE60"/>
                </a:solidFill>
              </a:rPr>
              <a:t>No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83680" y="50200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Marketing AI only; no service-level confirmation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5422392"/>
            <a:ext cx="116128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0040" y="5513831"/>
            <a:ext cx="2240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A1F44"/>
                </a:solidFill>
              </a:rPr>
              <a:t>BNY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606040" y="5513831"/>
            <a:ext cx="914400" cy="274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15184" y="5541264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20440" y="5513831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~68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0" y="5513831"/>
            <a:ext cx="114300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23944" y="5541264"/>
            <a:ext cx="11247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57800" y="55138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C0392B"/>
                </a:solidFill>
              </a:rPr>
              <a:t>Yes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0" y="549554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Payment rail + Eliza AI + 3 providers named at enterprise level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" y="5897880"/>
            <a:ext cx="11612880" cy="4754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20040" y="5989320"/>
            <a:ext cx="2240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A1F44"/>
                </a:solidFill>
              </a:rPr>
              <a:t>The Clearing House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606040" y="5989320"/>
            <a:ext cx="914400" cy="274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615184" y="6016752"/>
            <a:ext cx="896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INCON.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20440" y="5989320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~25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114800" y="5989320"/>
            <a:ext cx="1143000" cy="274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123944" y="6016752"/>
            <a:ext cx="11247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257800" y="598932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7AE60"/>
                </a:solidFill>
              </a:rPr>
              <a:t>No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83680" y="5971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Advocacy AI reference only; no product-level AI confirmation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Regulatory &amp; Standards Grounding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D5E8"/>
                </a:solidFill>
              </a:rPr>
              <a:t>Every recommendation is anchored to a specific framework citation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BBCC"/>
                </a:solidFill>
              </a:rPr>
              <a:t>MAVIRA · Meridian AI Vendor Intelligence &amp; Risk Assessment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5624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BBCC"/>
                </a:solidFill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188720"/>
            <a:ext cx="3749039" cy="4572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25272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NIST AI RMF
(2023)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645920"/>
            <a:ext cx="3749039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19072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MAP-1.1: AI risk identification in third-party relationships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103120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GV-6.2: Sub-processor and model-provider disclosure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48716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MS-2.5: Data-flow mapping for AI touching personal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871215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MS-2.6: Model input/output retention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255263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MS-2.8: Ongoing monitoring of AI vendors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799" y="1188720"/>
            <a:ext cx="3749039" cy="4572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39" y="125272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FFIEC SR 11-7 /
OCC 2011-12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799" y="1645920"/>
            <a:ext cx="3749039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39" y="1719072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Model Risk Management — third-party AI models in-scope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39" y="2103120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Applies where vendor AI constitutes a 'model' per definition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39" y="248716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Meridian may need to extend its MRM programme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39" y="2871215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Key test: model's output influences Meridian's decisions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1188720"/>
            <a:ext cx="3749039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19" y="125272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OCC 2023-17 /
OCC 2026-46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55279" y="1645920"/>
            <a:ext cx="3749039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19" y="1719072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Third-party arrangements for AI services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19" y="2103120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§III.C: Sub-processor disclosure obligation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19" y="248716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§IV: AI-specific contract clauses required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19" y="2871215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OCC 2026-46: Ban on training on client data without consent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794760"/>
            <a:ext cx="3749039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385876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Fed SR 23-4 /
CFPB Circular 2022-03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251960"/>
            <a:ext cx="3749039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4325112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SR 23-4: Fed guidance on AI in banking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4709160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CFPB 2022-03: Explainability for credit decisions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509320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Applies to any AI-driven credit/payment outcome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5477256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Agentic AI in payment flows warrants specific attention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799" y="3794760"/>
            <a:ext cx="3749039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39" y="385876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NIST CSF 2.0 /
SP 800-161r1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799" y="4251960"/>
            <a:ext cx="3749039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06239" y="4325112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GV.SC-07: AI supply-chain risk governance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39" y="4709160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C-SCRM: Cyber supply-chain risk management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39" y="509320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All identified AI sub-processors enter the C-SCRM inventory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39" y="5477256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Incident notification obligations flow to sub-processors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55279" y="3794760"/>
            <a:ext cx="3749039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19" y="385876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OWASP LLM 2026 /
Agentic Top-10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55279" y="4251960"/>
            <a:ext cx="3749039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46719" y="4325112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LLM01: Prompt injection — critical for agentic AI vendors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46719" y="4709160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LLM09: Misinformation / over-reliance on model output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46719" y="509320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Agentic-01: Scope restriction for autonomous agents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19" y="5477256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• Agentic-04: Immutable audit logs for irreversible actions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E5A823"/>
                </a:solidFill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MAVIRA Platform — Meridian AI Vendor Risk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457200" cy="4572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700784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73352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Run the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673352"/>
            <a:ext cx="7772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D5E8"/>
                </a:solidFill>
              </a:rPr>
              <a:t>docker compose up  →  http://localhost:3000  (FastAPI + Next.js)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267712"/>
            <a:ext cx="457200" cy="4572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322576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295144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Import workbook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295144"/>
            <a:ext cx="7772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D5E8"/>
                </a:solidFill>
              </a:rPr>
              <a:t>Upload the Meridian Excel file  →  6 vendors loaded automatically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889504"/>
            <a:ext cx="457200" cy="4572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944368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916936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Run assessment (DEMO)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2916936"/>
            <a:ext cx="7772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D5E8"/>
                </a:solidFill>
              </a:rPr>
              <a:t>Click 'Start Run'  →  watch real-time stage progress per vendor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511296"/>
            <a:ext cx="457200" cy="4572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566160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538727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Inspect BNY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538727"/>
            <a:ext cx="7772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D5E8"/>
                </a:solidFill>
              </a:rPr>
              <a:t>View Eliza evidence chain: exact excerpt · source URL · strength score 78 (STRONG)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133088"/>
            <a:ext cx="457200" cy="4572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" y="4187952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160520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Check provider 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160520"/>
            <a:ext cx="7772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D5E8"/>
                </a:solidFill>
              </a:rPr>
              <a:t>OpenAI (enterprise level) · Google Gemini Enterprise · NVIDIA — all detected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4754880"/>
            <a:ext cx="457200" cy="4572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" y="4809744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782312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Export workbook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4782312"/>
            <a:ext cx="7772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D5E8"/>
                </a:solidFill>
              </a:rPr>
              <a:t>Download filled Excel  →  Evidence Log + Sources Checked + Methodology sheets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5376672"/>
            <a:ext cx="457200" cy="4572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31536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5404104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LIVE mode (bonus)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5404104"/>
            <a:ext cx="7772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D5E8"/>
                </a:solidFill>
              </a:rPr>
              <a:t>Set OSINT_MODE=LIVE + SEARCH_PROVIDER=tavily → fresh public OSINT run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docker compose up  ·  http://localhost:3000  ·  Default creds: admin@meridian.com / MeridianAI2026!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Scope, Limitations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D5E8"/>
                </a:solidFill>
              </a:rPr>
              <a:t>Transparency about what public OSINT can and cannot establish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BBCC"/>
                </a:solidFill>
              </a:rPr>
              <a:t>MAVIRA · Meridian AI Vendor Intelligence &amp; Risk Assessment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5624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BBCC"/>
                </a:solidFill>
              </a:rPr>
              <a:t>13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143000"/>
            <a:ext cx="54864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1615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392B"/>
                </a:solidFill>
              </a:rPr>
              <a:t>What Public OSINT Cannot Establish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4592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Whether AI features enabled at enterprise level are active in Meridian's specific environment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What data Meridian's API calls actually send to vendor AI components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Model training / fine-tuning policies for Meridian data specifically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Sub-processor chains beyond the first named provider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Contract AI clauses — not provided as input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The Clearing House: RTP fraud-prevention AI product pages were temporarily unavailable during collection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FSSI: Limited AI-specific web presence — result is INCONCLUSIVE, not NO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AutomWorx: Marketing AI language found; production deployment not confirmed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143000"/>
            <a:ext cx="59436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21615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7AE60"/>
                </a:solidFill>
              </a:rPr>
              <a:t>With More Time / Resources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645920"/>
            <a:ext cx="5669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Issue the questionnaire (included as a P2 recommendation for all INCONCLUSIVE vendors)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Review sub-processor lists for Fiserv and BNY against their disclosed AI providers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Run in LIVE mode with a search API for fresh, un-cached OSINT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Engage Meridian's contract team on AI clause gaps identified in this assessment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Extend MRM programme: determine if Fiserv's Fraud Risk Manager or BNY's Eliza qualify as models under SR 11-7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Add LLM-assisted evidence proposer (Claude / GPT-4o) for higher evidence recall on long documents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Automate quarterly reassessment trigger on material vendor AI announcements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6309360"/>
            <a:ext cx="11612880" cy="4114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33679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This assessment reflects all publicly available information within the OSINT scope as of the collection date. It is not a substitute for direct vendor questionnaires, contract review, or on-site audit.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88952" cy="13716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E5A823"/>
                </a:solidFill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BD5E8"/>
                </a:solidFill>
              </a:rPr>
              <a:t>MAVIRA · Meridian AI Vendor Intelligence &amp; Risk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✓  6 vendors assessed · 2 YES · 0 NO · 4 INCONCLUSIVE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✓  2 HIGH risk (Fiserv, BNY) · 3 MEDIUM · 1 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233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✓  Methodology v1.1.0 · NIST AI RMF · FFIEC SR 11-7 · OCC 2023-17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✓  Fully offline DEMO mode · SHA-256 hashed evidence · zero hallucinated quotes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120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Team MAVIRA  ·  October 2026  ·  CONFIDENTIAL — NOT FOR DISTRIBUTION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235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GitHub: github.com/Santhosh-zeta/optiv-Case1  ·  Run: docker compose 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